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38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 el líder. Saludo, nombre del producto (WASYK) y del proyecto en una frase, y presentación de los cuatro integrantes. Máximo 25 segundos. Aclara el reparto: cada integrante expone dos diapositivas, en el orden de la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rúbrica exige cinco aspectos de la empresa: visión, misión, entorno, estrategias y planes. Los cinco están en esta diapositiva. Aclara desde el inicio que el cliente es el segmento, no una bodega concreta, y que el caso está simulado con autorización del docente sobre las facturas reales del proyecto. Tiempo: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Enuncia el problema con la frase azul. Recorre las cuatro consecuencias sin leerlas completas y detente en la causa raíz: es lo que explica por qué fracasan las apps de contabilidad. Lee el objetivo general completo. De los específicos, destaca OE3 (ajuste fino de Gemma 4) y OE7 (validación con piloto). Tiempo: 1,5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leas los nueve bloques. Recorre el eje problema → solución → propuesta de valor única y salta a ventaja competitiva, que es el bloque que el docente suele cuestionar. La respuesta está en la franja verde: el activo es el modelo ajustado y el conjunto de facturas etiquetadas. Tiempo: 1,5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Recorre la tabla por columnas: los servicios en la nube son exactos pero cobran por documento y son modelos cerrados que no se pueden especializar; el OCR clásico es gratis pero no interpreta. Cierra con la franja verde: el proyecto no parte de cero, parte de un prototipo ya validado en una competencia. Tiempo: 1,5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tres alternativas cumplen la consigna: al menos cinco pantallas cada una (8, 7 y 6) y al menos 50 % de Java (85, 85 y 80 %). Los bocetos están en el Anexo 2 del informe. Preséntalas rápido y dedica el tiempo a la matriz: la decisión se justifica con pesos, no con opiniones. Si preguntan por qué no ejecutar el modelo en el teléfono, la respuesta es el segundo punto del recuadro verde. Tiempo: 1,5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consigna da 3 puntos por usar las tres herramientas de gestión. Dilo explícitamente. El Gantt está alineado con las semanas 4, 8, 12 y 18, que son las cuatro entregas del curso. En riesgos, el R1 es el importante: es el riesgo técnico del ajuste fino. Tiempo: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es el criterio de mayor peso de la rúbrica: 6 puntos por el análisis de la solución con casos de uso y requerimientos funcionales y no funcionales según SRS. Da los números —12 casos de uso, 22 RF, 19 RNF clasificados con ISO/IEC 25010, todos trazables— y muestra la estructura, no la lista. Tiempo: 1,5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Recorre la arquitectura de arriba abajo y señala dos cosas: que el motor de reglas del NRUS está aislado en su propia capa para poder probarlo solo, y que Java es ~85 % del proyecto: cliente Android y backend en el mismo lenguaje. Los recuadros de clases, ER y proceso cubren el criterio de diseño, que pide al menos tres diagramas. Cierra con el recuadro azul: reconocer qué falta validar demuestra dominio. Agradece y ofrece responder preguntas. Tiempo: 1,5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61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69080" y="566928"/>
            <a:ext cx="40690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868680"/>
            <a:ext cx="3063240" cy="815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9487" y="2093976"/>
            <a:ext cx="10332720" cy="1417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Aplicación móvil con IA multimodal (Gemma 4) para mejorar la exactitud de la declaración mensual del NRUS en bodegas de San Juan de Lurigancho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95544" y="3041062"/>
            <a:ext cx="1005840" cy="4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3328416"/>
            <a:ext cx="103327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rPr dirty="0"/>
              <a:t>Avance de Proyecto Final 1  ·  </a:t>
            </a:r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Integrador</a:t>
            </a:r>
            <a:r>
              <a:rPr dirty="0"/>
              <a:t> I: Sistemas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771312"/>
            <a:ext cx="10332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Sección</a:t>
            </a:r>
            <a:r>
              <a:rPr dirty="0"/>
              <a:t> 48935  ·  </a:t>
            </a:r>
            <a:r>
              <a:rPr dirty="0" err="1"/>
              <a:t>Docente</a:t>
            </a:r>
            <a:r>
              <a:rPr dirty="0"/>
              <a:t>: Ing. Carlos Alberto Effio Gonzáles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10332720" cy="118936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rPr dirty="0"/>
              <a:t>Damián Valdivia, Diego Aarón </a:t>
            </a:r>
            <a:endParaRPr lang="es-MX" dirty="0"/>
          </a:p>
          <a:p>
            <a:pPr algn="ctr">
              <a:lnSpc>
                <a:spcPct val="130000"/>
              </a:lnSpc>
              <a:spcAft>
                <a:spcPts val="4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rPr dirty="0"/>
              <a:t>Coronel Obregón, Paulo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rPr dirty="0"/>
              <a:t>Mateo Velásquez, Morán</a:t>
            </a:r>
            <a:endParaRPr lang="es-MX" dirty="0"/>
          </a:p>
          <a:p>
            <a:pPr algn="ctr">
              <a:lnSpc>
                <a:spcPct val="130000"/>
              </a:lnSpc>
              <a:spcAft>
                <a:spcPts val="400"/>
              </a:spcAft>
              <a:defRPr sz="1250" b="0">
                <a:solidFill>
                  <a:srgbClr val="FFFFFF"/>
                </a:solidFill>
                <a:latin typeface="Calibri"/>
              </a:defRPr>
            </a:pPr>
            <a:r>
              <a:rPr dirty="0"/>
              <a:t>Gonzales Maco, Fabrizzio Jhoel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36208"/>
            <a:ext cx="10332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Lima – Perú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Damián Valdivia, Diego Aarón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ANÁLISIS DEL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La empresa cliente: la bodega del NRUS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992"/>
              </p:ext>
            </p:extLst>
          </p:nvPr>
        </p:nvGraphicFramePr>
        <p:xfrm>
          <a:off x="475488" y="1261872"/>
          <a:ext cx="5349240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Perfil del segmento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Dato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Tipo de empresa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Bodega de barrio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 err="1"/>
                        <a:t>Régimen</a:t>
                      </a:r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Nuevo RUS (NRUS)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Establecimientos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Uno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Personal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Titular y </a:t>
                      </a:r>
                      <a:r>
                        <a:rPr dirty="0" err="1"/>
                        <a:t>apoyo</a:t>
                      </a:r>
                      <a:r>
                        <a:rPr dirty="0"/>
                        <a:t> familiar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Registro contable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Ninguno: el régimen no obliga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Proveedores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 err="1"/>
                        <a:t>Distribuidores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que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entregan</a:t>
                      </a:r>
                      <a:r>
                        <a:rPr dirty="0"/>
                        <a:t> factura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Caso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3 bodegas de </a:t>
                      </a:r>
                      <a:r>
                        <a:rPr dirty="0" err="1"/>
                        <a:t>referencia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S.J.L.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053328" y="1261872"/>
            <a:ext cx="5650992" cy="1170432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53328" y="1261872"/>
            <a:ext cx="5650992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8" y="1362456"/>
            <a:ext cx="54681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1F4E79"/>
                </a:solidFill>
                <a:latin typeface="Calibri"/>
              </a:defRPr>
            </a:pPr>
            <a:r>
              <a:t>VISIÓN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700784"/>
            <a:ext cx="5468112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Mantener el negocio como fuente estable de ingresos para la familia y crecer de forma ordenada, sin perder la relación cercana con los vecinos que constituye su principal ventaja frente a las tiendas de descuento.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2542032"/>
            <a:ext cx="5650992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53328" y="2542032"/>
            <a:ext cx="5650992" cy="444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2642616"/>
            <a:ext cx="546811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1E7B4F"/>
                </a:solidFill>
                <a:latin typeface="Calibri"/>
              </a:defRPr>
            </a:pPr>
            <a:r>
              <a:t>MISIÓN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980944"/>
            <a:ext cx="54681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Abastecer al vecindario de productos de primera necesidad a precio accesible, con atención cordial y horario extendido, cumpliendo sus obligaciones tributarias como contribuyente del NRUS.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3749039"/>
            <a:ext cx="2743200" cy="1600200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53328" y="3749039"/>
            <a:ext cx="2743200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3849623"/>
            <a:ext cx="25603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1F4E79"/>
                </a:solidFill>
                <a:latin typeface="Calibri"/>
              </a:defRPr>
            </a:pPr>
            <a:r>
              <a:t>ESTRATEGIAS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187951"/>
            <a:ext cx="2560320" cy="10698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Diferenciación por servicio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Eficiencia en el abastecimiento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Cumplimiento tributario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Digitalización gradual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3749039"/>
            <a:ext cx="2743200" cy="1600200"/>
          </a:xfrm>
          <a:prstGeom prst="rect">
            <a:avLst/>
          </a:prstGeom>
          <a:solidFill>
            <a:srgbClr val="FFFFFF"/>
          </a:solidFill>
          <a:ln w="1778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3749039"/>
            <a:ext cx="2743200" cy="444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3849623"/>
            <a:ext cx="25603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1E7B4F"/>
                </a:solidFill>
                <a:latin typeface="Calibri"/>
              </a:defRPr>
            </a:pPr>
            <a:r>
              <a:t>PLANES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187951"/>
            <a:ext cx="2560320" cy="91909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Corto </a:t>
            </a:r>
            <a:r>
              <a:rPr dirty="0" err="1"/>
              <a:t>plazo</a:t>
            </a:r>
            <a:r>
              <a:rPr dirty="0"/>
              <a:t>: </a:t>
            </a:r>
            <a:r>
              <a:rPr dirty="0" err="1"/>
              <a:t>Llevar</a:t>
            </a:r>
            <a:r>
              <a:rPr dirty="0"/>
              <a:t> un </a:t>
            </a:r>
            <a:r>
              <a:rPr dirty="0" err="1"/>
              <a:t>registro</a:t>
            </a:r>
            <a:r>
              <a:rPr dirty="0"/>
              <a:t> digital de las facturas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Mediano </a:t>
            </a:r>
            <a:r>
              <a:rPr dirty="0" err="1"/>
              <a:t>plazo</a:t>
            </a:r>
            <a:r>
              <a:rPr dirty="0"/>
              <a:t>: Usar el histórico de </a:t>
            </a:r>
            <a:r>
              <a:rPr dirty="0" err="1"/>
              <a:t>compras</a:t>
            </a:r>
            <a:r>
              <a:rPr dirty="0"/>
              <a:t> </a:t>
            </a:r>
            <a:endParaRPr lang="es-MX" dirty="0"/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Largo </a:t>
            </a:r>
            <a:r>
              <a:rPr dirty="0" err="1"/>
              <a:t>plazo</a:t>
            </a:r>
            <a:r>
              <a:rPr dirty="0"/>
              <a:t>: </a:t>
            </a:r>
            <a:r>
              <a:rPr dirty="0" err="1"/>
              <a:t>Evaluar</a:t>
            </a:r>
            <a:r>
              <a:rPr dirty="0"/>
              <a:t> con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confiable</a:t>
            </a:r>
            <a:r>
              <a:rPr dirty="0"/>
              <a:t> </a:t>
            </a:r>
            <a:r>
              <a:rPr lang="es-MX" dirty="0"/>
              <a:t>obtenida con los meses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75488" y="3903218"/>
            <a:ext cx="53492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CE0E2D"/>
                </a:solidFill>
                <a:latin typeface="Calibri"/>
              </a:defRPr>
            </a:pPr>
            <a:r>
              <a:rPr dirty="0"/>
              <a:t>ENTORNO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231510"/>
            <a:ext cx="4928616" cy="810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▪  Económico: </a:t>
            </a:r>
            <a:r>
              <a:rPr dirty="0" err="1"/>
              <a:t>Margen</a:t>
            </a:r>
            <a:r>
              <a:rPr dirty="0"/>
              <a:t> </a:t>
            </a:r>
            <a:r>
              <a:rPr dirty="0" err="1"/>
              <a:t>bruto</a:t>
            </a:r>
            <a:r>
              <a:rPr dirty="0"/>
              <a:t> </a:t>
            </a:r>
            <a:r>
              <a:rPr dirty="0" err="1"/>
              <a:t>estrecho</a:t>
            </a:r>
            <a:r>
              <a:rPr dirty="0"/>
              <a:t> y </a:t>
            </a:r>
            <a:r>
              <a:rPr dirty="0" err="1"/>
              <a:t>dependiente</a:t>
            </a:r>
            <a:r>
              <a:rPr dirty="0"/>
              <a:t> del </a:t>
            </a:r>
            <a:r>
              <a:rPr dirty="0" err="1"/>
              <a:t>volumen</a:t>
            </a:r>
            <a:r>
              <a:rPr dirty="0"/>
              <a:t>. El </a:t>
            </a:r>
            <a:r>
              <a:rPr dirty="0" err="1"/>
              <a:t>consumo</a:t>
            </a:r>
            <a:r>
              <a:rPr dirty="0"/>
              <a:t> es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▪  </a:t>
            </a:r>
            <a:r>
              <a:rPr dirty="0" err="1"/>
              <a:t>Competitivo</a:t>
            </a:r>
            <a:r>
              <a:rPr dirty="0"/>
              <a:t>: </a:t>
            </a:r>
            <a:r>
              <a:rPr dirty="0" err="1"/>
              <a:t>Otras</a:t>
            </a:r>
            <a:r>
              <a:rPr dirty="0"/>
              <a:t> bodegas </a:t>
            </a:r>
            <a:r>
              <a:rPr dirty="0" err="1"/>
              <a:t>en</a:t>
            </a:r>
            <a:r>
              <a:rPr dirty="0"/>
              <a:t> un radio de </a:t>
            </a:r>
            <a:r>
              <a:rPr dirty="0" err="1"/>
              <a:t>pocas</a:t>
            </a:r>
            <a:r>
              <a:rPr dirty="0"/>
              <a:t> </a:t>
            </a:r>
            <a:r>
              <a:rPr dirty="0" err="1"/>
              <a:t>cuadras</a:t>
            </a:r>
            <a:r>
              <a:rPr dirty="0"/>
              <a:t>, mercados de </a:t>
            </a:r>
            <a:r>
              <a:rPr dirty="0" err="1"/>
              <a:t>abastos</a:t>
            </a:r>
            <a:r>
              <a:rPr dirty="0"/>
              <a:t>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▪  Tecnológico: Uso </a:t>
            </a:r>
            <a:r>
              <a:rPr dirty="0" err="1"/>
              <a:t>generalizado</a:t>
            </a:r>
            <a:r>
              <a:rPr dirty="0"/>
              <a:t> del </a:t>
            </a:r>
            <a:r>
              <a:rPr dirty="0" err="1"/>
              <a:t>teléfono</a:t>
            </a:r>
            <a:r>
              <a:rPr dirty="0"/>
              <a:t> Android de gama de entrada </a:t>
            </a:r>
            <a:endParaRPr lang="es-MX" dirty="0"/>
          </a:p>
          <a:p>
            <a:pPr algn="l"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▪  </a:t>
            </a:r>
            <a:r>
              <a:rPr dirty="0" err="1"/>
              <a:t>Normativo</a:t>
            </a:r>
            <a:r>
              <a:rPr dirty="0"/>
              <a:t>: </a:t>
            </a:r>
            <a:r>
              <a:rPr dirty="0" err="1"/>
              <a:t>Obligación</a:t>
            </a:r>
            <a:r>
              <a:rPr dirty="0"/>
              <a:t> de </a:t>
            </a:r>
            <a:r>
              <a:rPr dirty="0" err="1"/>
              <a:t>declarar</a:t>
            </a:r>
            <a:r>
              <a:rPr dirty="0"/>
              <a:t> y </a:t>
            </a:r>
            <a:r>
              <a:rPr dirty="0" err="1"/>
              <a:t>pagar</a:t>
            </a:r>
            <a:r>
              <a:rPr dirty="0"/>
              <a:t> la </a:t>
            </a:r>
            <a:r>
              <a:rPr dirty="0" err="1"/>
              <a:t>cuota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 del NRUS </a:t>
            </a:r>
            <a:endParaRPr lang="es-MX" dirty="0"/>
          </a:p>
        </p:txBody>
      </p:sp>
      <p:sp>
        <p:nvSpPr>
          <p:cNvPr id="28" name="Rectangle 27"/>
          <p:cNvSpPr/>
          <p:nvPr/>
        </p:nvSpPr>
        <p:spPr>
          <a:xfrm>
            <a:off x="475488" y="5532120"/>
            <a:ext cx="11228832" cy="868680"/>
          </a:xfrm>
          <a:prstGeom prst="rect">
            <a:avLst/>
          </a:prstGeom>
          <a:solidFill>
            <a:srgbClr val="DAE3F3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5623559"/>
            <a:ext cx="1088136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F4E79"/>
                </a:solidFill>
                <a:latin typeface="Calibri"/>
              </a:defRPr>
            </a:pPr>
            <a:r>
              <a:t>LA SOLUCIÓN ES GENERAL, NO PARA UNA BODEGA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879592"/>
            <a:ext cx="10881360" cy="44805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  <a:defRPr sz="1250" b="0">
                <a:solidFill>
                  <a:srgbClr val="404040"/>
                </a:solidFill>
                <a:latin typeface="Calibri"/>
              </a:defRPr>
            </a:pPr>
            <a:r>
              <a:t>El cliente no es un establecimiento único sino un tipo de empresa: la bodega acogida al NRUS. El caso se concreta en tres bodegas de referencia de San Juan de Lurigancho, simuladas con autorización del docente sobre las facturas reales del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Damián Valdivia, Diego Aarón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PROBLEMA ·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El problema y los objetivos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207008"/>
            <a:ext cx="11228832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108356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El bodeguero tiene que clasificar y sumar a mano las facturas de compra del mes para declarar el NRUS: pierde horas y se equivoca.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93392"/>
            <a:ext cx="268833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" y="1993392"/>
            <a:ext cx="2688336" cy="4445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093976"/>
            <a:ext cx="250545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B86A00"/>
                </a:solidFill>
                <a:latin typeface="Calibri"/>
              </a:defRPr>
            </a:pPr>
            <a:r>
              <a:t>PÉRDIDA DE TIEMPO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432304"/>
            <a:ext cx="2505456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Reunir y sumar las facturas toma varias horas cada mes y se posterga al último día.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0984" y="1993392"/>
            <a:ext cx="268833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00984" y="1993392"/>
            <a:ext cx="2688336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2424" y="2093976"/>
            <a:ext cx="250545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CE0E2D"/>
                </a:solidFill>
                <a:latin typeface="Calibri"/>
              </a:defRPr>
            </a:pPr>
            <a:r>
              <a:t>SUBDECLARACIÓN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432304"/>
            <a:ext cx="2505456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Si el total queda por debajo del real, declara categoría menor: infracción del Código Tributario.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93392"/>
            <a:ext cx="268833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993392"/>
            <a:ext cx="2688336" cy="4445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093976"/>
            <a:ext cx="250545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B86A00"/>
                </a:solidFill>
                <a:latin typeface="Calibri"/>
              </a:defRPr>
            </a:pPr>
            <a:r>
              <a:t>PAGO EN EXCESO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32304"/>
            <a:ext cx="2505456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En el caso de referencia declaró categoría 2 y pagó S/ 50 cuando correspondía S/ 20: S/ 360 al año.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1976" y="1993392"/>
            <a:ext cx="268833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51976" y="1993392"/>
            <a:ext cx="2688336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43416" y="2093976"/>
            <a:ext cx="2505456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CE0E2D"/>
                </a:solidFill>
                <a:latin typeface="Calibri"/>
              </a:defRPr>
            </a:pPr>
            <a:r>
              <a:t>FALTA DE SUSTENTO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432304"/>
            <a:ext cx="2505456" cy="6766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En el caso de referencia se conservaban 9 de 14 facturas al cierre del mes.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3310128"/>
            <a:ext cx="11228832" cy="548640"/>
          </a:xfrm>
          <a:prstGeom prst="rect">
            <a:avLst/>
          </a:prstGeom>
          <a:solidFill>
            <a:srgbClr val="FDF2F3"/>
          </a:solidFill>
          <a:ln w="1778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3401568"/>
            <a:ext cx="1088136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250" b="1">
                <a:solidFill>
                  <a:srgbClr val="CE0E2D"/>
                </a:solidFill>
                <a:latin typeface="Calibri"/>
              </a:defRPr>
            </a:pPr>
            <a:r>
              <a:t>Causa raíz: registrar una factura a mano toma 1 a 2 minutos y compite con la atención al cliente. Las herramientas actuales no reducen ese costo, solo le dan forma.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4005072"/>
            <a:ext cx="11228832" cy="128675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078224"/>
            <a:ext cx="108356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508571"/>
            <a:ext cx="10835640" cy="6296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15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Desarrollar</a:t>
            </a:r>
            <a:r>
              <a:rPr lang="es-MX"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móvil</a:t>
            </a:r>
            <a:r>
              <a:rPr dirty="0"/>
              <a:t> Android </a:t>
            </a:r>
            <a:r>
              <a:rPr dirty="0" err="1"/>
              <a:t>nativa</a:t>
            </a:r>
            <a:r>
              <a:rPr dirty="0"/>
              <a:t> </a:t>
            </a:r>
            <a:r>
              <a:rPr dirty="0" err="1"/>
              <a:t>desarrollada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lenguaje</a:t>
            </a:r>
            <a:r>
              <a:rPr dirty="0"/>
              <a:t> Java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registre</a:t>
            </a:r>
            <a:r>
              <a:rPr dirty="0"/>
              <a:t> las facturas de </a:t>
            </a:r>
            <a:r>
              <a:rPr dirty="0" err="1"/>
              <a:t>compra</a:t>
            </a:r>
            <a:r>
              <a:rPr dirty="0"/>
              <a:t> de las bodegas </a:t>
            </a:r>
            <a:r>
              <a:rPr dirty="0" err="1"/>
              <a:t>acogidas</a:t>
            </a:r>
            <a:r>
              <a:rPr dirty="0"/>
              <a:t> al NRUS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fotografía</a:t>
            </a:r>
            <a:r>
              <a:rPr dirty="0"/>
              <a:t>, </a:t>
            </a:r>
            <a:r>
              <a:rPr dirty="0" err="1"/>
              <a:t>empleando</a:t>
            </a:r>
            <a:r>
              <a:rPr dirty="0"/>
              <a:t> un </a:t>
            </a:r>
            <a:r>
              <a:rPr dirty="0" err="1"/>
              <a:t>modelo</a:t>
            </a:r>
            <a:r>
              <a:rPr dirty="0"/>
              <a:t> Gemma 4 con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imágenes</a:t>
            </a:r>
            <a:r>
              <a:rPr dirty="0"/>
              <a:t> de facturas </a:t>
            </a:r>
            <a:r>
              <a:rPr dirty="0" err="1"/>
              <a:t>peruanas</a:t>
            </a:r>
            <a:r>
              <a:rPr dirty="0"/>
              <a:t> para </a:t>
            </a:r>
            <a:r>
              <a:rPr dirty="0" err="1"/>
              <a:t>extraer</a:t>
            </a:r>
            <a:r>
              <a:rPr dirty="0"/>
              <a:t> sus </a:t>
            </a:r>
            <a:r>
              <a:rPr dirty="0" err="1"/>
              <a:t>datos</a:t>
            </a:r>
            <a:r>
              <a:rPr dirty="0"/>
              <a:t> clave, 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calcule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el total </a:t>
            </a:r>
            <a:r>
              <a:rPr dirty="0" err="1"/>
              <a:t>mensual</a:t>
            </a:r>
            <a:r>
              <a:rPr dirty="0"/>
              <a:t> de </a:t>
            </a:r>
            <a:r>
              <a:rPr dirty="0" err="1"/>
              <a:t>adquisiciones</a:t>
            </a:r>
            <a:r>
              <a:rPr dirty="0"/>
              <a:t> y la </a:t>
            </a:r>
            <a:r>
              <a:rPr dirty="0" err="1"/>
              <a:t>categoría</a:t>
            </a:r>
            <a:r>
              <a:rPr dirty="0"/>
              <a:t> del </a:t>
            </a:r>
            <a:r>
              <a:rPr dirty="0" err="1"/>
              <a:t>régimen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, a fin de </a:t>
            </a:r>
            <a:r>
              <a:rPr dirty="0" err="1"/>
              <a:t>mejorar</a:t>
            </a:r>
            <a:r>
              <a:rPr dirty="0"/>
              <a:t> la </a:t>
            </a:r>
            <a:r>
              <a:rPr dirty="0" err="1"/>
              <a:t>exactitud</a:t>
            </a:r>
            <a:r>
              <a:rPr dirty="0"/>
              <a:t> de la </a:t>
            </a:r>
            <a:r>
              <a:rPr dirty="0" err="1"/>
              <a:t>declaración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 y </a:t>
            </a:r>
            <a:r>
              <a:rPr dirty="0" err="1"/>
              <a:t>reducir</a:t>
            </a:r>
            <a:r>
              <a:rPr dirty="0"/>
              <a:t> el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titular </a:t>
            </a:r>
            <a:r>
              <a:rPr dirty="0" err="1"/>
              <a:t>dedica</a:t>
            </a:r>
            <a:r>
              <a:rPr dirty="0"/>
              <a:t> a ese </a:t>
            </a:r>
            <a:r>
              <a:rPr dirty="0" err="1"/>
              <a:t>cálculo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Coronel Obregón, Paulo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ANEXO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Modelo de negocio — Lean Canvas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188720"/>
            <a:ext cx="2212848" cy="24871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2212848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1261872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F4E79"/>
                </a:solidFill>
                <a:latin typeface="Calibri"/>
              </a:defRPr>
            </a:pPr>
            <a:r>
              <a:t>2.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499616"/>
            <a:ext cx="2084832" cy="891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El </a:t>
            </a:r>
            <a:r>
              <a:rPr dirty="0" err="1"/>
              <a:t>bodeguero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clasificar</a:t>
            </a:r>
            <a:r>
              <a:rPr dirty="0"/>
              <a:t> y </a:t>
            </a:r>
            <a:r>
              <a:rPr dirty="0" err="1"/>
              <a:t>sumar</a:t>
            </a:r>
            <a:r>
              <a:rPr dirty="0"/>
              <a:t> a mano las facturas de </a:t>
            </a:r>
            <a:r>
              <a:rPr dirty="0" err="1"/>
              <a:t>compra</a:t>
            </a:r>
            <a:r>
              <a:rPr dirty="0"/>
              <a:t> de…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Si el </a:t>
            </a:r>
            <a:r>
              <a:rPr dirty="0" err="1"/>
              <a:t>monto</a:t>
            </a:r>
            <a:r>
              <a:rPr dirty="0"/>
              <a:t> </a:t>
            </a:r>
            <a:r>
              <a:rPr dirty="0" err="1"/>
              <a:t>calculado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debajo</a:t>
            </a:r>
            <a:r>
              <a:rPr dirty="0"/>
              <a:t> del real, </a:t>
            </a:r>
            <a:r>
              <a:rPr dirty="0" err="1"/>
              <a:t>subdeclara</a:t>
            </a:r>
            <a:r>
              <a:rPr dirty="0"/>
              <a:t> </a:t>
            </a:r>
            <a:endParaRPr lang="es-MX"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Las facturas se </a:t>
            </a:r>
            <a:r>
              <a:rPr dirty="0" err="1"/>
              <a:t>acumulan</a:t>
            </a:r>
            <a:r>
              <a:rPr dirty="0"/>
              <a:t> sin </a:t>
            </a:r>
            <a:r>
              <a:rPr dirty="0" err="1"/>
              <a:t>registro</a:t>
            </a:r>
            <a:r>
              <a:rPr dirty="0"/>
              <a:t> y </a:t>
            </a:r>
            <a:r>
              <a:rPr dirty="0" err="1"/>
              <a:t>algunas</a:t>
            </a:r>
            <a:r>
              <a:rPr dirty="0"/>
              <a:t> se </a:t>
            </a:r>
            <a:r>
              <a:rPr dirty="0" err="1"/>
              <a:t>pierden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729484" y="1188720"/>
            <a:ext cx="2212848" cy="2487168"/>
          </a:xfrm>
          <a:prstGeom prst="rect">
            <a:avLst/>
          </a:prstGeom>
          <a:solidFill>
            <a:srgbClr val="FFFFFF"/>
          </a:solidFill>
          <a:ln w="1397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29484" y="1188720"/>
            <a:ext cx="2212848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3492" y="1261872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F4E79"/>
                </a:solidFill>
                <a:latin typeface="Calibri"/>
              </a:defRPr>
            </a:pPr>
            <a:r>
              <a:t>4. 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3492" y="1499616"/>
            <a:ext cx="2084832" cy="11787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Fotografía</a:t>
            </a:r>
            <a:r>
              <a:rPr dirty="0"/>
              <a:t> de la factura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el </a:t>
            </a:r>
            <a:r>
              <a:rPr dirty="0" err="1"/>
              <a:t>pedido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Gemma 4 con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facturas </a:t>
            </a:r>
            <a:r>
              <a:rPr dirty="0" err="1"/>
              <a:t>peruanas</a:t>
            </a:r>
            <a:r>
              <a:rPr dirty="0"/>
              <a:t> </a:t>
            </a:r>
            <a:r>
              <a:rPr dirty="0" err="1"/>
              <a:t>extrae</a:t>
            </a:r>
            <a:r>
              <a:rPr dirty="0"/>
              <a:t> </a:t>
            </a:r>
            <a:r>
              <a:rPr dirty="0" err="1"/>
              <a:t>emisor</a:t>
            </a:r>
            <a:r>
              <a:rPr dirty="0"/>
              <a:t>, RUC</a:t>
            </a:r>
            <a:r>
              <a:rPr lang="es-MX" dirty="0"/>
              <a:t>, </a:t>
            </a:r>
            <a:r>
              <a:rPr lang="es-MX" dirty="0" err="1"/>
              <a:t>etc</a:t>
            </a:r>
            <a:endParaRPr lang="es-MX"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Acumulado</a:t>
            </a:r>
            <a:r>
              <a:rPr dirty="0"/>
              <a:t> del total </a:t>
            </a:r>
            <a:r>
              <a:rPr dirty="0" err="1"/>
              <a:t>mensual</a:t>
            </a:r>
            <a:r>
              <a:rPr dirty="0"/>
              <a:t> de </a:t>
            </a:r>
            <a:r>
              <a:rPr dirty="0" err="1"/>
              <a:t>adquisiciones</a:t>
            </a:r>
            <a:r>
              <a:rPr dirty="0"/>
              <a:t> </a:t>
            </a:r>
            <a:r>
              <a:rPr dirty="0" err="1"/>
              <a:t>actualizado</a:t>
            </a:r>
            <a:r>
              <a:rPr dirty="0"/>
              <a:t> con </a:t>
            </a:r>
            <a:r>
              <a:rPr dirty="0" err="1"/>
              <a:t>cada</a:t>
            </a:r>
            <a:r>
              <a:rPr dirty="0"/>
              <a:t> f</a:t>
            </a:r>
            <a:r>
              <a:rPr lang="es-MX" dirty="0" err="1"/>
              <a:t>actura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 de la </a:t>
            </a:r>
            <a:r>
              <a:rPr dirty="0" err="1"/>
              <a:t>categoría</a:t>
            </a:r>
            <a:r>
              <a:rPr dirty="0"/>
              <a:t> y la </a:t>
            </a:r>
            <a:r>
              <a:rPr dirty="0" err="1"/>
              <a:t>cuota</a:t>
            </a:r>
            <a:r>
              <a:rPr dirty="0"/>
              <a:t> del NRUS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188720"/>
            <a:ext cx="2212848" cy="2487168"/>
          </a:xfrm>
          <a:prstGeom prst="rect">
            <a:avLst/>
          </a:prstGeom>
          <a:solidFill>
            <a:srgbClr val="FFFFFF"/>
          </a:solidFill>
          <a:ln w="1397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83480" y="1188720"/>
            <a:ext cx="2212848" cy="3810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7488" y="1261872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B86A00"/>
                </a:solidFill>
                <a:latin typeface="Calibri"/>
              </a:defRPr>
            </a:pPr>
            <a:r>
              <a:t>3. PROPUESTA DE VALOR ÚNICA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1499616"/>
            <a:ext cx="2084832" cy="2103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404040"/>
                </a:solidFill>
                <a:latin typeface="Calibri"/>
              </a:defRPr>
            </a:pPr>
            <a:r>
              <a:t>•  Fotografía la factura cuando te llega el pedido y WASYK te dice cuánto compraste en el mes y qué cuota del NRUS te toca pagar.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404040"/>
                </a:solidFill>
                <a:latin typeface="Calibri"/>
              </a:defRPr>
            </a:pPr>
            <a:r>
              <a:t>•  Concepto: El cálculo del NRUS resuelto con la cámara del teléfono.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7476" y="1188720"/>
            <a:ext cx="2212848" cy="2487168"/>
          </a:xfrm>
          <a:prstGeom prst="rect">
            <a:avLst/>
          </a:prstGeom>
          <a:solidFill>
            <a:srgbClr val="FFFFFF"/>
          </a:solidFill>
          <a:ln w="1397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37476" y="1188720"/>
            <a:ext cx="2212848" cy="38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01484" y="1261872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9. VENTAJA COMPETITIVA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1484" y="1499616"/>
            <a:ext cx="2084832" cy="76072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Modelo Gemma 4 </a:t>
            </a:r>
            <a:r>
              <a:rPr dirty="0" err="1"/>
              <a:t>ajustado</a:t>
            </a:r>
            <a:r>
              <a:rPr dirty="0"/>
              <a:t> con facturas </a:t>
            </a:r>
            <a:r>
              <a:rPr dirty="0" err="1"/>
              <a:t>peruanas</a:t>
            </a:r>
            <a:r>
              <a:rPr dirty="0"/>
              <a:t> de bodega</a:t>
            </a:r>
            <a:endParaRPr lang="es-MX"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Conjunto </a:t>
            </a:r>
            <a:r>
              <a:rPr dirty="0" err="1"/>
              <a:t>propio</a:t>
            </a:r>
            <a:r>
              <a:rPr dirty="0"/>
              <a:t> de </a:t>
            </a:r>
            <a:r>
              <a:rPr dirty="0" err="1"/>
              <a:t>imágenes</a:t>
            </a:r>
            <a:r>
              <a:rPr dirty="0"/>
              <a:t> de facturas </a:t>
            </a:r>
            <a:r>
              <a:rPr dirty="0" err="1"/>
              <a:t>capturadas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condiciones</a:t>
            </a:r>
            <a:r>
              <a:rPr dirty="0"/>
              <a:t> reales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endParaRPr lang="es-MX" dirty="0"/>
          </a:p>
        </p:txBody>
      </p:sp>
      <p:sp>
        <p:nvSpPr>
          <p:cNvPr id="25" name="Rectangle 24"/>
          <p:cNvSpPr/>
          <p:nvPr/>
        </p:nvSpPr>
        <p:spPr>
          <a:xfrm>
            <a:off x="9491472" y="1188720"/>
            <a:ext cx="2212848" cy="2487168"/>
          </a:xfrm>
          <a:prstGeom prst="rect">
            <a:avLst/>
          </a:prstGeom>
          <a:solidFill>
            <a:srgbClr val="FFFFFF"/>
          </a:solidFill>
          <a:ln w="1397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188720"/>
            <a:ext cx="2212848" cy="38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1261872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1. SEGMENTO DE CLIENTES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1499616"/>
            <a:ext cx="2084832" cy="6042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Titulares</a:t>
            </a:r>
            <a:r>
              <a:rPr dirty="0"/>
              <a:t> de bodegas de barrio </a:t>
            </a:r>
            <a:r>
              <a:rPr dirty="0" err="1"/>
              <a:t>acogidas</a:t>
            </a:r>
            <a:r>
              <a:rPr dirty="0"/>
              <a:t> al NRUS</a:t>
            </a:r>
            <a:endParaRPr lang="es-MX"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Early adopters: </a:t>
            </a:r>
            <a:r>
              <a:rPr dirty="0" err="1"/>
              <a:t>Bodegueros</a:t>
            </a:r>
            <a:r>
              <a:rPr dirty="0"/>
              <a:t> de 25 a 45 </a:t>
            </a:r>
            <a:r>
              <a:rPr dirty="0" err="1"/>
              <a:t>años</a:t>
            </a:r>
            <a:r>
              <a:rPr dirty="0"/>
              <a:t>,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habituales</a:t>
            </a:r>
            <a:r>
              <a:rPr dirty="0"/>
              <a:t> de </a:t>
            </a:r>
            <a:r>
              <a:rPr dirty="0" err="1"/>
              <a:t>billetera</a:t>
            </a:r>
            <a:r>
              <a:rPr dirty="0"/>
              <a:t> </a:t>
            </a:r>
            <a:r>
              <a:rPr dirty="0" err="1"/>
              <a:t>móvil</a:t>
            </a:r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475488" y="3717036"/>
            <a:ext cx="2177796" cy="1772666"/>
          </a:xfrm>
          <a:prstGeom prst="rect">
            <a:avLst/>
          </a:prstGeom>
          <a:solidFill>
            <a:srgbClr val="FFFFFF"/>
          </a:solidFill>
          <a:ln w="1397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" y="3717036"/>
            <a:ext cx="2212848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" y="3790188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F4E79"/>
                </a:solidFill>
                <a:latin typeface="Calibri"/>
              </a:defRPr>
            </a:pPr>
            <a:r>
              <a:t>8. MÉTRICAS CLAVE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4027932"/>
            <a:ext cx="2084832" cy="146604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Bodegas con al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factura </a:t>
            </a:r>
            <a:r>
              <a:rPr dirty="0" err="1"/>
              <a:t>registrada</a:t>
            </a:r>
            <a:r>
              <a:rPr dirty="0"/>
              <a:t>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Facturas </a:t>
            </a:r>
            <a:r>
              <a:rPr dirty="0" err="1"/>
              <a:t>procesadas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bodega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mes</a:t>
            </a:r>
            <a:r>
              <a:rPr dirty="0"/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Exactitud</a:t>
            </a:r>
            <a:r>
              <a:rPr dirty="0"/>
              <a:t> de la </a:t>
            </a:r>
            <a:r>
              <a:rPr dirty="0" err="1"/>
              <a:t>extracción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campos clave.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Mejora</a:t>
            </a:r>
            <a:r>
              <a:rPr dirty="0"/>
              <a:t> de </a:t>
            </a:r>
            <a:r>
              <a:rPr dirty="0" err="1"/>
              <a:t>exactitud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ajustado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</a:t>
            </a:r>
            <a:r>
              <a:rPr lang="es-MX" dirty="0"/>
              <a:t> uno genérico 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Proporción</a:t>
            </a:r>
            <a:r>
              <a:rPr dirty="0"/>
              <a:t> de campos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corrige</a:t>
            </a:r>
            <a:r>
              <a:rPr dirty="0"/>
              <a:t> a ma</a:t>
            </a:r>
            <a:r>
              <a:rPr lang="es-MX" dirty="0"/>
              <a:t>no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2729484" y="3717036"/>
            <a:ext cx="2189988" cy="1758696"/>
          </a:xfrm>
          <a:prstGeom prst="rect">
            <a:avLst/>
          </a:prstGeom>
          <a:solidFill>
            <a:srgbClr val="FFFFFF"/>
          </a:solidFill>
          <a:ln w="1397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9484" y="3717036"/>
            <a:ext cx="2212848" cy="3810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93492" y="3790188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CE0E2D"/>
                </a:solidFill>
                <a:latin typeface="Calibri"/>
              </a:defRPr>
            </a:pPr>
            <a:r>
              <a:t>7. ESTRUCTURA DE COSTOS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3492" y="4027932"/>
            <a:ext cx="2125980" cy="133523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Desarrollo y </a:t>
            </a:r>
            <a:r>
              <a:rPr dirty="0" err="1"/>
              <a:t>mantenimiento</a:t>
            </a:r>
            <a:r>
              <a:rPr dirty="0"/>
              <a:t> de la </a:t>
            </a:r>
            <a:r>
              <a:rPr dirty="0" err="1"/>
              <a:t>aplicación</a:t>
            </a:r>
            <a:r>
              <a:rPr dirty="0"/>
              <a:t> web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Construcción</a:t>
            </a:r>
            <a:r>
              <a:rPr dirty="0"/>
              <a:t> y </a:t>
            </a:r>
            <a:r>
              <a:rPr dirty="0" err="1"/>
              <a:t>etiquetado</a:t>
            </a:r>
            <a:r>
              <a:rPr dirty="0"/>
              <a:t> del conjunto de </a:t>
            </a:r>
            <a:r>
              <a:rPr dirty="0" err="1"/>
              <a:t>factur</a:t>
            </a:r>
            <a:r>
              <a:rPr lang="es-MX" dirty="0"/>
              <a:t>as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Cómputo</a:t>
            </a:r>
            <a:r>
              <a:rPr dirty="0"/>
              <a:t> para el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fino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Infraestructura</a:t>
            </a:r>
            <a:r>
              <a:rPr dirty="0"/>
              <a:t> de </a:t>
            </a:r>
            <a:r>
              <a:rPr dirty="0" err="1"/>
              <a:t>servidor</a:t>
            </a:r>
            <a:r>
              <a:rPr dirty="0"/>
              <a:t>, </a:t>
            </a:r>
            <a:r>
              <a:rPr dirty="0" err="1"/>
              <a:t>inferencia</a:t>
            </a:r>
            <a:r>
              <a:rPr dirty="0"/>
              <a:t> y base d</a:t>
            </a:r>
            <a:r>
              <a:rPr lang="es-MX" dirty="0"/>
              <a:t>e datos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Actualización</a:t>
            </a:r>
            <a:r>
              <a:rPr dirty="0"/>
              <a:t> del motor de </a:t>
            </a:r>
            <a:r>
              <a:rPr dirty="0" err="1"/>
              <a:t>reglas</a:t>
            </a:r>
            <a:r>
              <a:rPr dirty="0"/>
              <a:t> ante </a:t>
            </a:r>
            <a:r>
              <a:rPr dirty="0" err="1"/>
              <a:t>cambios</a:t>
            </a:r>
            <a:r>
              <a:rPr dirty="0"/>
              <a:t> </a:t>
            </a:r>
            <a:r>
              <a:rPr lang="es-MX" dirty="0"/>
              <a:t>en facturas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4983480" y="3717036"/>
            <a:ext cx="2212848" cy="1758696"/>
          </a:xfrm>
          <a:prstGeom prst="rect">
            <a:avLst/>
          </a:prstGeom>
          <a:solidFill>
            <a:srgbClr val="FFFFFF"/>
          </a:solidFill>
          <a:ln w="1397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983480" y="3717036"/>
            <a:ext cx="2212848" cy="38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47488" y="3790188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5. CANALES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4027932"/>
            <a:ext cx="2084832" cy="891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gratuita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tienda de </a:t>
            </a:r>
            <a:r>
              <a:rPr dirty="0" err="1"/>
              <a:t>aplicacion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Demostración</a:t>
            </a:r>
            <a:r>
              <a:rPr dirty="0"/>
              <a:t> </a:t>
            </a:r>
            <a:r>
              <a:rPr dirty="0" err="1"/>
              <a:t>presencial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bodegas del </a:t>
            </a:r>
            <a:r>
              <a:rPr dirty="0" err="1"/>
              <a:t>distr</a:t>
            </a:r>
            <a:r>
              <a:rPr lang="es-MX" dirty="0" err="1"/>
              <a:t>ito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Alianza con </a:t>
            </a:r>
            <a:r>
              <a:rPr dirty="0" err="1"/>
              <a:t>distribuidores</a:t>
            </a:r>
            <a:r>
              <a:rPr dirty="0"/>
              <a:t> </a:t>
            </a:r>
            <a:r>
              <a:rPr dirty="0" err="1"/>
              <a:t>mayoristas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visita</a:t>
            </a:r>
            <a:r>
              <a:rPr lang="es-MX" dirty="0"/>
              <a:t>n bodegas</a:t>
            </a:r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7237476" y="3717036"/>
            <a:ext cx="2189988" cy="1758696"/>
          </a:xfrm>
          <a:prstGeom prst="rect">
            <a:avLst/>
          </a:prstGeom>
          <a:solidFill>
            <a:srgbClr val="FFFFFF"/>
          </a:solidFill>
          <a:ln w="1397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237476" y="3717036"/>
            <a:ext cx="2212848" cy="3810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01484" y="3790188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CE0E2D"/>
                </a:solidFill>
                <a:latin typeface="Calibri"/>
              </a:defRPr>
            </a:pPr>
            <a:r>
              <a:t>6. FLUJO DE INGRESOS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01484" y="4027932"/>
            <a:ext cx="2084832" cy="117878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gratuita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base. La </a:t>
            </a:r>
            <a:r>
              <a:rPr dirty="0" err="1"/>
              <a:t>gratuidad</a:t>
            </a:r>
            <a:r>
              <a:rPr dirty="0"/>
              <a:t> es</a:t>
            </a:r>
            <a:r>
              <a:rPr lang="es-MX" dirty="0"/>
              <a:t> temporal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Plan de </a:t>
            </a:r>
            <a:r>
              <a:rPr dirty="0" err="1"/>
              <a:t>pago</a:t>
            </a:r>
            <a:r>
              <a:rPr dirty="0"/>
              <a:t> </a:t>
            </a:r>
            <a:r>
              <a:rPr dirty="0" err="1"/>
              <a:t>voluntario</a:t>
            </a:r>
            <a:r>
              <a:rPr dirty="0"/>
              <a:t> de bajo </a:t>
            </a:r>
            <a:r>
              <a:rPr dirty="0" err="1"/>
              <a:t>monto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respaldo</a:t>
            </a:r>
            <a:r>
              <a:rPr dirty="0"/>
              <a:t> de l</a:t>
            </a:r>
            <a:r>
              <a:rPr lang="es-MX" dirty="0"/>
              <a:t>a información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Licencia</a:t>
            </a:r>
            <a:r>
              <a:rPr dirty="0"/>
              <a:t> del </a:t>
            </a:r>
            <a:r>
              <a:rPr dirty="0" err="1"/>
              <a:t>módulo</a:t>
            </a:r>
            <a:r>
              <a:rPr dirty="0"/>
              <a:t> de </a:t>
            </a:r>
            <a:r>
              <a:rPr dirty="0" err="1"/>
              <a:t>consolidación</a:t>
            </a:r>
            <a:r>
              <a:rPr dirty="0"/>
              <a:t> para </a:t>
            </a:r>
            <a:r>
              <a:rPr dirty="0" err="1"/>
              <a:t>estudios</a:t>
            </a:r>
            <a:r>
              <a:rPr dirty="0"/>
              <a:t> </a:t>
            </a:r>
            <a:r>
              <a:rPr dirty="0" err="1"/>
              <a:t>cont</a:t>
            </a:r>
            <a:r>
              <a:rPr lang="es-MX" dirty="0" err="1"/>
              <a:t>ables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Reportes</a:t>
            </a:r>
            <a:r>
              <a:rPr dirty="0"/>
              <a:t> </a:t>
            </a:r>
            <a:r>
              <a:rPr dirty="0" err="1"/>
              <a:t>agregados</a:t>
            </a:r>
            <a:r>
              <a:rPr dirty="0"/>
              <a:t> y </a:t>
            </a:r>
            <a:r>
              <a:rPr dirty="0" err="1"/>
              <a:t>anonimizados</a:t>
            </a:r>
            <a:r>
              <a:rPr dirty="0"/>
              <a:t> de </a:t>
            </a:r>
            <a:r>
              <a:rPr dirty="0" err="1"/>
              <a:t>compras</a:t>
            </a:r>
            <a:r>
              <a:rPr dirty="0"/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1472" y="3717036"/>
            <a:ext cx="2225040" cy="1758696"/>
          </a:xfrm>
          <a:prstGeom prst="rect">
            <a:avLst/>
          </a:prstGeom>
          <a:solidFill>
            <a:srgbClr val="FFFFFF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91472" y="3717036"/>
            <a:ext cx="2212848" cy="381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555480" y="3790188"/>
            <a:ext cx="2084832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404040"/>
                </a:solidFill>
                <a:latin typeface="Calibri"/>
              </a:defRPr>
            </a:pPr>
            <a:r>
              <a:t>ALTERNATIVAS ACTUALES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027932"/>
            <a:ext cx="2084832" cy="891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Sumar las facturas a mano al </a:t>
            </a:r>
            <a:r>
              <a:rPr dirty="0" err="1"/>
              <a:t>cierre</a:t>
            </a:r>
            <a:r>
              <a:rPr dirty="0"/>
              <a:t> del </a:t>
            </a:r>
            <a:r>
              <a:rPr dirty="0" err="1"/>
              <a:t>mes</a:t>
            </a:r>
            <a:r>
              <a:rPr dirty="0"/>
              <a:t>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Anotarlas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cuaderno</a:t>
            </a:r>
            <a:r>
              <a:rPr dirty="0"/>
              <a:t> 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hoja de </a:t>
            </a:r>
            <a:r>
              <a:rPr dirty="0" err="1"/>
              <a:t>cálc</a:t>
            </a:r>
            <a:r>
              <a:rPr lang="es-MX" dirty="0" err="1"/>
              <a:t>ulo</a:t>
            </a:r>
            <a:endParaRPr dirty="0"/>
          </a:p>
          <a:p>
            <a:pPr algn="l">
              <a:lnSpc>
                <a:spcPct val="100000"/>
              </a:lnSpc>
              <a:spcAft>
                <a:spcPts val="200"/>
              </a:spcAft>
              <a:defRPr sz="85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Declarar</a:t>
            </a:r>
            <a:r>
              <a:rPr dirty="0"/>
              <a:t> la </a:t>
            </a:r>
            <a:r>
              <a:rPr dirty="0" err="1"/>
              <a:t>categoría</a:t>
            </a:r>
            <a:r>
              <a:rPr dirty="0"/>
              <a:t> superior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precaución</a:t>
            </a:r>
            <a:r>
              <a:rPr dirty="0"/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392" y="5568696"/>
            <a:ext cx="45720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F4E79"/>
                </a:solidFill>
                <a:latin typeface="Calibri"/>
              </a:defRPr>
            </a:pPr>
            <a:r>
              <a:rPr dirty="0"/>
              <a:t>PRODUCTO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5644896"/>
            <a:ext cx="45720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E7B4F"/>
                </a:solidFill>
                <a:latin typeface="Calibri"/>
              </a:defRPr>
            </a:pPr>
            <a:r>
              <a:rPr dirty="0"/>
              <a:t>MERCADO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Coronel Obregón, Paulo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ESTADO DEL 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Estado del arte y brecha identificada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314197"/>
              </p:ext>
            </p:extLst>
          </p:nvPr>
        </p:nvGraphicFramePr>
        <p:xfrm>
          <a:off x="475488" y="1207008"/>
          <a:ext cx="11228830" cy="321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Enfoque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</a:t>
                      </a:r>
                    </a:p>
                    <a:p>
                      <a:r>
                        <a:t>estructura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Especializable en</a:t>
                      </a:r>
                    </a:p>
                    <a:p>
                      <a:r>
                        <a:t>factura peruana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por documento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Calcula</a:t>
                      </a:r>
                    </a:p>
                    <a:p>
                      <a:r>
                        <a:t>NRUS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Cálculo manual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 aplica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 aplica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Gratuito, alto costo en tiempo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OCR tradicional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Solo con reglas por formato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Comprensión documental en la nube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No, modelo cerrado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Por documento procesado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Aplicaciones de contabilidad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 aplica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Suscripción mensual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Parcial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Aplicaciones de la SUNAT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/>
                        <a:t>No </a:t>
                      </a:r>
                      <a:r>
                        <a:rPr dirty="0" err="1"/>
                        <a:t>aplica</a:t>
                      </a:r>
                      <a:endParaRPr dirty="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 aplica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Modelo multimodal abierto con ajuste fino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Sí, mediante ajuste fino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Sin costo por documento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rPr dirty="0" err="1"/>
                        <a:t>Sí</a:t>
                      </a:r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75488" y="4160520"/>
            <a:ext cx="11228832" cy="960120"/>
          </a:xfrm>
          <a:prstGeom prst="rect">
            <a:avLst/>
          </a:prstGeom>
          <a:solidFill>
            <a:srgbClr val="FDF2F3"/>
          </a:solidFill>
          <a:ln w="1778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4251959"/>
            <a:ext cx="1088136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CE0E2D"/>
                </a:solidFill>
                <a:latin typeface="Calibri"/>
              </a:defRPr>
            </a:pPr>
            <a:r>
              <a:t>LA BRECHA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7992"/>
            <a:ext cx="10881360" cy="5394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  <a:defRPr sz="1250" b="0">
                <a:solidFill>
                  <a:srgbClr val="404040"/>
                </a:solidFill>
                <a:latin typeface="Calibri"/>
              </a:defRPr>
            </a:pPr>
            <a:r>
              <a:t>Ninguna solución reúne a la vez las cuatro condiciones: interpretar la estructura del documento, poder especializarse en la factura peruana, no cobrar por documento y calcular la categoría del NRUS. Cada alternativa cumple algunas y falla en las demás.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Mateo Velásquez, Morán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ANEXO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Tres alternativas y decisión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188720"/>
            <a:ext cx="3602736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3602736" cy="7498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43584"/>
            <a:ext cx="3419856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ALTERNATIVA 1  ◄ SELECCIONADA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444752"/>
            <a:ext cx="341985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Aplicación Android nativa en Java con inferencia en el servicio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1680"/>
            <a:ext cx="3419856" cy="4023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Java con Android SDK (cliente) · Java con Spring Boot (backend) · SQLite mediante Room (local) · Oracle o SQL Server · Gemma 4 multimodal con ajuste fino en el 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3419856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404040"/>
                </a:solidFill>
                <a:latin typeface="Calibri"/>
              </a:defRPr>
            </a:pPr>
            <a:r>
              <a:t>Pantallas: 8   ·   Java: ~ 85 %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06624"/>
            <a:ext cx="3419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A FAVOR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871216"/>
            <a:ext cx="3419856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El modelo no se instala en el teléfono, por lo que funciona en 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Permite el ajuste fino sobre facturas peruanas, que es el aporte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93008"/>
            <a:ext cx="3419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CE0E2D"/>
                </a:solidFill>
                <a:latin typeface="Calibri"/>
              </a:defRPr>
            </a:pPr>
            <a:r>
              <a:t>EN CONTRA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657600"/>
            <a:ext cx="3419856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Requiere conexión para procesar una factura. Se mitiga con la co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Las imágenes viajan al servidor, lo que obliga a cuidar la prote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188720"/>
            <a:ext cx="3602736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60" y="1188720"/>
            <a:ext cx="3602736" cy="749808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1243584"/>
            <a:ext cx="3419856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ALTERNATIVA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444752"/>
            <a:ext cx="341985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Aplicación Android nativa en Java con el modelo instalado en el dispositivo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011680"/>
            <a:ext cx="3419856" cy="4023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1">
                <a:solidFill>
                  <a:srgbClr val="B86A00"/>
                </a:solidFill>
                <a:latin typeface="Calibri"/>
              </a:defRPr>
            </a:pPr>
            <a:r>
              <a:t>Java con Android SDK (cliente) · Java con Spring Boot (backend) · SQLite mediante Room · Oracle o SQL Server · Gemma 4 ajustado y cuantizado en el dispositivo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468880"/>
            <a:ext cx="3419856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404040"/>
                </a:solidFill>
                <a:latin typeface="Calibri"/>
              </a:defRPr>
            </a:pPr>
            <a:r>
              <a:t>Pantallas: 7   ·   Java: ~ 85 %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706624"/>
            <a:ext cx="3419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A FAVOR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871216"/>
            <a:ext cx="3419856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Funciona sin conexión, incluida la extracción de datos.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Las imágenes y los datos tributarios no salen del teléfono.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493008"/>
            <a:ext cx="3419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CE0E2D"/>
                </a:solidFill>
                <a:latin typeface="Calibri"/>
              </a:defRPr>
            </a:pPr>
            <a:r>
              <a:t>EN CONTRA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657600"/>
            <a:ext cx="3419856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Exige instalar el modelo cuantizado en el teléfono, lo que exclu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Aumenta mucho el tamaño de la instalación y el consumo de memori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8432" y="1188720"/>
            <a:ext cx="3602736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28432" y="1188720"/>
            <a:ext cx="3602736" cy="74980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2" y="1243584"/>
            <a:ext cx="3419856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ALTERNATIVA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1444752"/>
            <a:ext cx="3419856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Aplicación web en Java con servicio de extracción de terceros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2011680"/>
            <a:ext cx="3419856" cy="4023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1">
                <a:solidFill>
                  <a:srgbClr val="404040"/>
                </a:solidFill>
                <a:latin typeface="Calibri"/>
              </a:defRPr>
            </a:pPr>
            <a:r>
              <a:t>Java con Spring Boot y vistas del lado del servidor · HTML y CSS · Oracle o SQL Server · Servicio comercial de extracción documental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2468880"/>
            <a:ext cx="3419856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404040"/>
                </a:solidFill>
                <a:latin typeface="Calibri"/>
              </a:defRPr>
            </a:pPr>
            <a:r>
              <a:t>Pantallas: 6   ·   Java: ~ 80 %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2706624"/>
            <a:ext cx="3419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1E7B4F"/>
                </a:solidFill>
                <a:latin typeface="Calibri"/>
              </a:defRPr>
            </a:pPr>
            <a:r>
              <a:t>A FAVOR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2871216"/>
            <a:ext cx="3419856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Menor esfuerzo de construcción: no requiere entrenar ni desplega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No exige instalación de ningún tipo en el teléfono.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3493008"/>
            <a:ext cx="3419856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900" b="1">
                <a:solidFill>
                  <a:srgbClr val="CE0E2D"/>
                </a:solidFill>
                <a:latin typeface="Calibri"/>
              </a:defRPr>
            </a:pPr>
            <a:r>
              <a:t>EN CONTRA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2" y="3657600"/>
            <a:ext cx="3419856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No permite ajuste fino, porque el modelo del proveedor es cerrad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•  Cobra por documento procesado, lo que hace insostenible una apli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99816" y="4553712"/>
            <a:ext cx="5468112" cy="1572768"/>
          </a:xfrm>
          <a:prstGeom prst="rect">
            <a:avLst/>
          </a:prstGeom>
          <a:solidFill>
            <a:srgbClr val="E7F3EC"/>
          </a:solidFill>
          <a:ln w="1778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099816" y="4553712"/>
            <a:ext cx="5468112" cy="444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91256" y="4654296"/>
            <a:ext cx="528523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1E7B4F"/>
                </a:solidFill>
                <a:latin typeface="Calibri"/>
              </a:defRPr>
            </a:pPr>
            <a:r>
              <a:t>LOS DOS CRITERIOS QUE DECIDEN (45 % DEL PESO)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91256" y="4992624"/>
            <a:ext cx="5285232" cy="104241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Permitir ajuste fino: la A3 falla porque usa un modelo cerrado de un tercero y renuncia al aporte técnico del proyecto.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Funcionar en gama de entrada: la A2 falla porque instalar el modelo en el equipo excluye a la mayoría del segmento.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A1 y A2 comparten cliente Android en Java y 85 % de Java; solo cambia dónde se ejecuta el modelo.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Mateo Velásquez, Morán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ANEXO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Herramientas de gestión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207008"/>
            <a:ext cx="3675887" cy="2011680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207008"/>
            <a:ext cx="3675887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307592"/>
            <a:ext cx="3493007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1F4E79"/>
                </a:solidFill>
                <a:latin typeface="Calibri"/>
              </a:defRPr>
            </a:pPr>
            <a:r>
              <a:t>PROJECT CHARTER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3493007" cy="14813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Propósito, alcance, interesados, restricciones y supuestos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Líder del proyecto: Diego Aarón Damián Valdivia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Éxito: el total y la categoría que calcula la app coinciden con el cálculo manual de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207008"/>
            <a:ext cx="3675887" cy="2011680"/>
          </a:xfrm>
          <a:prstGeom prst="rect">
            <a:avLst/>
          </a:prstGeom>
          <a:solidFill>
            <a:srgbClr val="FFFFFF"/>
          </a:solidFill>
          <a:ln w="1778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1104" y="1207008"/>
            <a:ext cx="3675887" cy="444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1307592"/>
            <a:ext cx="3493007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1E7B4F"/>
                </a:solidFill>
                <a:latin typeface="Calibri"/>
              </a:defRPr>
            </a:pPr>
            <a:r>
              <a:t>WBS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645920"/>
            <a:ext cx="3493007" cy="14813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7 entregables de primer nivel y 33 paquetes de trabajo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Gestión · Análisis · Diseño · Ajuste fino · Construcción · Pruebas · Documentación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Cada paquete asignado a un integrante (Anexo 3.4)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07008"/>
            <a:ext cx="3657600" cy="2011680"/>
          </a:xfrm>
          <a:prstGeom prst="rect">
            <a:avLst/>
          </a:prstGeom>
          <a:solidFill>
            <a:srgbClr val="FFFFFF"/>
          </a:solidFill>
          <a:ln w="1778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207008"/>
            <a:ext cx="3657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1307592"/>
            <a:ext cx="34747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200" b="1">
                <a:solidFill>
                  <a:srgbClr val="CE0E2D"/>
                </a:solidFill>
                <a:latin typeface="Calibri"/>
              </a:defRPr>
            </a:pPr>
            <a:r>
              <a:t>RIESGOS PRINCIPALES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645920"/>
            <a:ext cx="3474720" cy="14813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R1 El ajuste fino no mejora sobre fotos de mala calidad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R2 Volumen insuficiente de facturas para entrenar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R3 Cómputo insuficiente para el ajuste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Los siete con respuesta definida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75488" y="3401568"/>
          <a:ext cx="72237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S2-4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S5-7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S8-10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S11-13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S14-15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S16-18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 Gestión del proyecto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 Análisis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3. Diseño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4. Modelo con ajuste fino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5. Construcción (Android + backend Java)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6. Pruebas y validación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7. Documentación y sustentación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███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7882127" y="3401568"/>
            <a:ext cx="3822191" cy="2304288"/>
          </a:xfrm>
          <a:prstGeom prst="rect">
            <a:avLst/>
          </a:prstGeom>
          <a:solidFill>
            <a:srgbClr val="DAE3F3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3511296"/>
            <a:ext cx="352044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F4E79"/>
                </a:solidFill>
                <a:latin typeface="Calibri"/>
              </a:defRPr>
            </a:pPr>
            <a:r>
              <a:t>HITOS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785615"/>
            <a:ext cx="3520440" cy="1828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Semana 4: APF1 — Análisis, planificación y Lean Canvas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Semana 8: APF2 — Diseño, prototipos y modelo de datos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Semana 12: APF3 — Modelo ajustado y construcción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Semana 18: Proyecto final — Piloto validado y sustentación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833872"/>
            <a:ext cx="72237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150" b="1">
                <a:solidFill>
                  <a:srgbClr val="CE0E2D"/>
                </a:solidFill>
                <a:latin typeface="Calibri"/>
              </a:defRPr>
            </a:pPr>
            <a:r>
              <a:t>Las tres herramientas que pide la consigna están presentes: Project Charter, WBS y diagrama de Gantt.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Gonzales Maco, Fabrizzio Jhoel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ANEXO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Análisis de la solución: casos de uso y SRS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188720"/>
          <a:ext cx="5623559" cy="374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Cód.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Caso de uso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Registrar factura de compra por fotografía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Verificar y corregir los datos extraídos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Ingresar el total de ventas del mes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Consultar el total de adquisiciones del me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Calcular categoría y cuota del NRUS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Motor de reglas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CU-06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Recibir aviso de proximidad a los topes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Consultar la fecha de vencimiento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Generar y exportar el reporte mensual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Procesar la cola de facturas pendientes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CU-10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Configurar los datos del contribuyente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Consultar el histórico de meses cerrados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CU-12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Anular una factura registrada por error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Bodeguero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91072" y="1188720"/>
            <a:ext cx="5413248" cy="1481328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91072" y="1188720"/>
            <a:ext cx="5413248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289304"/>
            <a:ext cx="5230368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F4E79"/>
                </a:solidFill>
                <a:latin typeface="Calibri"/>
              </a:defRPr>
            </a:pPr>
            <a:r>
              <a:t>REQUERIMIENTOS FUNCIONALES ·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27632"/>
            <a:ext cx="5230368" cy="95097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Captura y extracción con Gemma 4 ajustado: RF-01 a RF-05, RF-20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Cálculo del NRUS: RF-06 a RF-12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Reportes, cola local y configuración: RF-13 a RF-19, RF-21, RF-22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2798064"/>
            <a:ext cx="5413248" cy="1810512"/>
          </a:xfrm>
          <a:prstGeom prst="rect">
            <a:avLst/>
          </a:prstGeom>
          <a:solidFill>
            <a:srgbClr val="FFFFFF"/>
          </a:solidFill>
          <a:ln w="1778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2798064"/>
            <a:ext cx="5413248" cy="444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898648"/>
            <a:ext cx="5230368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E7B4F"/>
                </a:solidFill>
                <a:latin typeface="Calibri"/>
              </a:defRPr>
            </a:pPr>
            <a:r>
              <a:t>NO FUNCIONALES · 19  (ISO/IEC 25010)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36976"/>
            <a:ext cx="5230368" cy="12801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Adecuación funcional: exactitud ≥ 90 % en campos clave y mejora medible del modelo ajustado frente al base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Eficiencia: funciona en equipos de 2 GB sin instalar el modelo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Fiabilidad: permite fotografiar sin conexión con cola local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Mantenibilidad: parámetros del NRUS en configuración externa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4736592"/>
            <a:ext cx="5413248" cy="1005840"/>
          </a:xfrm>
          <a:prstGeom prst="rect">
            <a:avLst/>
          </a:prstGeom>
          <a:solidFill>
            <a:srgbClr val="DAE3F3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1072" y="4736592"/>
            <a:ext cx="5413248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4837176"/>
            <a:ext cx="5230368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50" b="1">
                <a:solidFill>
                  <a:srgbClr val="1F4E79"/>
                </a:solidFill>
                <a:latin typeface="Calibri"/>
              </a:defRPr>
            </a:pPr>
            <a:r>
              <a:t>TRAZABILIDAD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5175504"/>
            <a:ext cx="5230368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Calibri"/>
              </a:defRPr>
            </a:pPr>
            <a:r>
              <a:t>•  Cada requerimiento se vincula a un objetivo específico y a un caso de uso. Matriz completa en el Anexo 4.6 del informe.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287" y="5056632"/>
            <a:ext cx="562356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50" b="0">
                <a:solidFill>
                  <a:srgbClr val="404040"/>
                </a:solidFill>
                <a:latin typeface="Calibri"/>
              </a:defRPr>
            </a:pPr>
            <a:r>
              <a:rPr dirty="0" err="1"/>
              <a:t>Levantamiento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entrevista</a:t>
            </a:r>
            <a:r>
              <a:rPr dirty="0"/>
              <a:t> </a:t>
            </a:r>
            <a:r>
              <a:rPr dirty="0" err="1"/>
              <a:t>estructurada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titulares</a:t>
            </a:r>
            <a:r>
              <a:rPr dirty="0"/>
              <a:t> y </a:t>
            </a:r>
            <a:r>
              <a:rPr dirty="0" err="1"/>
              <a:t>observación</a:t>
            </a:r>
            <a:r>
              <a:rPr dirty="0"/>
              <a:t> </a:t>
            </a:r>
            <a:r>
              <a:rPr dirty="0" err="1"/>
              <a:t>directa</a:t>
            </a:r>
            <a:r>
              <a:rPr dirty="0"/>
              <a:t>. 12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y 5 </a:t>
            </a:r>
            <a:r>
              <a:rPr dirty="0" err="1"/>
              <a:t>actores</a:t>
            </a:r>
            <a:r>
              <a:rPr dirty="0"/>
              <a:t>, dos de </a:t>
            </a:r>
            <a:r>
              <a:rPr dirty="0" err="1"/>
              <a:t>ellos</a:t>
            </a:r>
            <a:r>
              <a:rPr dirty="0"/>
              <a:t> de </a:t>
            </a:r>
            <a:r>
              <a:rPr dirty="0" err="1"/>
              <a:t>sistema</a:t>
            </a:r>
            <a:r>
              <a:rPr dirty="0"/>
              <a:t>: el </a:t>
            </a:r>
            <a:r>
              <a:rPr dirty="0" err="1"/>
              <a:t>servicio</a:t>
            </a:r>
            <a:r>
              <a:rPr dirty="0"/>
              <a:t> de </a:t>
            </a:r>
            <a:r>
              <a:rPr dirty="0" err="1"/>
              <a:t>extracción</a:t>
            </a:r>
            <a:r>
              <a:rPr dirty="0"/>
              <a:t> y el motor de </a:t>
            </a:r>
            <a:r>
              <a:rPr dirty="0" err="1"/>
              <a:t>reglas</a:t>
            </a:r>
            <a:r>
              <a:rPr dirty="0"/>
              <a:t> del NRUS.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05956"/>
            <a:ext cx="86868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Gonzales Maco, Fabrizzio Jhoel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6505956"/>
            <a:ext cx="8229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5" name="Picture 4" descr="u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182880"/>
            <a:ext cx="1234440" cy="328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182880"/>
            <a:ext cx="9601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CE0E2D"/>
                </a:solidFill>
                <a:latin typeface="Calibri"/>
              </a:defRPr>
            </a:pPr>
            <a:r>
              <a:t>ANEXO 5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9768"/>
            <a:ext cx="1005840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2500" b="1">
                <a:solidFill>
                  <a:srgbClr val="1F4E79"/>
                </a:solidFill>
                <a:latin typeface="Calibri"/>
              </a:defRPr>
            </a:pPr>
            <a:r>
              <a:t>Diseño de la solución y próximos pasos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371600" cy="4445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18872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21615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1F4E79"/>
                </a:solidFill>
                <a:latin typeface="Calibri"/>
              </a:defRPr>
            </a:pPr>
            <a:r>
              <a:t>Cliente · presentación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40817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Java · Android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27101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Actividades, cámara nativa, formulario de verificación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173736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" y="1737360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" y="176479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1F4E79"/>
                </a:solidFill>
                <a:latin typeface="Calibri"/>
              </a:defRPr>
            </a:pPr>
            <a:r>
              <a:t>Cliente · dominio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195681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Java · Android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181965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Casos de uso de la aplicación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28600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" y="2286000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" y="231343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1F4E79"/>
                </a:solidFill>
                <a:latin typeface="Calibri"/>
              </a:defRPr>
            </a:pPr>
            <a:r>
              <a:t>Cliente ·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250545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Java · Room/SQLite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236829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Base local y cola de fotos pendientes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283464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5488" y="2834640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286207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1F4E79"/>
                </a:solidFill>
                <a:latin typeface="Calibri"/>
              </a:defRPr>
            </a:pPr>
            <a:r>
              <a:t>Backend · REST + servicios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305409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Java · Spring Boot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291693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Controladores y coordinación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338328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E0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" y="3383280"/>
            <a:ext cx="50800" cy="502920"/>
          </a:xfrm>
          <a:prstGeom prst="rect">
            <a:avLst/>
          </a:prstGeom>
          <a:solidFill>
            <a:srgbClr val="CE0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" y="341071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CE0E2D"/>
                </a:solidFill>
                <a:latin typeface="Calibri"/>
              </a:defRPr>
            </a:pPr>
            <a:r>
              <a:t>Motor de reglas NRUS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360273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346557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Categoría, cuota, topes y vencimiento. Aislado y con pruebas unitarias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393192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" y="3931920"/>
            <a:ext cx="50800" cy="50292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" y="395935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1E7B4F"/>
                </a:solidFill>
                <a:latin typeface="Calibri"/>
              </a:defRPr>
            </a:pPr>
            <a:r>
              <a:t>Inferencia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415137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Gemma 4 con ajuste fino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0048" y="401421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Extracción de campos con confianza por campo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" y="4480560"/>
            <a:ext cx="5623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5488" y="4480560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" y="4507992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00" b="1">
                <a:solidFill>
                  <a:srgbClr val="1F4E79"/>
                </a:solidFill>
                <a:latin typeface="Calibri"/>
              </a:defRPr>
            </a:pPr>
            <a:r>
              <a:t>Persistencia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4700016"/>
            <a:ext cx="2011680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800" b="0">
                <a:solidFill>
                  <a:srgbClr val="404040"/>
                </a:solidFill>
                <a:latin typeface="Calibri"/>
              </a:defRPr>
            </a:pPr>
            <a:r>
              <a:t>Java · JPA + Oracle/SQL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0048" y="4562856"/>
            <a:ext cx="3310128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  <a:defRPr sz="900" b="0">
                <a:solidFill>
                  <a:srgbClr val="404040"/>
                </a:solidFill>
                <a:latin typeface="Calibri"/>
              </a:defRPr>
            </a:pPr>
            <a:r>
              <a:t>Esquema normalizado del histórico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1188720"/>
            <a:ext cx="2633472" cy="1298448"/>
          </a:xfrm>
          <a:prstGeom prst="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91072" y="1188720"/>
            <a:ext cx="2633472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1289304"/>
            <a:ext cx="245059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1F4E79"/>
                </a:solidFill>
                <a:latin typeface="Calibri"/>
              </a:defRPr>
            </a:pPr>
            <a:r>
              <a:t>CLASES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1627632"/>
            <a:ext cx="2450592" cy="7680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11 clases del dominio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Contribuyente · Mes · FacturaCompra · Determinacion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70848" y="1188720"/>
            <a:ext cx="2633472" cy="1298448"/>
          </a:xfrm>
          <a:prstGeom prst="rect">
            <a:avLst/>
          </a:prstGeom>
          <a:solidFill>
            <a:srgbClr val="FFFFFF"/>
          </a:solidFill>
          <a:ln w="17780">
            <a:solidFill>
              <a:srgbClr val="1E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70848" y="1188720"/>
            <a:ext cx="2633472" cy="444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62288" y="1289304"/>
            <a:ext cx="245059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050" b="1">
                <a:solidFill>
                  <a:srgbClr val="1E7B4F"/>
                </a:solidFill>
                <a:latin typeface="Calibri"/>
              </a:defRPr>
            </a:pPr>
            <a:r>
              <a:t>MODELO 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1627632"/>
            <a:ext cx="2450592" cy="7680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9 entidades hasta 3FN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Calibri"/>
              </a:defRPr>
            </a:pPr>
            <a:r>
              <a:t>•  Histórico de categorías vigentes por fecha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2615184"/>
            <a:ext cx="5413248" cy="1481328"/>
          </a:xfrm>
          <a:prstGeom prst="rect">
            <a:avLst/>
          </a:prstGeom>
          <a:solidFill>
            <a:srgbClr val="FFFFFF"/>
          </a:solidFill>
          <a:ln w="1778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91072" y="2615184"/>
            <a:ext cx="5413248" cy="44450"/>
          </a:xfrm>
          <a:prstGeom prst="rect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82512" y="2715768"/>
            <a:ext cx="5230368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B86A00"/>
                </a:solidFill>
                <a:latin typeface="Calibri"/>
              </a:defRPr>
            </a:pPr>
            <a:r>
              <a:t>DIAGRAMA DE PROCESO: LO QUE CAMBIA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2512" y="3054096"/>
            <a:ext cx="5230368" cy="95097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Hoy: la factura se guarda sin registrar y el total se suma a mano una vez al mes, al cierre.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Con WASYK: se fotografía al recibirla y el total está siempre calculado.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4224528"/>
            <a:ext cx="5413248" cy="1517904"/>
          </a:xfrm>
          <a:prstGeom prst="rect">
            <a:avLst/>
          </a:prstGeom>
          <a:solidFill>
            <a:srgbClr val="DAE3F3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291072" y="4224528"/>
            <a:ext cx="5413248" cy="444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82512" y="4325112"/>
            <a:ext cx="5230368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100" b="1">
                <a:solidFill>
                  <a:srgbClr val="1F4E79"/>
                </a:solidFill>
                <a:latin typeface="Calibri"/>
              </a:defRPr>
            </a:pPr>
            <a:r>
              <a:t>PRÓXIMOS PASOS — APF2 (semana 8)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2512" y="4663440"/>
            <a:ext cx="5230368" cy="9875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Prototipos de interfaz y diagramas de secuencia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Modelo de datos conceptual, lógico y físico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Recopilación y etiquetado del conjunto de facturas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  <a:defRPr sz="1050" b="0">
                <a:solidFill>
                  <a:srgbClr val="404040"/>
                </a:solidFill>
                <a:latin typeface="Calibri"/>
              </a:defRPr>
            </a:pPr>
            <a:r>
              <a:t>•  Primera ejecución del ajuste fino y medición contra el modelo 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3001</Words>
  <Application>Microsoft Office PowerPoint</Application>
  <PresentationFormat>Panorámica</PresentationFormat>
  <Paragraphs>356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ALUMNO - Diego Aaron DAMIAN VALDIVIA</cp:lastModifiedBy>
  <cp:revision>5</cp:revision>
  <dcterms:created xsi:type="dcterms:W3CDTF">2013-01-27T09:14:16Z</dcterms:created>
  <dcterms:modified xsi:type="dcterms:W3CDTF">2026-09-01T11:33:00Z</dcterms:modified>
  <cp:category/>
</cp:coreProperties>
</file>