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líder (Diego). Saludo, nombre del producto —Facturas S20— y del proyecto en una frase: una app Android en Java que lee las facturas con Gemma 4 dentro del propio teléfono, sin internet. Presenta a los cuatro integrantes y aclara el orden: cada uno expone dos diapositivas y el líder cierra. Máximo 25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rúbrica pide cinco aspectos de la empresa: visión, misión, entorno, estrategias y planes. Los cinco están aquí. Aclara desde el inicio que el cliente es el segmento, no una bodega concreta, y que el caso está simulado con autorización del docente. Destaca del entorno tecnológico que el bodeguero ya tiene un Android: eso habilita llevar la IA al teléfono. Tiempo: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Enuncia el problema con la franja azul. Recorre las cuatro consecuencias sin leerlas y detente en la causa raíz: explica por qué fracasan las apps de contabilidad, que siguen pidiendo digitar. Lee el objetivo general completo y remarca la palabra "embebido": la IA corre en el teléfono. De los específicos, destaca OE3 (ajuste fino y conversión al formato del teléfono) y OE7 (validación). Tiempo: 1,2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leas los nueve bloques. Recorre el eje problema → solución → propuesta de valor única y salta a la ventaja competitiva, que es el bloque que el docente suele cuestionar: el activo es el modelo ajustado con facturas peruanas y el conjunto etiquetado. Remarca en costos que no hay servidor de inferencia: por eso la app puede ser gratuita. Tiempo: 1,2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 tabla por columnas: la nube es exacta pero cobra por documento, necesita conexión y es cerrada; el OCR es gratis pero no interpreta. La fila nueva es clave: hoy ya existen modelos multimodales que corren en el teléfono, como Gemma 4 E2B con LiteRT-LM, pero no conocen la factura peruana ni el NRUS. Cierra con la franja verde: eso es exactamente lo que aporta el proyecto, y parte de un prototipo ya presentado en Build with Gemma. Tiempo: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alternativas cumplen la consigna: al menos cinco pantallas (8, 7 y 6) y al menos 50 % de Java (85, 85 y 80 %). Los bocetos están en el Anexo 2 y en el capítulo 3 del informe. Preséntalas rápido y dedica el tiempo a la matriz: la decisión se justifica con pesos. Si preguntan por qué no usar un servidor, la respuesta es que sin señal no lee y las fotos con datos tributarios viajarían; si preguntan por equipos básicos, responde con honestidad: el modelo necesita gama media (Google recomienda unos 6 GB de RAM) y para los demás hay registro manual. Tiempo: 1,2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consigna da puntaje por usar las tres herramientas de gestión: dilo explícitamente. La WBS tiene 7 entregables y 34 paquetes; el entregable 4 incluye un paquete nuevo y crítico: fusionar, cuantizar y convertir el modelo al formato del teléfono. El Gantt está alineado con las semanas 4, 8, 12 y 18, que son las entregas del curso. En riesgos, R4 y R5 son los propios de llevar la IA al teléfono. Tiempo: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criterio de mayor peso de la rúbrica: el análisis con casos de uso y requerimientos funcionales y no funcionales según SRS. Da los números —12 casos de uso, 22 RF, 19 RNF con ISO/IEC 25010, todos trazables— y muestra la estructura, no la lista. Menciona el caso de uso nuevo CU-09: instalar y actualizar el modelo en el teléfono, y el RNF de eficiencia que fija el tiempo y la memoria. Tiempo: 1,2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 arquitectura de arriba abajo y señala dos cosas: que la capa de inferencia corre dentro del teléfono con LiteRT-LM, y que el motor de reglas del NRUS está aislado para probarlo solo. El único Kotlin es el puente con LiteRT-LM, cuya API es Kotlin; todo lo demás es Java, alrededor de 85 %. El servidor es opcional y nunca lee fotos. Los recuadros de clases, datos, proceso y la secuencia cubren el criterio de diseño, que pide al menos tres diagramas. Tiempo: 1,2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el líder. Muestra el flujo del prototipo en pocas palabras: foto, lectura en el teléfono sin conexión y verificación. Presenta los próximos pasos hacia APF2 y reconoce qué falta validar —la exactitud después de cuantizar y el tiempo en un equipo real—: reconocerlo demuestra dominio. Termina con la frase de la franja verde, agradece y ofrece responder preguntas. Tiempo: 0,8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71B2F"/>
        </a:solidFill>
      </p:bgPr>
    </p:bg>
    <p:spTree>
      <p:nvGrpSpPr>
        <p:cNvPr id="1" name=""/>
        <p:cNvGrpSpPr/>
        <p:nvPr/>
      </p:nvGrpSpPr>
      <p:grpSpPr>
        <a:xfrm>
          <a:off x="0" y="0"/>
          <a:ext cx="0" cy="0"/>
          <a:chOff x="0" y="0"/>
          <a:chExt cx="0" cy="0"/>
        </a:xfrm>
      </p:grpSpPr>
      <p:sp>
        <p:nvSpPr>
          <p:cNvPr id="2" name="Shape 0"/>
          <p:cNvSpPr/>
          <p:nvPr/>
        </p:nvSpPr>
        <p:spPr>
          <a:xfrm>
            <a:off x="4069080" y="502920"/>
            <a:ext cx="4050792" cy="1170432"/>
          </a:xfrm>
          <a:prstGeom prst="rect">
            <a:avLst/>
          </a:prstGeom>
          <a:solidFill>
            <a:srgbClr val="FFFFFF"/>
          </a:solidFill>
          <a:ln w="12700">
            <a:solidFill>
              <a:srgbClr val="FFFFFF"/>
            </a:solidFill>
            <a:prstDash val="solid"/>
          </a:ln>
        </p:spPr>
      </p:sp>
      <p:pic>
        <p:nvPicPr>
          <p:cNvPr id="3" name="Image 0" descr="Logotipo UTP">    </p:cNvPr>
          <p:cNvPicPr>
            <a:picLocks noChangeAspect="1"/>
          </p:cNvPicPr>
          <p:nvPr/>
        </p:nvPicPr>
        <p:blipFill>
          <a:blip r:embed="rId1"/>
          <a:stretch>
            <a:fillRect/>
          </a:stretch>
        </p:blipFill>
        <p:spPr>
          <a:xfrm>
            <a:off x="4526280" y="731520"/>
            <a:ext cx="3136392" cy="832104"/>
          </a:xfrm>
          <a:prstGeom prst="rect">
            <a:avLst/>
          </a:prstGeom>
        </p:spPr>
      </p:pic>
      <p:sp>
        <p:nvSpPr>
          <p:cNvPr id="4" name="Text 1"/>
          <p:cNvSpPr txBox="1"/>
          <p:nvPr/>
        </p:nvSpPr>
        <p:spPr>
          <a:xfrm>
            <a:off x="731520" y="1828800"/>
            <a:ext cx="10725912" cy="54864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Facturas S20</a:t>
            </a:r>
            <a:endParaRPr lang="en-US" sz="3400" dirty="0"/>
          </a:p>
        </p:txBody>
      </p:sp>
      <p:sp>
        <p:nvSpPr>
          <p:cNvPr id="5" name="Text 2"/>
          <p:cNvSpPr txBox="1"/>
          <p:nvPr/>
        </p:nvSpPr>
        <p:spPr>
          <a:xfrm>
            <a:off x="1097280" y="2423160"/>
            <a:ext cx="9994392" cy="82296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Aplicación móvil con IA multimodal (Gemma 4) embebida en el teléfono para mejorar la exactitud de la declaración mensual del NRUS en bodegas de San Juan de Lurigancho</a:t>
            </a:r>
            <a:endParaRPr lang="en-US" sz="2000" dirty="0"/>
          </a:p>
        </p:txBody>
      </p:sp>
      <p:sp>
        <p:nvSpPr>
          <p:cNvPr id="6" name="Shape 3"/>
          <p:cNvSpPr/>
          <p:nvPr/>
        </p:nvSpPr>
        <p:spPr>
          <a:xfrm>
            <a:off x="5550408" y="3383280"/>
            <a:ext cx="1097280" cy="45720"/>
          </a:xfrm>
          <a:prstGeom prst="rect">
            <a:avLst/>
          </a:prstGeom>
          <a:solidFill>
            <a:srgbClr val="FFFFFF"/>
          </a:solidFill>
          <a:ln w="12700">
            <a:solidFill>
              <a:srgbClr val="FFFFFF"/>
            </a:solidFill>
            <a:prstDash val="solid"/>
          </a:ln>
        </p:spPr>
      </p:sp>
      <p:sp>
        <p:nvSpPr>
          <p:cNvPr id="7" name="Text 4"/>
          <p:cNvSpPr txBox="1"/>
          <p:nvPr/>
        </p:nvSpPr>
        <p:spPr>
          <a:xfrm>
            <a:off x="914400" y="3566160"/>
            <a:ext cx="10360152" cy="32004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Avance de Proyecto Final 1  ·  Curso Integrador I: Sistemas Software</a:t>
            </a:r>
            <a:endParaRPr lang="en-US" sz="1500" dirty="0"/>
          </a:p>
        </p:txBody>
      </p:sp>
      <p:sp>
        <p:nvSpPr>
          <p:cNvPr id="8" name="Text 5"/>
          <p:cNvSpPr txBox="1"/>
          <p:nvPr/>
        </p:nvSpPr>
        <p:spPr>
          <a:xfrm>
            <a:off x="914400" y="3931920"/>
            <a:ext cx="10360152"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Sección 48935  ·  Docente: Ing. Carlos Alberto Effio Gonzáles</a:t>
            </a:r>
            <a:endParaRPr lang="en-US" sz="1200" dirty="0"/>
          </a:p>
        </p:txBody>
      </p:sp>
      <p:sp>
        <p:nvSpPr>
          <p:cNvPr id="9" name="Text 6"/>
          <p:cNvSpPr txBox="1"/>
          <p:nvPr/>
        </p:nvSpPr>
        <p:spPr>
          <a:xfrm>
            <a:off x="3200400" y="4434840"/>
            <a:ext cx="5788152" cy="1188720"/>
          </a:xfrm>
          <a:prstGeom prst="rect">
            <a:avLst/>
          </a:prstGeom>
          <a:noFill/>
          <a:ln/>
        </p:spPr>
        <p:txBody>
          <a:bodyPr wrap="square" lIns="0" tIns="0" rIns="0" bIns="0" rtlCol="0" anchor="ctr"/>
          <a:lstStyle/>
          <a:p>
            <a:pPr algn="ctr" indent="0" marL="0">
              <a:spcAft>
                <a:spcPts val="400"/>
              </a:spcAft>
              <a:buNone/>
            </a:pPr>
            <a:r>
              <a:rPr lang="en-US" sz="1300" dirty="0">
                <a:solidFill>
                  <a:srgbClr val="FFFFFF"/>
                </a:solidFill>
                <a:latin typeface="Calibri" pitchFamily="34" charset="0"/>
                <a:ea typeface="Calibri" pitchFamily="34" charset="-122"/>
                <a:cs typeface="Calibri" pitchFamily="34" charset="-120"/>
              </a:rPr>
              <a:t>Damián Valdivia, Diego Aarón</a:t>
            </a:r>
            <a:endParaRPr lang="en-US" sz="1300" dirty="0"/>
          </a:p>
          <a:p>
            <a:pPr algn="ctr" indent="0" marL="0">
              <a:spcAft>
                <a:spcPts val="400"/>
              </a:spcAft>
              <a:buNone/>
            </a:pPr>
            <a:r>
              <a:rPr lang="en-US" sz="1300" dirty="0">
                <a:solidFill>
                  <a:srgbClr val="FFFFFF"/>
                </a:solidFill>
                <a:latin typeface="Calibri" pitchFamily="34" charset="0"/>
                <a:ea typeface="Calibri" pitchFamily="34" charset="-122"/>
                <a:cs typeface="Calibri" pitchFamily="34" charset="-120"/>
              </a:rPr>
              <a:t>Coronel Obregón, Paulo</a:t>
            </a:r>
            <a:endParaRPr lang="en-US" sz="1300" dirty="0"/>
          </a:p>
          <a:p>
            <a:pPr algn="ctr" indent="0" marL="0">
              <a:spcAft>
                <a:spcPts val="400"/>
              </a:spcAft>
              <a:buNone/>
            </a:pPr>
            <a:r>
              <a:rPr lang="en-US" sz="1300" dirty="0">
                <a:solidFill>
                  <a:srgbClr val="FFFFFF"/>
                </a:solidFill>
                <a:latin typeface="Calibri" pitchFamily="34" charset="0"/>
                <a:ea typeface="Calibri" pitchFamily="34" charset="-122"/>
                <a:cs typeface="Calibri" pitchFamily="34" charset="-120"/>
              </a:rPr>
              <a:t>Mateo Velásquez, Morán</a:t>
            </a:r>
            <a:endParaRPr lang="en-US" sz="1300" dirty="0"/>
          </a:p>
          <a:p>
            <a:pPr algn="ctr" indent="0" marL="0">
              <a:spcAft>
                <a:spcPts val="400"/>
              </a:spcAft>
              <a:buNone/>
            </a:pPr>
            <a:r>
              <a:rPr lang="en-US" sz="1300" dirty="0">
                <a:solidFill>
                  <a:srgbClr val="FFFFFF"/>
                </a:solidFill>
                <a:latin typeface="Calibri" pitchFamily="34" charset="0"/>
                <a:ea typeface="Calibri" pitchFamily="34" charset="-122"/>
                <a:cs typeface="Calibri" pitchFamily="34" charset="-120"/>
              </a:rPr>
              <a:t>Gonzales Maco, Fabrizzio Jhoel</a:t>
            </a:r>
            <a:endParaRPr lang="en-US" sz="1300" dirty="0"/>
          </a:p>
        </p:txBody>
      </p:sp>
      <p:sp>
        <p:nvSpPr>
          <p:cNvPr id="10" name="Text 7"/>
          <p:cNvSpPr txBox="1"/>
          <p:nvPr/>
        </p:nvSpPr>
        <p:spPr>
          <a:xfrm>
            <a:off x="914400" y="6126480"/>
            <a:ext cx="10360152"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Lima – Perú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ANÁLISIS DEL CONTEXTO</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La empresa cliente: la bodega del NRUS</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Damián Valdivia, Diego Aarón</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5577840" cy="914400"/>
        </p:xfrm>
        <a:graphic>
          <a:graphicData uri="http://schemas.openxmlformats.org/drawingml/2006/table">
            <a:tbl>
              <a:tblPr/>
              <a:tblGrid>
                <a:gridCol w="2286000"/>
                <a:gridCol w="3291840"/>
              </a:tblGrid>
              <a:tr h="2743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Perfil del segmento</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0" cap="flat" cmpd="sng" algn="ctr">
                      <a:noFill/>
                    </a:lnB>
                    <a:solidFill>
                      <a:srgbClr val="1F4E7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Dato</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0" cap="flat" cmpd="sng" algn="ctr">
                      <a:noFill/>
                    </a:lnB>
                    <a:solidFill>
                      <a:srgbClr val="1F4E79"/>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Tipo de empresa</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Bodega de barrio</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Régimen</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Nuevo RUS (NRUS)</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Establecimientos</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Uno</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Personal</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Titular y apoyo familiar</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Registro contable</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Ninguno: el régimen no obliga</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Proveedores</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Distribuidores que entregan factura</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Equipo</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Android de gama media (6 GB)</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indent="0" marL="0">
                        <a:buNone/>
                      </a:pPr>
                      <a:r>
                        <a:rPr lang="en-US" sz="1150" b="1" dirty="0">
                          <a:solidFill>
                            <a:srgbClr val="262626"/>
                          </a:solidFill>
                          <a:latin typeface="Calibri" pitchFamily="34" charset="0"/>
                          <a:ea typeface="Calibri" pitchFamily="34" charset="-122"/>
                          <a:cs typeface="Calibri" pitchFamily="34" charset="-120"/>
                        </a:rPr>
                        <a:t>Caso</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3 bodegas de referencia en S.J.L.</a:t>
                      </a:r>
                      <a:endParaRPr lang="en-US" sz="1150" dirty="0">
                        <a:latin typeface="Calibri" charset="0"/>
                        <a:ea typeface="Calibri" charset="0"/>
                        <a:cs typeface="Calibri" charset="0"/>
                      </a:endParaRPr>
                    </a:p>
                  </a:txBody>
                  <a:tcPr marL="73152" marR="73152" marT="18288" marB="18288">
                    <a:lnL w="0" cap="flat" cmpd="sng" algn="ctr">
                      <a:noFill/>
                    </a:lnL>
                    <a:lnR w="0" cap="flat" cmpd="sng" algn="ctr">
                      <a:noFill/>
                    </a:lnR>
                    <a:lnT w="0" cap="flat" cmpd="sng" algn="ctr">
                      <a:noFill/>
                    </a:lnT>
                    <a:lnB w="0" cap="flat" cmpd="sng" algn="ctr">
                      <a:noFill/>
                    </a:lnB>
                    <a:solidFill>
                      <a:srgbClr val="F2F2F2"/>
                    </a:solidFill>
                  </a:tcPr>
                </a:tc>
              </a:tr>
            </a:tbl>
          </a:graphicData>
        </a:graphic>
      </p:graphicFrame>
      <p:sp>
        <p:nvSpPr>
          <p:cNvPr id="10" name="Text 6"/>
          <p:cNvSpPr txBox="1"/>
          <p:nvPr/>
        </p:nvSpPr>
        <p:spPr>
          <a:xfrm>
            <a:off x="502920" y="3931920"/>
            <a:ext cx="2743200" cy="274320"/>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ENTORNO</a:t>
            </a:r>
            <a:endParaRPr lang="en-US" sz="1200" dirty="0"/>
          </a:p>
        </p:txBody>
      </p:sp>
      <p:sp>
        <p:nvSpPr>
          <p:cNvPr id="11" name="Text 7"/>
          <p:cNvSpPr txBox="1"/>
          <p:nvPr/>
        </p:nvSpPr>
        <p:spPr>
          <a:xfrm>
            <a:off x="502920" y="4224528"/>
            <a:ext cx="5577840" cy="1234440"/>
          </a:xfrm>
          <a:prstGeom prst="rect">
            <a:avLst/>
          </a:prstGeom>
          <a:noFill/>
          <a:ln/>
        </p:spPr>
        <p:txBody>
          <a:bodyPr wrap="square" lIns="0" tIns="0" rIns="0" bIns="0" rtlCol="0" anchor="t"/>
          <a:lstStyle/>
          <a:p>
            <a:pPr marL="127000" indent="-127000">
              <a:spcAft>
                <a:spcPts val="300"/>
              </a:spcAft>
              <a:buSzPct val="100000"/>
              <a:buChar char="•"/>
            </a:pPr>
            <a:r>
              <a:rPr lang="en-US" sz="1150" b="1" dirty="0">
                <a:solidFill>
                  <a:srgbClr val="262626"/>
                </a:solidFill>
                <a:latin typeface="Calibri" pitchFamily="34" charset="0"/>
                <a:ea typeface="Calibri" pitchFamily="34" charset="-122"/>
                <a:cs typeface="Calibri" pitchFamily="34" charset="-120"/>
              </a:rPr>
              <a:t>Económico: </a:t>
            </a:r>
            <a:pPr indent="0" marL="0">
              <a:spcAft>
                <a:spcPts val="300"/>
              </a:spcAft>
              <a:buNone/>
            </a:pPr>
            <a:r>
              <a:rPr lang="en-US" sz="1150" dirty="0">
                <a:solidFill>
                  <a:srgbClr val="262626"/>
                </a:solidFill>
                <a:latin typeface="Calibri" pitchFamily="34" charset="0"/>
                <a:ea typeface="Calibri" pitchFamily="34" charset="-122"/>
                <a:cs typeface="Calibri" pitchFamily="34" charset="-120"/>
              </a:rPr>
              <a:t>margen estrecho, compra fraccionada y frecuente</a:t>
            </a:r>
            <a:endParaRPr lang="en-US" sz="1150" dirty="0"/>
          </a:p>
          <a:p>
            <a:pPr marL="127000" indent="-127000">
              <a:spcAft>
                <a:spcPts val="300"/>
              </a:spcAft>
              <a:buSzPct val="100000"/>
              <a:buChar char="•"/>
            </a:pPr>
            <a:r>
              <a:rPr lang="en-US" sz="1150" b="1" dirty="0">
                <a:solidFill>
                  <a:srgbClr val="262626"/>
                </a:solidFill>
                <a:latin typeface="Calibri" pitchFamily="34" charset="0"/>
                <a:ea typeface="Calibri" pitchFamily="34" charset="-122"/>
                <a:cs typeface="Calibri" pitchFamily="34" charset="-120"/>
              </a:rPr>
              <a:t>Competitivo: </a:t>
            </a:r>
            <a:pPr indent="0" marL="0">
              <a:spcAft>
                <a:spcPts val="300"/>
              </a:spcAft>
              <a:buNone/>
            </a:pPr>
            <a:r>
              <a:rPr lang="en-US" sz="1150" dirty="0">
                <a:solidFill>
                  <a:srgbClr val="262626"/>
                </a:solidFill>
                <a:latin typeface="Calibri" pitchFamily="34" charset="0"/>
                <a:ea typeface="Calibri" pitchFamily="34" charset="-122"/>
                <a:cs typeface="Calibri" pitchFamily="34" charset="-120"/>
              </a:rPr>
              <a:t>otras bodegas, mercados y tiendas de descuento</a:t>
            </a:r>
            <a:endParaRPr lang="en-US" sz="1150" dirty="0"/>
          </a:p>
          <a:p>
            <a:pPr marL="127000" indent="-127000">
              <a:spcAft>
                <a:spcPts val="300"/>
              </a:spcAft>
              <a:buSzPct val="100000"/>
              <a:buChar char="•"/>
            </a:pPr>
            <a:r>
              <a:rPr lang="en-US" sz="1150" b="1" dirty="0">
                <a:solidFill>
                  <a:srgbClr val="262626"/>
                </a:solidFill>
                <a:latin typeface="Calibri" pitchFamily="34" charset="0"/>
                <a:ea typeface="Calibri" pitchFamily="34" charset="-122"/>
                <a:cs typeface="Calibri" pitchFamily="34" charset="-120"/>
              </a:rPr>
              <a:t>Tecnológico: </a:t>
            </a:r>
            <a:pPr indent="0" marL="0">
              <a:spcAft>
                <a:spcPts val="300"/>
              </a:spcAft>
              <a:buNone/>
            </a:pPr>
            <a:r>
              <a:rPr lang="en-US" sz="1150" dirty="0">
                <a:solidFill>
                  <a:srgbClr val="262626"/>
                </a:solidFill>
                <a:latin typeface="Calibri" pitchFamily="34" charset="0"/>
                <a:ea typeface="Calibri" pitchFamily="34" charset="-122"/>
                <a:cs typeface="Calibri" pitchFamily="34" charset="-120"/>
              </a:rPr>
              <a:t>Android y billetera móvil en todos los negocios</a:t>
            </a:r>
            <a:endParaRPr lang="en-US" sz="1150" dirty="0"/>
          </a:p>
          <a:p>
            <a:pPr marL="127000" indent="-127000">
              <a:spcAft>
                <a:spcPts val="300"/>
              </a:spcAft>
              <a:buSzPct val="100000"/>
              <a:buChar char="•"/>
            </a:pPr>
            <a:r>
              <a:rPr lang="en-US" sz="1150" b="1" dirty="0">
                <a:solidFill>
                  <a:srgbClr val="262626"/>
                </a:solidFill>
                <a:latin typeface="Calibri" pitchFamily="34" charset="0"/>
                <a:ea typeface="Calibri" pitchFamily="34" charset="-122"/>
                <a:cs typeface="Calibri" pitchFamily="34" charset="-120"/>
              </a:rPr>
              <a:t>Normativo: </a:t>
            </a:r>
            <a:pPr indent="0" marL="0">
              <a:spcAft>
                <a:spcPts val="300"/>
              </a:spcAft>
              <a:buNone/>
            </a:pPr>
            <a:r>
              <a:rPr lang="en-US" sz="1150" dirty="0">
                <a:solidFill>
                  <a:srgbClr val="262626"/>
                </a:solidFill>
                <a:latin typeface="Calibri" pitchFamily="34" charset="0"/>
                <a:ea typeface="Calibri" pitchFamily="34" charset="-122"/>
                <a:cs typeface="Calibri" pitchFamily="34" charset="-120"/>
              </a:rPr>
              <a:t>declarar y pagar la cuota mensual del NRUS</a:t>
            </a:r>
            <a:endParaRPr lang="en-US" sz="1150" dirty="0"/>
          </a:p>
          <a:p>
            <a:pPr marL="127000" indent="-127000">
              <a:spcAft>
                <a:spcPts val="300"/>
              </a:spcAft>
              <a:buSzPct val="100000"/>
              <a:buChar char="•"/>
            </a:pPr>
            <a:r>
              <a:rPr lang="en-US" sz="1150" b="1" dirty="0">
                <a:solidFill>
                  <a:srgbClr val="262626"/>
                </a:solidFill>
                <a:latin typeface="Calibri" pitchFamily="34" charset="0"/>
                <a:ea typeface="Calibri" pitchFamily="34" charset="-122"/>
                <a:cs typeface="Calibri" pitchFamily="34" charset="-120"/>
              </a:rPr>
              <a:t>Social: </a:t>
            </a:r>
            <a:pPr indent="0" marL="0">
              <a:spcAft>
                <a:spcPts val="300"/>
              </a:spcAft>
              <a:buNone/>
            </a:pPr>
            <a:r>
              <a:rPr lang="en-US" sz="1150" dirty="0">
                <a:solidFill>
                  <a:srgbClr val="262626"/>
                </a:solidFill>
                <a:latin typeface="Calibri" pitchFamily="34" charset="0"/>
                <a:ea typeface="Calibri" pitchFamily="34" charset="-122"/>
                <a:cs typeface="Calibri" pitchFamily="34" charset="-120"/>
              </a:rPr>
              <a:t>confianza y cercanía con el vecindario</a:t>
            </a:r>
            <a:endParaRPr lang="en-US" sz="1150" dirty="0"/>
          </a:p>
        </p:txBody>
      </p:sp>
      <p:sp>
        <p:nvSpPr>
          <p:cNvPr id="12" name="Shape 8"/>
          <p:cNvSpPr/>
          <p:nvPr/>
        </p:nvSpPr>
        <p:spPr>
          <a:xfrm>
            <a:off x="6355080" y="1325880"/>
            <a:ext cx="5303520" cy="1188720"/>
          </a:xfrm>
          <a:prstGeom prst="rect">
            <a:avLst/>
          </a:prstGeom>
          <a:solidFill>
            <a:srgbClr val="FFFFFF"/>
          </a:solidFill>
          <a:ln w="15875">
            <a:solidFill>
              <a:srgbClr val="1F4E79"/>
            </a:solidFill>
            <a:prstDash val="solid"/>
          </a:ln>
        </p:spPr>
      </p:sp>
      <p:sp>
        <p:nvSpPr>
          <p:cNvPr id="13" name="Shape 9"/>
          <p:cNvSpPr/>
          <p:nvPr/>
        </p:nvSpPr>
        <p:spPr>
          <a:xfrm>
            <a:off x="6355080" y="1325880"/>
            <a:ext cx="5303520" cy="64008"/>
          </a:xfrm>
          <a:prstGeom prst="rect">
            <a:avLst/>
          </a:prstGeom>
          <a:solidFill>
            <a:srgbClr val="1F4E79"/>
          </a:solidFill>
          <a:ln w="12700">
            <a:solidFill>
              <a:srgbClr val="1F4E79"/>
            </a:solidFill>
            <a:prstDash val="solid"/>
          </a:ln>
        </p:spPr>
      </p:sp>
      <p:sp>
        <p:nvSpPr>
          <p:cNvPr id="14" name="Text 10"/>
          <p:cNvSpPr txBox="1"/>
          <p:nvPr/>
        </p:nvSpPr>
        <p:spPr>
          <a:xfrm>
            <a:off x="6492240" y="1453896"/>
            <a:ext cx="502920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VISIÓN</a:t>
            </a:r>
            <a:endParaRPr lang="en-US" sz="1300" dirty="0"/>
          </a:p>
        </p:txBody>
      </p:sp>
      <p:sp>
        <p:nvSpPr>
          <p:cNvPr id="15" name="Text 11"/>
          <p:cNvSpPr txBox="1"/>
          <p:nvPr/>
        </p:nvSpPr>
        <p:spPr>
          <a:xfrm>
            <a:off x="6492240" y="1783080"/>
            <a:ext cx="5029200" cy="64008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Mantener el negocio como fuente estable de ingresos para la familia y crecer de forma ordenada, sin perder la cercanía con los vecinos.</a:t>
            </a:r>
            <a:endParaRPr lang="en-US" sz="1150" dirty="0"/>
          </a:p>
        </p:txBody>
      </p:sp>
      <p:sp>
        <p:nvSpPr>
          <p:cNvPr id="16" name="Shape 12"/>
          <p:cNvSpPr/>
          <p:nvPr/>
        </p:nvSpPr>
        <p:spPr>
          <a:xfrm>
            <a:off x="6355080" y="2651760"/>
            <a:ext cx="5303520" cy="1188720"/>
          </a:xfrm>
          <a:prstGeom prst="rect">
            <a:avLst/>
          </a:prstGeom>
          <a:solidFill>
            <a:srgbClr val="FFFFFF"/>
          </a:solidFill>
          <a:ln w="15875">
            <a:solidFill>
              <a:srgbClr val="1E7B4F"/>
            </a:solidFill>
            <a:prstDash val="solid"/>
          </a:ln>
        </p:spPr>
      </p:sp>
      <p:sp>
        <p:nvSpPr>
          <p:cNvPr id="17" name="Shape 13"/>
          <p:cNvSpPr/>
          <p:nvPr/>
        </p:nvSpPr>
        <p:spPr>
          <a:xfrm>
            <a:off x="6355080" y="2651760"/>
            <a:ext cx="5303520" cy="64008"/>
          </a:xfrm>
          <a:prstGeom prst="rect">
            <a:avLst/>
          </a:prstGeom>
          <a:solidFill>
            <a:srgbClr val="1E7B4F"/>
          </a:solidFill>
          <a:ln w="12700">
            <a:solidFill>
              <a:srgbClr val="1E7B4F"/>
            </a:solidFill>
            <a:prstDash val="solid"/>
          </a:ln>
        </p:spPr>
      </p:sp>
      <p:sp>
        <p:nvSpPr>
          <p:cNvPr id="18" name="Text 14"/>
          <p:cNvSpPr txBox="1"/>
          <p:nvPr/>
        </p:nvSpPr>
        <p:spPr>
          <a:xfrm>
            <a:off x="6492240" y="2779776"/>
            <a:ext cx="5029200" cy="292608"/>
          </a:xfrm>
          <a:prstGeom prst="rect">
            <a:avLst/>
          </a:prstGeom>
          <a:noFill/>
          <a:ln/>
        </p:spPr>
        <p:txBody>
          <a:bodyPr wrap="square" lIns="0" tIns="0" rIns="0" bIns="0" rtlCol="0" anchor="ctr"/>
          <a:lstStyle/>
          <a:p>
            <a:pPr indent="0" marL="0">
              <a:buNone/>
            </a:pPr>
            <a:r>
              <a:rPr lang="en-US" sz="1300" b="1" dirty="0">
                <a:solidFill>
                  <a:srgbClr val="1E7B4F"/>
                </a:solidFill>
                <a:latin typeface="Calibri" pitchFamily="34" charset="0"/>
                <a:ea typeface="Calibri" pitchFamily="34" charset="-122"/>
                <a:cs typeface="Calibri" pitchFamily="34" charset="-120"/>
              </a:rPr>
              <a:t>MISIÓN</a:t>
            </a:r>
            <a:endParaRPr lang="en-US" sz="1300" dirty="0"/>
          </a:p>
        </p:txBody>
      </p:sp>
      <p:sp>
        <p:nvSpPr>
          <p:cNvPr id="19" name="Text 15"/>
          <p:cNvSpPr txBox="1"/>
          <p:nvPr/>
        </p:nvSpPr>
        <p:spPr>
          <a:xfrm>
            <a:off x="6492240" y="3108960"/>
            <a:ext cx="5029200" cy="64008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Abastecer al vecindario de productos de primera necesidad a precio accesible, con horario extendido, cumpliendo sus obligaciones como contribuyente del NRUS.</a:t>
            </a:r>
            <a:endParaRPr lang="en-US" sz="1150" dirty="0"/>
          </a:p>
        </p:txBody>
      </p:sp>
      <p:sp>
        <p:nvSpPr>
          <p:cNvPr id="20" name="Shape 16"/>
          <p:cNvSpPr/>
          <p:nvPr/>
        </p:nvSpPr>
        <p:spPr>
          <a:xfrm>
            <a:off x="6355080" y="3977640"/>
            <a:ext cx="2560320" cy="1463040"/>
          </a:xfrm>
          <a:prstGeom prst="rect">
            <a:avLst/>
          </a:prstGeom>
          <a:solidFill>
            <a:srgbClr val="FFFFFF"/>
          </a:solidFill>
          <a:ln w="15875">
            <a:solidFill>
              <a:srgbClr val="1F4E79"/>
            </a:solidFill>
            <a:prstDash val="solid"/>
          </a:ln>
        </p:spPr>
      </p:sp>
      <p:sp>
        <p:nvSpPr>
          <p:cNvPr id="21" name="Shape 17"/>
          <p:cNvSpPr/>
          <p:nvPr/>
        </p:nvSpPr>
        <p:spPr>
          <a:xfrm>
            <a:off x="6355080" y="3977640"/>
            <a:ext cx="2560320" cy="64008"/>
          </a:xfrm>
          <a:prstGeom prst="rect">
            <a:avLst/>
          </a:prstGeom>
          <a:solidFill>
            <a:srgbClr val="1F4E79"/>
          </a:solidFill>
          <a:ln w="12700">
            <a:solidFill>
              <a:srgbClr val="1F4E79"/>
            </a:solidFill>
            <a:prstDash val="solid"/>
          </a:ln>
        </p:spPr>
      </p:sp>
      <p:sp>
        <p:nvSpPr>
          <p:cNvPr id="22" name="Text 18"/>
          <p:cNvSpPr txBox="1"/>
          <p:nvPr/>
        </p:nvSpPr>
        <p:spPr>
          <a:xfrm>
            <a:off x="6492240" y="4105656"/>
            <a:ext cx="228600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ESTRATEGIAS</a:t>
            </a:r>
            <a:endParaRPr lang="en-US" sz="1300" dirty="0"/>
          </a:p>
        </p:txBody>
      </p:sp>
      <p:sp>
        <p:nvSpPr>
          <p:cNvPr id="23" name="Text 19"/>
          <p:cNvSpPr txBox="1"/>
          <p:nvPr/>
        </p:nvSpPr>
        <p:spPr>
          <a:xfrm>
            <a:off x="6492240" y="4434840"/>
            <a:ext cx="2286000" cy="9144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Diferenciación por servicio</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Eficiencia en el abastecimiento</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Cumplimiento tributario</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Digitalización gradual</a:t>
            </a:r>
            <a:endParaRPr lang="en-US" sz="1100" dirty="0"/>
          </a:p>
        </p:txBody>
      </p:sp>
      <p:sp>
        <p:nvSpPr>
          <p:cNvPr id="24" name="Shape 20"/>
          <p:cNvSpPr/>
          <p:nvPr/>
        </p:nvSpPr>
        <p:spPr>
          <a:xfrm>
            <a:off x="9098280" y="3977640"/>
            <a:ext cx="2560320" cy="1463040"/>
          </a:xfrm>
          <a:prstGeom prst="rect">
            <a:avLst/>
          </a:prstGeom>
          <a:solidFill>
            <a:srgbClr val="FFFFFF"/>
          </a:solidFill>
          <a:ln w="15875">
            <a:solidFill>
              <a:srgbClr val="1E7B4F"/>
            </a:solidFill>
            <a:prstDash val="solid"/>
          </a:ln>
        </p:spPr>
      </p:sp>
      <p:sp>
        <p:nvSpPr>
          <p:cNvPr id="25" name="Shape 21"/>
          <p:cNvSpPr/>
          <p:nvPr/>
        </p:nvSpPr>
        <p:spPr>
          <a:xfrm>
            <a:off x="9098280" y="3977640"/>
            <a:ext cx="2560320" cy="64008"/>
          </a:xfrm>
          <a:prstGeom prst="rect">
            <a:avLst/>
          </a:prstGeom>
          <a:solidFill>
            <a:srgbClr val="1E7B4F"/>
          </a:solidFill>
          <a:ln w="12700">
            <a:solidFill>
              <a:srgbClr val="1E7B4F"/>
            </a:solidFill>
            <a:prstDash val="solid"/>
          </a:ln>
        </p:spPr>
      </p:sp>
      <p:sp>
        <p:nvSpPr>
          <p:cNvPr id="26" name="Text 22"/>
          <p:cNvSpPr txBox="1"/>
          <p:nvPr/>
        </p:nvSpPr>
        <p:spPr>
          <a:xfrm>
            <a:off x="9235440" y="4105656"/>
            <a:ext cx="2286000" cy="292608"/>
          </a:xfrm>
          <a:prstGeom prst="rect">
            <a:avLst/>
          </a:prstGeom>
          <a:noFill/>
          <a:ln/>
        </p:spPr>
        <p:txBody>
          <a:bodyPr wrap="square" lIns="0" tIns="0" rIns="0" bIns="0" rtlCol="0" anchor="ctr"/>
          <a:lstStyle/>
          <a:p>
            <a:pPr indent="0" marL="0">
              <a:buNone/>
            </a:pPr>
            <a:r>
              <a:rPr lang="en-US" sz="1300" b="1" dirty="0">
                <a:solidFill>
                  <a:srgbClr val="1E7B4F"/>
                </a:solidFill>
                <a:latin typeface="Calibri" pitchFamily="34" charset="0"/>
                <a:ea typeface="Calibri" pitchFamily="34" charset="-122"/>
                <a:cs typeface="Calibri" pitchFamily="34" charset="-120"/>
              </a:rPr>
              <a:t>PLANES</a:t>
            </a:r>
            <a:endParaRPr lang="en-US" sz="1300" dirty="0"/>
          </a:p>
        </p:txBody>
      </p:sp>
      <p:sp>
        <p:nvSpPr>
          <p:cNvPr id="27" name="Text 23"/>
          <p:cNvSpPr txBox="1"/>
          <p:nvPr/>
        </p:nvSpPr>
        <p:spPr>
          <a:xfrm>
            <a:off x="9235440" y="4434840"/>
            <a:ext cx="2286000" cy="9144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Corto: registro digital de facturas</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Mediano: usar el histórico de compras</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Largo: decidir con datos si crecer o cambiar de régimen</a:t>
            </a:r>
            <a:endParaRPr lang="en-US" sz="1100" dirty="0"/>
          </a:p>
        </p:txBody>
      </p:sp>
      <p:sp>
        <p:nvSpPr>
          <p:cNvPr id="28" name="Shape 24"/>
          <p:cNvSpPr/>
          <p:nvPr/>
        </p:nvSpPr>
        <p:spPr>
          <a:xfrm>
            <a:off x="502920" y="5577840"/>
            <a:ext cx="11155680" cy="731520"/>
          </a:xfrm>
          <a:prstGeom prst="rect">
            <a:avLst/>
          </a:prstGeom>
          <a:solidFill>
            <a:srgbClr val="DCE6F2"/>
          </a:solidFill>
          <a:ln w="15875">
            <a:solidFill>
              <a:srgbClr val="1F4E79"/>
            </a:solidFill>
            <a:prstDash val="solid"/>
          </a:ln>
        </p:spPr>
      </p:sp>
      <p:sp>
        <p:nvSpPr>
          <p:cNvPr id="29" name="Text 25"/>
          <p:cNvSpPr txBox="1"/>
          <p:nvPr/>
        </p:nvSpPr>
        <p:spPr>
          <a:xfrm>
            <a:off x="685800" y="5650992"/>
            <a:ext cx="10789920" cy="585216"/>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La solución es general para la bodega del NRUS, no para un establecimiento. El caso se concreta en tres bodegas de S.J.L., simuladas con autorización del docente sobre las facturas reales del proyecto.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PROBLEMA · OBJETIVOS</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El problema y los objetivos</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Damián Valdivia, Diego Aarón</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9" name="Shape 6"/>
          <p:cNvSpPr/>
          <p:nvPr/>
        </p:nvSpPr>
        <p:spPr>
          <a:xfrm>
            <a:off x="502920" y="1325880"/>
            <a:ext cx="11155680" cy="594360"/>
          </a:xfrm>
          <a:prstGeom prst="rect">
            <a:avLst/>
          </a:prstGeom>
          <a:solidFill>
            <a:srgbClr val="1F4E79"/>
          </a:solidFill>
          <a:ln w="15875">
            <a:solidFill>
              <a:srgbClr val="1F4E79"/>
            </a:solidFill>
            <a:prstDash val="solid"/>
          </a:ln>
        </p:spPr>
      </p:sp>
      <p:sp>
        <p:nvSpPr>
          <p:cNvPr id="10" name="Text 7"/>
          <p:cNvSpPr txBox="1"/>
          <p:nvPr/>
        </p:nvSpPr>
        <p:spPr>
          <a:xfrm>
            <a:off x="685800" y="1399032"/>
            <a:ext cx="10789920" cy="44805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El bodeguero tiene que clasificar y sumar a mano las facturas del mes para declarar el NRUS: pierde horas y se equivoca.</a:t>
            </a:r>
            <a:endParaRPr lang="en-US" sz="1500" dirty="0"/>
          </a:p>
        </p:txBody>
      </p:sp>
      <p:sp>
        <p:nvSpPr>
          <p:cNvPr id="11" name="Shape 8"/>
          <p:cNvSpPr/>
          <p:nvPr/>
        </p:nvSpPr>
        <p:spPr>
          <a:xfrm>
            <a:off x="502920" y="2103120"/>
            <a:ext cx="2697480" cy="1325880"/>
          </a:xfrm>
          <a:prstGeom prst="rect">
            <a:avLst/>
          </a:prstGeom>
          <a:solidFill>
            <a:srgbClr val="FFFFFF"/>
          </a:solidFill>
          <a:ln w="15875">
            <a:solidFill>
              <a:srgbClr val="B8650A"/>
            </a:solidFill>
            <a:prstDash val="solid"/>
          </a:ln>
        </p:spPr>
      </p:sp>
      <p:sp>
        <p:nvSpPr>
          <p:cNvPr id="12" name="Shape 9"/>
          <p:cNvSpPr/>
          <p:nvPr/>
        </p:nvSpPr>
        <p:spPr>
          <a:xfrm>
            <a:off x="502920" y="2103120"/>
            <a:ext cx="2697480" cy="64008"/>
          </a:xfrm>
          <a:prstGeom prst="rect">
            <a:avLst/>
          </a:prstGeom>
          <a:solidFill>
            <a:srgbClr val="B8650A"/>
          </a:solidFill>
          <a:ln w="12700">
            <a:solidFill>
              <a:srgbClr val="B8650A"/>
            </a:solidFill>
            <a:prstDash val="solid"/>
          </a:ln>
        </p:spPr>
      </p:sp>
      <p:sp>
        <p:nvSpPr>
          <p:cNvPr id="13" name="Text 10"/>
          <p:cNvSpPr txBox="1"/>
          <p:nvPr/>
        </p:nvSpPr>
        <p:spPr>
          <a:xfrm>
            <a:off x="640080" y="2231136"/>
            <a:ext cx="2423160" cy="292608"/>
          </a:xfrm>
          <a:prstGeom prst="rect">
            <a:avLst/>
          </a:prstGeom>
          <a:noFill/>
          <a:ln/>
        </p:spPr>
        <p:txBody>
          <a:bodyPr wrap="square" lIns="0" tIns="0" rIns="0" bIns="0" rtlCol="0" anchor="ctr"/>
          <a:lstStyle/>
          <a:p>
            <a:pPr indent="0" marL="0">
              <a:buNone/>
            </a:pPr>
            <a:r>
              <a:rPr lang="en-US" sz="1200" b="1" dirty="0">
                <a:solidFill>
                  <a:srgbClr val="B8650A"/>
                </a:solidFill>
                <a:latin typeface="Calibri" pitchFamily="34" charset="0"/>
                <a:ea typeface="Calibri" pitchFamily="34" charset="-122"/>
                <a:cs typeface="Calibri" pitchFamily="34" charset="-120"/>
              </a:rPr>
              <a:t>PÉRDIDA DE TIEMPO</a:t>
            </a:r>
            <a:endParaRPr lang="en-US" sz="1200" dirty="0"/>
          </a:p>
        </p:txBody>
      </p:sp>
      <p:sp>
        <p:nvSpPr>
          <p:cNvPr id="14" name="Text 11"/>
          <p:cNvSpPr txBox="1"/>
          <p:nvPr/>
        </p:nvSpPr>
        <p:spPr>
          <a:xfrm>
            <a:off x="640080" y="2560320"/>
            <a:ext cx="2423160" cy="77724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3 horas cada mes; se posterga hasta el último día.</a:t>
            </a:r>
            <a:endParaRPr lang="en-US" sz="1150" dirty="0"/>
          </a:p>
        </p:txBody>
      </p:sp>
      <p:sp>
        <p:nvSpPr>
          <p:cNvPr id="15" name="Shape 12"/>
          <p:cNvSpPr/>
          <p:nvPr/>
        </p:nvSpPr>
        <p:spPr>
          <a:xfrm>
            <a:off x="3337560" y="2103120"/>
            <a:ext cx="2697480" cy="1325880"/>
          </a:xfrm>
          <a:prstGeom prst="rect">
            <a:avLst/>
          </a:prstGeom>
          <a:solidFill>
            <a:srgbClr val="FFFFFF"/>
          </a:solidFill>
          <a:ln w="15875">
            <a:solidFill>
              <a:srgbClr val="C00000"/>
            </a:solidFill>
            <a:prstDash val="solid"/>
          </a:ln>
        </p:spPr>
      </p:sp>
      <p:sp>
        <p:nvSpPr>
          <p:cNvPr id="16" name="Shape 13"/>
          <p:cNvSpPr/>
          <p:nvPr/>
        </p:nvSpPr>
        <p:spPr>
          <a:xfrm>
            <a:off x="3337560" y="2103120"/>
            <a:ext cx="2697480" cy="64008"/>
          </a:xfrm>
          <a:prstGeom prst="rect">
            <a:avLst/>
          </a:prstGeom>
          <a:solidFill>
            <a:srgbClr val="C00000"/>
          </a:solidFill>
          <a:ln w="12700">
            <a:solidFill>
              <a:srgbClr val="C00000"/>
            </a:solidFill>
            <a:prstDash val="solid"/>
          </a:ln>
        </p:spPr>
      </p:sp>
      <p:sp>
        <p:nvSpPr>
          <p:cNvPr id="17" name="Text 14"/>
          <p:cNvSpPr txBox="1"/>
          <p:nvPr/>
        </p:nvSpPr>
        <p:spPr>
          <a:xfrm>
            <a:off x="3474720" y="2231136"/>
            <a:ext cx="2423160" cy="292608"/>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SUBDECLARACIÓN</a:t>
            </a:r>
            <a:endParaRPr lang="en-US" sz="1200" dirty="0"/>
          </a:p>
        </p:txBody>
      </p:sp>
      <p:sp>
        <p:nvSpPr>
          <p:cNvPr id="18" name="Text 15"/>
          <p:cNvSpPr txBox="1"/>
          <p:nvPr/>
        </p:nvSpPr>
        <p:spPr>
          <a:xfrm>
            <a:off x="3474720" y="2560320"/>
            <a:ext cx="2423160" cy="77724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Si el total queda bajo el real, declara una categoría menor: infracción.</a:t>
            </a:r>
            <a:endParaRPr lang="en-US" sz="1150" dirty="0"/>
          </a:p>
        </p:txBody>
      </p:sp>
      <p:sp>
        <p:nvSpPr>
          <p:cNvPr id="19" name="Shape 16"/>
          <p:cNvSpPr/>
          <p:nvPr/>
        </p:nvSpPr>
        <p:spPr>
          <a:xfrm>
            <a:off x="6172200" y="2103120"/>
            <a:ext cx="2697480" cy="1325880"/>
          </a:xfrm>
          <a:prstGeom prst="rect">
            <a:avLst/>
          </a:prstGeom>
          <a:solidFill>
            <a:srgbClr val="FFFFFF"/>
          </a:solidFill>
          <a:ln w="15875">
            <a:solidFill>
              <a:srgbClr val="B8650A"/>
            </a:solidFill>
            <a:prstDash val="solid"/>
          </a:ln>
        </p:spPr>
      </p:sp>
      <p:sp>
        <p:nvSpPr>
          <p:cNvPr id="20" name="Shape 17"/>
          <p:cNvSpPr/>
          <p:nvPr/>
        </p:nvSpPr>
        <p:spPr>
          <a:xfrm>
            <a:off x="6172200" y="2103120"/>
            <a:ext cx="2697480" cy="64008"/>
          </a:xfrm>
          <a:prstGeom prst="rect">
            <a:avLst/>
          </a:prstGeom>
          <a:solidFill>
            <a:srgbClr val="B8650A"/>
          </a:solidFill>
          <a:ln w="12700">
            <a:solidFill>
              <a:srgbClr val="B8650A"/>
            </a:solidFill>
            <a:prstDash val="solid"/>
          </a:ln>
        </p:spPr>
      </p:sp>
      <p:sp>
        <p:nvSpPr>
          <p:cNvPr id="21" name="Text 18"/>
          <p:cNvSpPr txBox="1"/>
          <p:nvPr/>
        </p:nvSpPr>
        <p:spPr>
          <a:xfrm>
            <a:off x="6309360" y="2231136"/>
            <a:ext cx="2423160" cy="292608"/>
          </a:xfrm>
          <a:prstGeom prst="rect">
            <a:avLst/>
          </a:prstGeom>
          <a:noFill/>
          <a:ln/>
        </p:spPr>
        <p:txBody>
          <a:bodyPr wrap="square" lIns="0" tIns="0" rIns="0" bIns="0" rtlCol="0" anchor="ctr"/>
          <a:lstStyle/>
          <a:p>
            <a:pPr indent="0" marL="0">
              <a:buNone/>
            </a:pPr>
            <a:r>
              <a:rPr lang="en-US" sz="1200" b="1" dirty="0">
                <a:solidFill>
                  <a:srgbClr val="B8650A"/>
                </a:solidFill>
                <a:latin typeface="Calibri" pitchFamily="34" charset="0"/>
                <a:ea typeface="Calibri" pitchFamily="34" charset="-122"/>
                <a:cs typeface="Calibri" pitchFamily="34" charset="-120"/>
              </a:rPr>
              <a:t>PAGO EN EXCESO</a:t>
            </a:r>
            <a:endParaRPr lang="en-US" sz="1200" dirty="0"/>
          </a:p>
        </p:txBody>
      </p:sp>
      <p:sp>
        <p:nvSpPr>
          <p:cNvPr id="22" name="Text 19"/>
          <p:cNvSpPr txBox="1"/>
          <p:nvPr/>
        </p:nvSpPr>
        <p:spPr>
          <a:xfrm>
            <a:off x="6309360" y="2560320"/>
            <a:ext cx="2423160" cy="77724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Declaró categoría 2 (S/ 50) cuando correspondía la 1 (S/ 20): S/ 360 al año.</a:t>
            </a:r>
            <a:endParaRPr lang="en-US" sz="1150" dirty="0"/>
          </a:p>
        </p:txBody>
      </p:sp>
      <p:sp>
        <p:nvSpPr>
          <p:cNvPr id="23" name="Shape 20"/>
          <p:cNvSpPr/>
          <p:nvPr/>
        </p:nvSpPr>
        <p:spPr>
          <a:xfrm>
            <a:off x="9006840" y="2103120"/>
            <a:ext cx="2697480" cy="1325880"/>
          </a:xfrm>
          <a:prstGeom prst="rect">
            <a:avLst/>
          </a:prstGeom>
          <a:solidFill>
            <a:srgbClr val="FFFFFF"/>
          </a:solidFill>
          <a:ln w="15875">
            <a:solidFill>
              <a:srgbClr val="C00000"/>
            </a:solidFill>
            <a:prstDash val="solid"/>
          </a:ln>
        </p:spPr>
      </p:sp>
      <p:sp>
        <p:nvSpPr>
          <p:cNvPr id="24" name="Shape 21"/>
          <p:cNvSpPr/>
          <p:nvPr/>
        </p:nvSpPr>
        <p:spPr>
          <a:xfrm>
            <a:off x="9006840" y="2103120"/>
            <a:ext cx="2697480" cy="64008"/>
          </a:xfrm>
          <a:prstGeom prst="rect">
            <a:avLst/>
          </a:prstGeom>
          <a:solidFill>
            <a:srgbClr val="C00000"/>
          </a:solidFill>
          <a:ln w="12700">
            <a:solidFill>
              <a:srgbClr val="C00000"/>
            </a:solidFill>
            <a:prstDash val="solid"/>
          </a:ln>
        </p:spPr>
      </p:sp>
      <p:sp>
        <p:nvSpPr>
          <p:cNvPr id="25" name="Text 22"/>
          <p:cNvSpPr txBox="1"/>
          <p:nvPr/>
        </p:nvSpPr>
        <p:spPr>
          <a:xfrm>
            <a:off x="9144000" y="2231136"/>
            <a:ext cx="2423160" cy="292608"/>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FALTA DE SUSTENTO</a:t>
            </a:r>
            <a:endParaRPr lang="en-US" sz="1200" dirty="0"/>
          </a:p>
        </p:txBody>
      </p:sp>
      <p:sp>
        <p:nvSpPr>
          <p:cNvPr id="26" name="Text 23"/>
          <p:cNvSpPr txBox="1"/>
          <p:nvPr/>
        </p:nvSpPr>
        <p:spPr>
          <a:xfrm>
            <a:off x="9144000" y="2560320"/>
            <a:ext cx="2423160" cy="77724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Solo conservaba 9 de 14 facturas al cierre del mes.</a:t>
            </a:r>
            <a:endParaRPr lang="en-US" sz="1150" dirty="0"/>
          </a:p>
        </p:txBody>
      </p:sp>
      <p:sp>
        <p:nvSpPr>
          <p:cNvPr id="27" name="Shape 24"/>
          <p:cNvSpPr/>
          <p:nvPr/>
        </p:nvSpPr>
        <p:spPr>
          <a:xfrm>
            <a:off x="502920" y="3566160"/>
            <a:ext cx="11155680" cy="502920"/>
          </a:xfrm>
          <a:prstGeom prst="rect">
            <a:avLst/>
          </a:prstGeom>
          <a:solidFill>
            <a:srgbClr val="FBEAEA"/>
          </a:solidFill>
          <a:ln w="15875">
            <a:solidFill>
              <a:srgbClr val="C00000"/>
            </a:solidFill>
            <a:prstDash val="solid"/>
          </a:ln>
        </p:spPr>
      </p:sp>
      <p:sp>
        <p:nvSpPr>
          <p:cNvPr id="28" name="Text 25"/>
          <p:cNvSpPr txBox="1"/>
          <p:nvPr/>
        </p:nvSpPr>
        <p:spPr>
          <a:xfrm>
            <a:off x="685800" y="3639312"/>
            <a:ext cx="10789920" cy="356616"/>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Causa raíz: registrar una factura a mano toma 1 a 2 minutos y compite con la atención al cliente.</a:t>
            </a:r>
            <a:endParaRPr lang="en-US" sz="1300" dirty="0"/>
          </a:p>
        </p:txBody>
      </p:sp>
      <p:sp>
        <p:nvSpPr>
          <p:cNvPr id="29" name="Shape 26"/>
          <p:cNvSpPr/>
          <p:nvPr/>
        </p:nvSpPr>
        <p:spPr>
          <a:xfrm>
            <a:off x="502920" y="4206240"/>
            <a:ext cx="11155680" cy="2148840"/>
          </a:xfrm>
          <a:prstGeom prst="rect">
            <a:avLst/>
          </a:prstGeom>
          <a:solidFill>
            <a:srgbClr val="1E7B4F"/>
          </a:solidFill>
          <a:ln w="12700">
            <a:solidFill>
              <a:srgbClr val="1E7B4F"/>
            </a:solidFill>
            <a:prstDash val="solid"/>
          </a:ln>
        </p:spPr>
      </p:sp>
      <p:sp>
        <p:nvSpPr>
          <p:cNvPr id="30" name="Text 27"/>
          <p:cNvSpPr txBox="1"/>
          <p:nvPr/>
        </p:nvSpPr>
        <p:spPr>
          <a:xfrm>
            <a:off x="731520" y="4315968"/>
            <a:ext cx="45720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OBJETIVO GENERAL</a:t>
            </a:r>
            <a:endParaRPr lang="en-US" sz="1200" dirty="0"/>
          </a:p>
        </p:txBody>
      </p:sp>
      <p:sp>
        <p:nvSpPr>
          <p:cNvPr id="31" name="Text 28"/>
          <p:cNvSpPr txBox="1"/>
          <p:nvPr/>
        </p:nvSpPr>
        <p:spPr>
          <a:xfrm>
            <a:off x="731520" y="4617720"/>
            <a:ext cx="1069848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Desarrollar Facturas S20, una app Android nativa en Java que registre las facturas de compra por fotografía con un modelo Gemma 4 ajustado y embebido en el teléfono, que extraiga sus datos sin conexión y calcule el total mensual y la categoría del NRUS, para mejorar la exactitud de la declaración y reducir el tiempo del cálculo.</a:t>
            </a:r>
            <a:endParaRPr lang="en-US" sz="1300" dirty="0"/>
          </a:p>
        </p:txBody>
      </p:sp>
      <p:sp>
        <p:nvSpPr>
          <p:cNvPr id="32" name="Shape 29"/>
          <p:cNvSpPr/>
          <p:nvPr/>
        </p:nvSpPr>
        <p:spPr>
          <a:xfrm>
            <a:off x="731520" y="5486400"/>
            <a:ext cx="2560320" cy="329184"/>
          </a:xfrm>
          <a:prstGeom prst="roundRect">
            <a:avLst>
              <a:gd name="adj" fmla="val 22222"/>
            </a:avLst>
          </a:prstGeom>
          <a:solidFill>
            <a:srgbClr val="FFFFFF"/>
          </a:solidFill>
          <a:ln w="12700">
            <a:solidFill>
              <a:srgbClr val="FFFFFF"/>
            </a:solidFill>
            <a:prstDash val="solid"/>
          </a:ln>
        </p:spPr>
      </p:sp>
      <p:sp>
        <p:nvSpPr>
          <p:cNvPr id="33" name="Text 30"/>
          <p:cNvSpPr txBox="1"/>
          <p:nvPr/>
        </p:nvSpPr>
        <p:spPr>
          <a:xfrm>
            <a:off x="731520" y="5486400"/>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OE1 Proceso actual vs. propuesto</a:t>
            </a:r>
            <a:endParaRPr lang="en-US" sz="1050" dirty="0"/>
          </a:p>
        </p:txBody>
      </p:sp>
      <p:sp>
        <p:nvSpPr>
          <p:cNvPr id="34" name="Shape 31"/>
          <p:cNvSpPr/>
          <p:nvPr/>
        </p:nvSpPr>
        <p:spPr>
          <a:xfrm>
            <a:off x="3429000" y="5486400"/>
            <a:ext cx="2560320" cy="329184"/>
          </a:xfrm>
          <a:prstGeom prst="roundRect">
            <a:avLst>
              <a:gd name="adj" fmla="val 22222"/>
            </a:avLst>
          </a:prstGeom>
          <a:solidFill>
            <a:srgbClr val="FFFFFF"/>
          </a:solidFill>
          <a:ln w="12700">
            <a:solidFill>
              <a:srgbClr val="FFFFFF"/>
            </a:solidFill>
            <a:prstDash val="solid"/>
          </a:ln>
        </p:spPr>
      </p:sp>
      <p:sp>
        <p:nvSpPr>
          <p:cNvPr id="35" name="Text 32"/>
          <p:cNvSpPr txBox="1"/>
          <p:nvPr/>
        </p:nvSpPr>
        <p:spPr>
          <a:xfrm>
            <a:off x="3429000" y="5486400"/>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OE2 Conjunto de facturas etiquetado</a:t>
            </a:r>
            <a:endParaRPr lang="en-US" sz="1050" dirty="0"/>
          </a:p>
        </p:txBody>
      </p:sp>
      <p:sp>
        <p:nvSpPr>
          <p:cNvPr id="36" name="Shape 33"/>
          <p:cNvSpPr/>
          <p:nvPr/>
        </p:nvSpPr>
        <p:spPr>
          <a:xfrm>
            <a:off x="6126480" y="5486400"/>
            <a:ext cx="2560320" cy="329184"/>
          </a:xfrm>
          <a:prstGeom prst="roundRect">
            <a:avLst>
              <a:gd name="adj" fmla="val 22222"/>
            </a:avLst>
          </a:prstGeom>
          <a:solidFill>
            <a:srgbClr val="FFFFFF"/>
          </a:solidFill>
          <a:ln w="12700">
            <a:solidFill>
              <a:srgbClr val="FFFFFF"/>
            </a:solidFill>
            <a:prstDash val="solid"/>
          </a:ln>
        </p:spPr>
      </p:sp>
      <p:sp>
        <p:nvSpPr>
          <p:cNvPr id="37" name="Text 34"/>
          <p:cNvSpPr txBox="1"/>
          <p:nvPr/>
        </p:nvSpPr>
        <p:spPr>
          <a:xfrm>
            <a:off x="6126480" y="5486400"/>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OE3 Ajuste fino y conversión a .litertlm</a:t>
            </a:r>
            <a:endParaRPr lang="en-US" sz="1050" dirty="0"/>
          </a:p>
        </p:txBody>
      </p:sp>
      <p:sp>
        <p:nvSpPr>
          <p:cNvPr id="38" name="Shape 35"/>
          <p:cNvSpPr/>
          <p:nvPr/>
        </p:nvSpPr>
        <p:spPr>
          <a:xfrm>
            <a:off x="8823960" y="5486400"/>
            <a:ext cx="2560320" cy="329184"/>
          </a:xfrm>
          <a:prstGeom prst="roundRect">
            <a:avLst>
              <a:gd name="adj" fmla="val 22222"/>
            </a:avLst>
          </a:prstGeom>
          <a:solidFill>
            <a:srgbClr val="FFFFFF"/>
          </a:solidFill>
          <a:ln w="12700">
            <a:solidFill>
              <a:srgbClr val="FFFFFF"/>
            </a:solidFill>
            <a:prstDash val="solid"/>
          </a:ln>
        </p:spPr>
      </p:sp>
      <p:sp>
        <p:nvSpPr>
          <p:cNvPr id="39" name="Text 36"/>
          <p:cNvSpPr txBox="1"/>
          <p:nvPr/>
        </p:nvSpPr>
        <p:spPr>
          <a:xfrm>
            <a:off x="8823960" y="5486400"/>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OE4 Motor de reglas NRUS</a:t>
            </a:r>
            <a:endParaRPr lang="en-US" sz="1050" dirty="0"/>
          </a:p>
        </p:txBody>
      </p:sp>
      <p:sp>
        <p:nvSpPr>
          <p:cNvPr id="40" name="Shape 37"/>
          <p:cNvSpPr/>
          <p:nvPr/>
        </p:nvSpPr>
        <p:spPr>
          <a:xfrm>
            <a:off x="731520" y="5888736"/>
            <a:ext cx="2560320" cy="329184"/>
          </a:xfrm>
          <a:prstGeom prst="roundRect">
            <a:avLst>
              <a:gd name="adj" fmla="val 22222"/>
            </a:avLst>
          </a:prstGeom>
          <a:solidFill>
            <a:srgbClr val="FFFFFF"/>
          </a:solidFill>
          <a:ln w="12700">
            <a:solidFill>
              <a:srgbClr val="FFFFFF"/>
            </a:solidFill>
            <a:prstDash val="solid"/>
          </a:ln>
        </p:spPr>
      </p:sp>
      <p:sp>
        <p:nvSpPr>
          <p:cNvPr id="41" name="Text 38"/>
          <p:cNvSpPr txBox="1"/>
          <p:nvPr/>
        </p:nvSpPr>
        <p:spPr>
          <a:xfrm>
            <a:off x="731520" y="5888736"/>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OE5 App Android Java con IA local</a:t>
            </a:r>
            <a:endParaRPr lang="en-US" sz="1050" dirty="0"/>
          </a:p>
        </p:txBody>
      </p:sp>
      <p:sp>
        <p:nvSpPr>
          <p:cNvPr id="42" name="Shape 39"/>
          <p:cNvSpPr/>
          <p:nvPr/>
        </p:nvSpPr>
        <p:spPr>
          <a:xfrm>
            <a:off x="3429000" y="5888736"/>
            <a:ext cx="2560320" cy="329184"/>
          </a:xfrm>
          <a:prstGeom prst="roundRect">
            <a:avLst>
              <a:gd name="adj" fmla="val 22222"/>
            </a:avLst>
          </a:prstGeom>
          <a:solidFill>
            <a:srgbClr val="FFFFFF"/>
          </a:solidFill>
          <a:ln w="12700">
            <a:solidFill>
              <a:srgbClr val="FFFFFF"/>
            </a:solidFill>
            <a:prstDash val="solid"/>
          </a:ln>
        </p:spPr>
      </p:sp>
      <p:sp>
        <p:nvSpPr>
          <p:cNvPr id="43" name="Text 40"/>
          <p:cNvSpPr txBox="1"/>
          <p:nvPr/>
        </p:nvSpPr>
        <p:spPr>
          <a:xfrm>
            <a:off x="3429000" y="5888736"/>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OE6 Respaldo Spring Boot</a:t>
            </a:r>
            <a:endParaRPr lang="en-US" sz="1050" dirty="0"/>
          </a:p>
        </p:txBody>
      </p:sp>
      <p:sp>
        <p:nvSpPr>
          <p:cNvPr id="44" name="Shape 41"/>
          <p:cNvSpPr/>
          <p:nvPr/>
        </p:nvSpPr>
        <p:spPr>
          <a:xfrm>
            <a:off x="6126480" y="5888736"/>
            <a:ext cx="2560320" cy="329184"/>
          </a:xfrm>
          <a:prstGeom prst="roundRect">
            <a:avLst>
              <a:gd name="adj" fmla="val 22222"/>
            </a:avLst>
          </a:prstGeom>
          <a:solidFill>
            <a:srgbClr val="FFFFFF"/>
          </a:solidFill>
          <a:ln w="12700">
            <a:solidFill>
              <a:srgbClr val="FFFFFF"/>
            </a:solidFill>
            <a:prstDash val="solid"/>
          </a:ln>
        </p:spPr>
      </p:sp>
      <p:sp>
        <p:nvSpPr>
          <p:cNvPr id="45" name="Text 42"/>
          <p:cNvSpPr txBox="1"/>
          <p:nvPr/>
        </p:nvSpPr>
        <p:spPr>
          <a:xfrm>
            <a:off x="6126480" y="5888736"/>
            <a:ext cx="2560320" cy="329184"/>
          </a:xfrm>
          <a:prstGeom prst="rect">
            <a:avLst/>
          </a:prstGeom>
          <a:noFill/>
          <a:ln/>
        </p:spPr>
        <p:txBody>
          <a:bodyPr wrap="square" lIns="0" tIns="0" rIns="0" bIns="0" rtlCol="0" anchor="ctr"/>
          <a:lstStyle/>
          <a:p>
            <a:pPr algn="ctr" indent="0" marL="0">
              <a:buNone/>
            </a:pPr>
            <a:r>
              <a:rPr lang="en-US" sz="1050" b="1" dirty="0">
                <a:solidFill>
                  <a:srgbClr val="1E7B4F"/>
                </a:solidFill>
                <a:latin typeface="Calibri" pitchFamily="34" charset="0"/>
                <a:ea typeface="Calibri" pitchFamily="34" charset="-122"/>
                <a:cs typeface="Calibri" pitchFamily="34" charset="-120"/>
              </a:rPr>
              <a:t>OE7 Validación en mes simulado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ANEXO 1</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Modelo de negocio — Lean Canvas</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Coronel Obregón, Paulo</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9" name="Shape 6"/>
          <p:cNvSpPr/>
          <p:nvPr/>
        </p:nvSpPr>
        <p:spPr>
          <a:xfrm>
            <a:off x="502920" y="1298448"/>
            <a:ext cx="2176272" cy="2697480"/>
          </a:xfrm>
          <a:prstGeom prst="rect">
            <a:avLst/>
          </a:prstGeom>
          <a:solidFill>
            <a:srgbClr val="FFFFFF"/>
          </a:solidFill>
          <a:ln w="15875">
            <a:solidFill>
              <a:srgbClr val="1F4E79"/>
            </a:solidFill>
            <a:prstDash val="solid"/>
          </a:ln>
        </p:spPr>
      </p:sp>
      <p:sp>
        <p:nvSpPr>
          <p:cNvPr id="10" name="Shape 7"/>
          <p:cNvSpPr/>
          <p:nvPr/>
        </p:nvSpPr>
        <p:spPr>
          <a:xfrm>
            <a:off x="502920" y="1298448"/>
            <a:ext cx="2176272" cy="64008"/>
          </a:xfrm>
          <a:prstGeom prst="rect">
            <a:avLst/>
          </a:prstGeom>
          <a:solidFill>
            <a:srgbClr val="1F4E79"/>
          </a:solidFill>
          <a:ln w="12700">
            <a:solidFill>
              <a:srgbClr val="1F4E79"/>
            </a:solidFill>
            <a:prstDash val="solid"/>
          </a:ln>
        </p:spPr>
      </p:sp>
      <p:sp>
        <p:nvSpPr>
          <p:cNvPr id="11" name="Text 8"/>
          <p:cNvSpPr txBox="1"/>
          <p:nvPr/>
        </p:nvSpPr>
        <p:spPr>
          <a:xfrm>
            <a:off x="640080" y="1426464"/>
            <a:ext cx="1901952" cy="292608"/>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1. PROBLEMA</a:t>
            </a:r>
            <a:endParaRPr lang="en-US" sz="1150" dirty="0"/>
          </a:p>
        </p:txBody>
      </p:sp>
      <p:sp>
        <p:nvSpPr>
          <p:cNvPr id="12" name="Text 9"/>
          <p:cNvSpPr txBox="1"/>
          <p:nvPr/>
        </p:nvSpPr>
        <p:spPr>
          <a:xfrm>
            <a:off x="640080" y="1755648"/>
            <a:ext cx="1901952" cy="21488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Sumar a mano las facturas del mes toma horas y produce errores</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Bajo el real: subdeclara; sobre el real: paga de más</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Facturas perdidas: sin sustento</a:t>
            </a:r>
            <a:endParaRPr lang="en-US" sz="1050" dirty="0"/>
          </a:p>
        </p:txBody>
      </p:sp>
      <p:sp>
        <p:nvSpPr>
          <p:cNvPr id="13" name="Shape 10"/>
          <p:cNvSpPr/>
          <p:nvPr/>
        </p:nvSpPr>
        <p:spPr>
          <a:xfrm>
            <a:off x="2747772" y="1298448"/>
            <a:ext cx="2176272" cy="2697480"/>
          </a:xfrm>
          <a:prstGeom prst="rect">
            <a:avLst/>
          </a:prstGeom>
          <a:solidFill>
            <a:srgbClr val="FFFFFF"/>
          </a:solidFill>
          <a:ln w="15875">
            <a:solidFill>
              <a:srgbClr val="1F4E79"/>
            </a:solidFill>
            <a:prstDash val="solid"/>
          </a:ln>
        </p:spPr>
      </p:sp>
      <p:sp>
        <p:nvSpPr>
          <p:cNvPr id="14" name="Shape 11"/>
          <p:cNvSpPr/>
          <p:nvPr/>
        </p:nvSpPr>
        <p:spPr>
          <a:xfrm>
            <a:off x="2747772" y="1298448"/>
            <a:ext cx="2176272" cy="64008"/>
          </a:xfrm>
          <a:prstGeom prst="rect">
            <a:avLst/>
          </a:prstGeom>
          <a:solidFill>
            <a:srgbClr val="1F4E79"/>
          </a:solidFill>
          <a:ln w="12700">
            <a:solidFill>
              <a:srgbClr val="1F4E79"/>
            </a:solidFill>
            <a:prstDash val="solid"/>
          </a:ln>
        </p:spPr>
      </p:sp>
      <p:sp>
        <p:nvSpPr>
          <p:cNvPr id="15" name="Text 12"/>
          <p:cNvSpPr txBox="1"/>
          <p:nvPr/>
        </p:nvSpPr>
        <p:spPr>
          <a:xfrm>
            <a:off x="2884932" y="1426464"/>
            <a:ext cx="1901952" cy="292608"/>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4. SOLUCIÓN</a:t>
            </a:r>
            <a:endParaRPr lang="en-US" sz="1150" dirty="0"/>
          </a:p>
        </p:txBody>
      </p:sp>
      <p:sp>
        <p:nvSpPr>
          <p:cNvPr id="16" name="Text 13"/>
          <p:cNvSpPr txBox="1"/>
          <p:nvPr/>
        </p:nvSpPr>
        <p:spPr>
          <a:xfrm>
            <a:off x="2884932" y="1755648"/>
            <a:ext cx="1901952" cy="21488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Foto de la factura al recibir el pedido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Gemma 4 E2B ajustado lee RUC, serie, fecha e importe en el teléfono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Acumulado mensual, categoría y cuota</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Recordatorio de vencimiento</a:t>
            </a:r>
            <a:endParaRPr lang="en-US" sz="1050" dirty="0"/>
          </a:p>
        </p:txBody>
      </p:sp>
      <p:sp>
        <p:nvSpPr>
          <p:cNvPr id="17" name="Shape 14"/>
          <p:cNvSpPr/>
          <p:nvPr/>
        </p:nvSpPr>
        <p:spPr>
          <a:xfrm>
            <a:off x="4992624" y="1298448"/>
            <a:ext cx="2176272" cy="2697480"/>
          </a:xfrm>
          <a:prstGeom prst="rect">
            <a:avLst/>
          </a:prstGeom>
          <a:solidFill>
            <a:srgbClr val="FFFFFF"/>
          </a:solidFill>
          <a:ln w="15875">
            <a:solidFill>
              <a:srgbClr val="B8650A"/>
            </a:solidFill>
            <a:prstDash val="solid"/>
          </a:ln>
        </p:spPr>
      </p:sp>
      <p:sp>
        <p:nvSpPr>
          <p:cNvPr id="18" name="Shape 15"/>
          <p:cNvSpPr/>
          <p:nvPr/>
        </p:nvSpPr>
        <p:spPr>
          <a:xfrm>
            <a:off x="4992624" y="1298448"/>
            <a:ext cx="2176272" cy="64008"/>
          </a:xfrm>
          <a:prstGeom prst="rect">
            <a:avLst/>
          </a:prstGeom>
          <a:solidFill>
            <a:srgbClr val="B8650A"/>
          </a:solidFill>
          <a:ln w="12700">
            <a:solidFill>
              <a:srgbClr val="B8650A"/>
            </a:solidFill>
            <a:prstDash val="solid"/>
          </a:ln>
        </p:spPr>
      </p:sp>
      <p:sp>
        <p:nvSpPr>
          <p:cNvPr id="19" name="Text 16"/>
          <p:cNvSpPr txBox="1"/>
          <p:nvPr/>
        </p:nvSpPr>
        <p:spPr>
          <a:xfrm>
            <a:off x="5129784" y="1426464"/>
            <a:ext cx="1901952" cy="292608"/>
          </a:xfrm>
          <a:prstGeom prst="rect">
            <a:avLst/>
          </a:prstGeom>
          <a:noFill/>
          <a:ln/>
        </p:spPr>
        <p:txBody>
          <a:bodyPr wrap="square" lIns="0" tIns="0" rIns="0" bIns="0" rtlCol="0" anchor="ctr"/>
          <a:lstStyle/>
          <a:p>
            <a:pPr indent="0" marL="0">
              <a:buNone/>
            </a:pPr>
            <a:r>
              <a:rPr lang="en-US" sz="1150" b="1" dirty="0">
                <a:solidFill>
                  <a:srgbClr val="B8650A"/>
                </a:solidFill>
                <a:latin typeface="Calibri" pitchFamily="34" charset="0"/>
                <a:ea typeface="Calibri" pitchFamily="34" charset="-122"/>
                <a:cs typeface="Calibri" pitchFamily="34" charset="-120"/>
              </a:rPr>
              <a:t>3. PROPUESTA DE VALOR ÚNICA</a:t>
            </a:r>
            <a:endParaRPr lang="en-US" sz="1150" dirty="0"/>
          </a:p>
        </p:txBody>
      </p:sp>
      <p:sp>
        <p:nvSpPr>
          <p:cNvPr id="20" name="Text 17"/>
          <p:cNvSpPr txBox="1"/>
          <p:nvPr/>
        </p:nvSpPr>
        <p:spPr>
          <a:xfrm>
            <a:off x="5129784" y="1755648"/>
            <a:ext cx="1901952" cy="21488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Fotografía la factura cuando te llega el pedido y Facturas S20 te dice cuánto compraste y qué cuota del NRUS te toca, incluso sin internet</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Concepto: el NRUS resuelto con la cámara del teléfono</a:t>
            </a:r>
            <a:endParaRPr lang="en-US" sz="1050" dirty="0"/>
          </a:p>
        </p:txBody>
      </p:sp>
      <p:sp>
        <p:nvSpPr>
          <p:cNvPr id="21" name="Shape 18"/>
          <p:cNvSpPr/>
          <p:nvPr/>
        </p:nvSpPr>
        <p:spPr>
          <a:xfrm>
            <a:off x="7237476" y="1298448"/>
            <a:ext cx="2176272" cy="2697480"/>
          </a:xfrm>
          <a:prstGeom prst="rect">
            <a:avLst/>
          </a:prstGeom>
          <a:solidFill>
            <a:srgbClr val="FFFFFF"/>
          </a:solidFill>
          <a:ln w="15875">
            <a:solidFill>
              <a:srgbClr val="1E7B4F"/>
            </a:solidFill>
            <a:prstDash val="solid"/>
          </a:ln>
        </p:spPr>
      </p:sp>
      <p:sp>
        <p:nvSpPr>
          <p:cNvPr id="22" name="Shape 19"/>
          <p:cNvSpPr/>
          <p:nvPr/>
        </p:nvSpPr>
        <p:spPr>
          <a:xfrm>
            <a:off x="7237476" y="1298448"/>
            <a:ext cx="2176272" cy="64008"/>
          </a:xfrm>
          <a:prstGeom prst="rect">
            <a:avLst/>
          </a:prstGeom>
          <a:solidFill>
            <a:srgbClr val="1E7B4F"/>
          </a:solidFill>
          <a:ln w="12700">
            <a:solidFill>
              <a:srgbClr val="1E7B4F"/>
            </a:solidFill>
            <a:prstDash val="solid"/>
          </a:ln>
        </p:spPr>
      </p:sp>
      <p:sp>
        <p:nvSpPr>
          <p:cNvPr id="23" name="Text 20"/>
          <p:cNvSpPr txBox="1"/>
          <p:nvPr/>
        </p:nvSpPr>
        <p:spPr>
          <a:xfrm>
            <a:off x="7374636" y="1426464"/>
            <a:ext cx="1901952" cy="292608"/>
          </a:xfrm>
          <a:prstGeom prst="rect">
            <a:avLst/>
          </a:prstGeom>
          <a:noFill/>
          <a:ln/>
        </p:spPr>
        <p:txBody>
          <a:bodyPr wrap="square" lIns="0" tIns="0" rIns="0" bIns="0" rtlCol="0" anchor="ctr"/>
          <a:lstStyle/>
          <a:p>
            <a:pPr indent="0" marL="0">
              <a:buNone/>
            </a:pPr>
            <a:r>
              <a:rPr lang="en-US" sz="1150" b="1" dirty="0">
                <a:solidFill>
                  <a:srgbClr val="1E7B4F"/>
                </a:solidFill>
                <a:latin typeface="Calibri" pitchFamily="34" charset="0"/>
                <a:ea typeface="Calibri" pitchFamily="34" charset="-122"/>
                <a:cs typeface="Calibri" pitchFamily="34" charset="-120"/>
              </a:rPr>
              <a:t>9. VENTAJA COMPETITIVA</a:t>
            </a:r>
            <a:endParaRPr lang="en-US" sz="1150" dirty="0"/>
          </a:p>
        </p:txBody>
      </p:sp>
      <p:sp>
        <p:nvSpPr>
          <p:cNvPr id="24" name="Text 21"/>
          <p:cNvSpPr txBox="1"/>
          <p:nvPr/>
        </p:nvSpPr>
        <p:spPr>
          <a:xfrm>
            <a:off x="7374636" y="1755648"/>
            <a:ext cx="1901952" cy="21488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Gemma 4 ajustado con facturas peruanas y convertido para correr en el teléfono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Conjunto propio de facturas etiquetadas</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Sin costo por documento ni envío de datos</a:t>
            </a:r>
            <a:endParaRPr lang="en-US" sz="1050" dirty="0"/>
          </a:p>
        </p:txBody>
      </p:sp>
      <p:sp>
        <p:nvSpPr>
          <p:cNvPr id="25" name="Shape 22"/>
          <p:cNvSpPr/>
          <p:nvPr/>
        </p:nvSpPr>
        <p:spPr>
          <a:xfrm>
            <a:off x="9482328" y="1298448"/>
            <a:ext cx="2176272" cy="2697480"/>
          </a:xfrm>
          <a:prstGeom prst="rect">
            <a:avLst/>
          </a:prstGeom>
          <a:solidFill>
            <a:srgbClr val="FFFFFF"/>
          </a:solidFill>
          <a:ln w="15875">
            <a:solidFill>
              <a:srgbClr val="1E7B4F"/>
            </a:solidFill>
            <a:prstDash val="solid"/>
          </a:ln>
        </p:spPr>
      </p:sp>
      <p:sp>
        <p:nvSpPr>
          <p:cNvPr id="26" name="Shape 23"/>
          <p:cNvSpPr/>
          <p:nvPr/>
        </p:nvSpPr>
        <p:spPr>
          <a:xfrm>
            <a:off x="9482328" y="1298448"/>
            <a:ext cx="2176272" cy="64008"/>
          </a:xfrm>
          <a:prstGeom prst="rect">
            <a:avLst/>
          </a:prstGeom>
          <a:solidFill>
            <a:srgbClr val="1E7B4F"/>
          </a:solidFill>
          <a:ln w="12700">
            <a:solidFill>
              <a:srgbClr val="1E7B4F"/>
            </a:solidFill>
            <a:prstDash val="solid"/>
          </a:ln>
        </p:spPr>
      </p:sp>
      <p:sp>
        <p:nvSpPr>
          <p:cNvPr id="27" name="Text 24"/>
          <p:cNvSpPr txBox="1"/>
          <p:nvPr/>
        </p:nvSpPr>
        <p:spPr>
          <a:xfrm>
            <a:off x="9619488" y="1426464"/>
            <a:ext cx="1901952" cy="292608"/>
          </a:xfrm>
          <a:prstGeom prst="rect">
            <a:avLst/>
          </a:prstGeom>
          <a:noFill/>
          <a:ln/>
        </p:spPr>
        <p:txBody>
          <a:bodyPr wrap="square" lIns="0" tIns="0" rIns="0" bIns="0" rtlCol="0" anchor="ctr"/>
          <a:lstStyle/>
          <a:p>
            <a:pPr indent="0" marL="0">
              <a:buNone/>
            </a:pPr>
            <a:r>
              <a:rPr lang="en-US" sz="1150" b="1" dirty="0">
                <a:solidFill>
                  <a:srgbClr val="1E7B4F"/>
                </a:solidFill>
                <a:latin typeface="Calibri" pitchFamily="34" charset="0"/>
                <a:ea typeface="Calibri" pitchFamily="34" charset="-122"/>
                <a:cs typeface="Calibri" pitchFamily="34" charset="-120"/>
              </a:rPr>
              <a:t>2. SEGMENTO DE CLIENTES</a:t>
            </a:r>
            <a:endParaRPr lang="en-US" sz="1150" dirty="0"/>
          </a:p>
        </p:txBody>
      </p:sp>
      <p:sp>
        <p:nvSpPr>
          <p:cNvPr id="28" name="Text 25"/>
          <p:cNvSpPr txBox="1"/>
          <p:nvPr/>
        </p:nvSpPr>
        <p:spPr>
          <a:xfrm>
            <a:off x="9619488" y="1755648"/>
            <a:ext cx="1901952" cy="21488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Bodegas del NRUS con un Android de gama media</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Early adopters: bodegueros de 25 a 45 años que usan billetera móvil</a:t>
            </a:r>
            <a:endParaRPr lang="en-US" sz="1050" dirty="0"/>
          </a:p>
        </p:txBody>
      </p:sp>
      <p:sp>
        <p:nvSpPr>
          <p:cNvPr id="29" name="Shape 26"/>
          <p:cNvSpPr/>
          <p:nvPr/>
        </p:nvSpPr>
        <p:spPr>
          <a:xfrm>
            <a:off x="502920" y="4087368"/>
            <a:ext cx="2176272" cy="2194560"/>
          </a:xfrm>
          <a:prstGeom prst="rect">
            <a:avLst/>
          </a:prstGeom>
          <a:solidFill>
            <a:srgbClr val="FFFFFF"/>
          </a:solidFill>
          <a:ln w="15875">
            <a:solidFill>
              <a:srgbClr val="1F4E79"/>
            </a:solidFill>
            <a:prstDash val="solid"/>
          </a:ln>
        </p:spPr>
      </p:sp>
      <p:sp>
        <p:nvSpPr>
          <p:cNvPr id="30" name="Shape 27"/>
          <p:cNvSpPr/>
          <p:nvPr/>
        </p:nvSpPr>
        <p:spPr>
          <a:xfrm>
            <a:off x="502920" y="4087368"/>
            <a:ext cx="2176272" cy="64008"/>
          </a:xfrm>
          <a:prstGeom prst="rect">
            <a:avLst/>
          </a:prstGeom>
          <a:solidFill>
            <a:srgbClr val="1F4E79"/>
          </a:solidFill>
          <a:ln w="12700">
            <a:solidFill>
              <a:srgbClr val="1F4E79"/>
            </a:solidFill>
            <a:prstDash val="solid"/>
          </a:ln>
        </p:spPr>
      </p:sp>
      <p:sp>
        <p:nvSpPr>
          <p:cNvPr id="31" name="Text 28"/>
          <p:cNvSpPr txBox="1"/>
          <p:nvPr/>
        </p:nvSpPr>
        <p:spPr>
          <a:xfrm>
            <a:off x="640080" y="4215384"/>
            <a:ext cx="1901952" cy="292608"/>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8. MÉTRICAS CLAVE</a:t>
            </a:r>
            <a:endParaRPr lang="en-US" sz="1150" dirty="0"/>
          </a:p>
        </p:txBody>
      </p:sp>
      <p:sp>
        <p:nvSpPr>
          <p:cNvPr id="32" name="Text 29"/>
          <p:cNvSpPr txBox="1"/>
          <p:nvPr/>
        </p:nvSpPr>
        <p:spPr>
          <a:xfrm>
            <a:off x="640080" y="4544568"/>
            <a:ext cx="1901952"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Bodegas activas en 30 días</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Exactitud por campo vs. modelo base</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Tiempo de lectura en el teléfono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Campos corregidos a mano</a:t>
            </a:r>
            <a:endParaRPr lang="en-US" sz="1050" dirty="0"/>
          </a:p>
        </p:txBody>
      </p:sp>
      <p:sp>
        <p:nvSpPr>
          <p:cNvPr id="33" name="Shape 30"/>
          <p:cNvSpPr/>
          <p:nvPr/>
        </p:nvSpPr>
        <p:spPr>
          <a:xfrm>
            <a:off x="2747772" y="4087368"/>
            <a:ext cx="2176272" cy="2194560"/>
          </a:xfrm>
          <a:prstGeom prst="rect">
            <a:avLst/>
          </a:prstGeom>
          <a:solidFill>
            <a:srgbClr val="FFFFFF"/>
          </a:solidFill>
          <a:ln w="15875">
            <a:solidFill>
              <a:srgbClr val="C00000"/>
            </a:solidFill>
            <a:prstDash val="solid"/>
          </a:ln>
        </p:spPr>
      </p:sp>
      <p:sp>
        <p:nvSpPr>
          <p:cNvPr id="34" name="Shape 31"/>
          <p:cNvSpPr/>
          <p:nvPr/>
        </p:nvSpPr>
        <p:spPr>
          <a:xfrm>
            <a:off x="2747772" y="4087368"/>
            <a:ext cx="2176272" cy="64008"/>
          </a:xfrm>
          <a:prstGeom prst="rect">
            <a:avLst/>
          </a:prstGeom>
          <a:solidFill>
            <a:srgbClr val="C00000"/>
          </a:solidFill>
          <a:ln w="12700">
            <a:solidFill>
              <a:srgbClr val="C00000"/>
            </a:solidFill>
            <a:prstDash val="solid"/>
          </a:ln>
        </p:spPr>
      </p:sp>
      <p:sp>
        <p:nvSpPr>
          <p:cNvPr id="35" name="Text 32"/>
          <p:cNvSpPr txBox="1"/>
          <p:nvPr/>
        </p:nvSpPr>
        <p:spPr>
          <a:xfrm>
            <a:off x="2884932" y="4215384"/>
            <a:ext cx="1901952" cy="292608"/>
          </a:xfrm>
          <a:prstGeom prst="rect">
            <a:avLst/>
          </a:prstGeom>
          <a:noFill/>
          <a:ln/>
        </p:spPr>
        <p:txBody>
          <a:bodyPr wrap="square" lIns="0" tIns="0" rIns="0" bIns="0" rtlCol="0" anchor="ctr"/>
          <a:lstStyle/>
          <a:p>
            <a:pPr indent="0" marL="0">
              <a:buNone/>
            </a:pPr>
            <a:r>
              <a:rPr lang="en-US" sz="1150" b="1" dirty="0">
                <a:solidFill>
                  <a:srgbClr val="C00000"/>
                </a:solidFill>
                <a:latin typeface="Calibri" pitchFamily="34" charset="0"/>
                <a:ea typeface="Calibri" pitchFamily="34" charset="-122"/>
                <a:cs typeface="Calibri" pitchFamily="34" charset="-120"/>
              </a:rPr>
              <a:t>7. ESTRUCTURA DE COSTOS</a:t>
            </a:r>
            <a:endParaRPr lang="en-US" sz="1150" dirty="0"/>
          </a:p>
        </p:txBody>
      </p:sp>
      <p:sp>
        <p:nvSpPr>
          <p:cNvPr id="36" name="Text 33"/>
          <p:cNvSpPr txBox="1"/>
          <p:nvPr/>
        </p:nvSpPr>
        <p:spPr>
          <a:xfrm>
            <a:off x="2884932" y="4544568"/>
            <a:ext cx="1901952"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Desarrollo de la app Android y del respaldo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Etiquetado de facturas</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Cómputo para ajuste fino y conversión</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Sin servidor de inferencia</a:t>
            </a:r>
            <a:endParaRPr lang="en-US" sz="1050" dirty="0"/>
          </a:p>
        </p:txBody>
      </p:sp>
      <p:sp>
        <p:nvSpPr>
          <p:cNvPr id="37" name="Shape 34"/>
          <p:cNvSpPr/>
          <p:nvPr/>
        </p:nvSpPr>
        <p:spPr>
          <a:xfrm>
            <a:off x="4992624" y="4087368"/>
            <a:ext cx="2176272" cy="2194560"/>
          </a:xfrm>
          <a:prstGeom prst="rect">
            <a:avLst/>
          </a:prstGeom>
          <a:solidFill>
            <a:srgbClr val="FFFFFF"/>
          </a:solidFill>
          <a:ln w="15875">
            <a:solidFill>
              <a:srgbClr val="1E7B4F"/>
            </a:solidFill>
            <a:prstDash val="solid"/>
          </a:ln>
        </p:spPr>
      </p:sp>
      <p:sp>
        <p:nvSpPr>
          <p:cNvPr id="38" name="Shape 35"/>
          <p:cNvSpPr/>
          <p:nvPr/>
        </p:nvSpPr>
        <p:spPr>
          <a:xfrm>
            <a:off x="4992624" y="4087368"/>
            <a:ext cx="2176272" cy="64008"/>
          </a:xfrm>
          <a:prstGeom prst="rect">
            <a:avLst/>
          </a:prstGeom>
          <a:solidFill>
            <a:srgbClr val="1E7B4F"/>
          </a:solidFill>
          <a:ln w="12700">
            <a:solidFill>
              <a:srgbClr val="1E7B4F"/>
            </a:solidFill>
            <a:prstDash val="solid"/>
          </a:ln>
        </p:spPr>
      </p:sp>
      <p:sp>
        <p:nvSpPr>
          <p:cNvPr id="39" name="Text 36"/>
          <p:cNvSpPr txBox="1"/>
          <p:nvPr/>
        </p:nvSpPr>
        <p:spPr>
          <a:xfrm>
            <a:off x="5129784" y="4215384"/>
            <a:ext cx="1901952" cy="292608"/>
          </a:xfrm>
          <a:prstGeom prst="rect">
            <a:avLst/>
          </a:prstGeom>
          <a:noFill/>
          <a:ln/>
        </p:spPr>
        <p:txBody>
          <a:bodyPr wrap="square" lIns="0" tIns="0" rIns="0" bIns="0" rtlCol="0" anchor="ctr"/>
          <a:lstStyle/>
          <a:p>
            <a:pPr indent="0" marL="0">
              <a:buNone/>
            </a:pPr>
            <a:r>
              <a:rPr lang="en-US" sz="1150" b="1" dirty="0">
                <a:solidFill>
                  <a:srgbClr val="1E7B4F"/>
                </a:solidFill>
                <a:latin typeface="Calibri" pitchFamily="34" charset="0"/>
                <a:ea typeface="Calibri" pitchFamily="34" charset="-122"/>
                <a:cs typeface="Calibri" pitchFamily="34" charset="-120"/>
              </a:rPr>
              <a:t>5. CANALES</a:t>
            </a:r>
            <a:endParaRPr lang="en-US" sz="1150" dirty="0"/>
          </a:p>
        </p:txBody>
      </p:sp>
      <p:sp>
        <p:nvSpPr>
          <p:cNvPr id="40" name="Text 37"/>
          <p:cNvSpPr txBox="1"/>
          <p:nvPr/>
        </p:nvSpPr>
        <p:spPr>
          <a:xfrm>
            <a:off x="5129784" y="4544568"/>
            <a:ext cx="1901952"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Google Play gratuito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Demostración en bodegas del distrito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Distribuidores mayoristas y asociaciones</a:t>
            </a:r>
            <a:endParaRPr lang="en-US" sz="1050" dirty="0"/>
          </a:p>
        </p:txBody>
      </p:sp>
      <p:sp>
        <p:nvSpPr>
          <p:cNvPr id="41" name="Shape 38"/>
          <p:cNvSpPr/>
          <p:nvPr/>
        </p:nvSpPr>
        <p:spPr>
          <a:xfrm>
            <a:off x="7237476" y="4087368"/>
            <a:ext cx="2176272" cy="2194560"/>
          </a:xfrm>
          <a:prstGeom prst="rect">
            <a:avLst/>
          </a:prstGeom>
          <a:solidFill>
            <a:srgbClr val="FFFFFF"/>
          </a:solidFill>
          <a:ln w="15875">
            <a:solidFill>
              <a:srgbClr val="C00000"/>
            </a:solidFill>
            <a:prstDash val="solid"/>
          </a:ln>
        </p:spPr>
      </p:sp>
      <p:sp>
        <p:nvSpPr>
          <p:cNvPr id="42" name="Shape 39"/>
          <p:cNvSpPr/>
          <p:nvPr/>
        </p:nvSpPr>
        <p:spPr>
          <a:xfrm>
            <a:off x="7237476" y="4087368"/>
            <a:ext cx="2176272" cy="64008"/>
          </a:xfrm>
          <a:prstGeom prst="rect">
            <a:avLst/>
          </a:prstGeom>
          <a:solidFill>
            <a:srgbClr val="C00000"/>
          </a:solidFill>
          <a:ln w="12700">
            <a:solidFill>
              <a:srgbClr val="C00000"/>
            </a:solidFill>
            <a:prstDash val="solid"/>
          </a:ln>
        </p:spPr>
      </p:sp>
      <p:sp>
        <p:nvSpPr>
          <p:cNvPr id="43" name="Text 40"/>
          <p:cNvSpPr txBox="1"/>
          <p:nvPr/>
        </p:nvSpPr>
        <p:spPr>
          <a:xfrm>
            <a:off x="7374636" y="4215384"/>
            <a:ext cx="1901952" cy="292608"/>
          </a:xfrm>
          <a:prstGeom prst="rect">
            <a:avLst/>
          </a:prstGeom>
          <a:noFill/>
          <a:ln/>
        </p:spPr>
        <p:txBody>
          <a:bodyPr wrap="square" lIns="0" tIns="0" rIns="0" bIns="0" rtlCol="0" anchor="ctr"/>
          <a:lstStyle/>
          <a:p>
            <a:pPr indent="0" marL="0">
              <a:buNone/>
            </a:pPr>
            <a:r>
              <a:rPr lang="en-US" sz="1150" b="1" dirty="0">
                <a:solidFill>
                  <a:srgbClr val="C00000"/>
                </a:solidFill>
                <a:latin typeface="Calibri" pitchFamily="34" charset="0"/>
                <a:ea typeface="Calibri" pitchFamily="34" charset="-122"/>
                <a:cs typeface="Calibri" pitchFamily="34" charset="-120"/>
              </a:rPr>
              <a:t>6. FLUJO DE INGRESOS</a:t>
            </a:r>
            <a:endParaRPr lang="en-US" sz="1150" dirty="0"/>
          </a:p>
        </p:txBody>
      </p:sp>
      <p:sp>
        <p:nvSpPr>
          <p:cNvPr id="44" name="Text 41"/>
          <p:cNvSpPr txBox="1"/>
          <p:nvPr/>
        </p:nvSpPr>
        <p:spPr>
          <a:xfrm>
            <a:off x="7374636" y="4544568"/>
            <a:ext cx="1901952"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App base gratuita</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Plan voluntario de respaldo en la nube</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Licencia para estudios contables</a:t>
            </a:r>
            <a:endParaRPr lang="en-US" sz="1050" dirty="0"/>
          </a:p>
        </p:txBody>
      </p:sp>
      <p:sp>
        <p:nvSpPr>
          <p:cNvPr id="45" name="Shape 42"/>
          <p:cNvSpPr/>
          <p:nvPr/>
        </p:nvSpPr>
        <p:spPr>
          <a:xfrm>
            <a:off x="9482328" y="4087368"/>
            <a:ext cx="2176272" cy="2194560"/>
          </a:xfrm>
          <a:prstGeom prst="rect">
            <a:avLst/>
          </a:prstGeom>
          <a:solidFill>
            <a:srgbClr val="FFFFFF"/>
          </a:solidFill>
          <a:ln w="15875">
            <a:solidFill>
              <a:srgbClr val="404040"/>
            </a:solidFill>
            <a:prstDash val="solid"/>
          </a:ln>
        </p:spPr>
      </p:sp>
      <p:sp>
        <p:nvSpPr>
          <p:cNvPr id="46" name="Shape 43"/>
          <p:cNvSpPr/>
          <p:nvPr/>
        </p:nvSpPr>
        <p:spPr>
          <a:xfrm>
            <a:off x="9482328" y="4087368"/>
            <a:ext cx="2176272" cy="64008"/>
          </a:xfrm>
          <a:prstGeom prst="rect">
            <a:avLst/>
          </a:prstGeom>
          <a:solidFill>
            <a:srgbClr val="404040"/>
          </a:solidFill>
          <a:ln w="12700">
            <a:solidFill>
              <a:srgbClr val="404040"/>
            </a:solidFill>
            <a:prstDash val="solid"/>
          </a:ln>
        </p:spPr>
      </p:sp>
      <p:sp>
        <p:nvSpPr>
          <p:cNvPr id="47" name="Text 44"/>
          <p:cNvSpPr txBox="1"/>
          <p:nvPr/>
        </p:nvSpPr>
        <p:spPr>
          <a:xfrm>
            <a:off x="9619488" y="4215384"/>
            <a:ext cx="1901952" cy="292608"/>
          </a:xfrm>
          <a:prstGeom prst="rect">
            <a:avLst/>
          </a:prstGeom>
          <a:noFill/>
          <a:ln/>
        </p:spPr>
        <p:txBody>
          <a:bodyPr wrap="square" lIns="0" tIns="0" rIns="0" bIns="0" rtlCol="0" anchor="ctr"/>
          <a:lstStyle/>
          <a:p>
            <a:pPr indent="0" marL="0">
              <a:buNone/>
            </a:pPr>
            <a:r>
              <a:rPr lang="en-US" sz="1150" b="1" dirty="0">
                <a:solidFill>
                  <a:srgbClr val="404040"/>
                </a:solidFill>
                <a:latin typeface="Calibri" pitchFamily="34" charset="0"/>
                <a:ea typeface="Calibri" pitchFamily="34" charset="-122"/>
                <a:cs typeface="Calibri" pitchFamily="34" charset="-120"/>
              </a:rPr>
              <a:t>ALTERNATIVAS ACTUALES</a:t>
            </a:r>
            <a:endParaRPr lang="en-US" sz="1150" dirty="0"/>
          </a:p>
        </p:txBody>
      </p:sp>
      <p:sp>
        <p:nvSpPr>
          <p:cNvPr id="48" name="Text 45"/>
          <p:cNvSpPr txBox="1"/>
          <p:nvPr/>
        </p:nvSpPr>
        <p:spPr>
          <a:xfrm>
            <a:off x="9619488" y="4544568"/>
            <a:ext cx="1901952"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Sumar a mano al cierre</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Cuaderno u hoja de cálculo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Declarar la categoría superior por precaución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ESTADO DEL ARTE</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Estado del arte y brecha identificada</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Coronel Obregón, Paulo</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914400"/>
        </p:xfrm>
        <a:graphic>
          <a:graphicData uri="http://schemas.openxmlformats.org/drawingml/2006/table">
            <a:tbl>
              <a:tblPr/>
              <a:tblGrid>
                <a:gridCol w="3291840"/>
                <a:gridCol w="1463040"/>
                <a:gridCol w="2194560"/>
                <a:gridCol w="1188720"/>
                <a:gridCol w="1920240"/>
                <a:gridCol w="109728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Enfoque</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Interpreta la estructura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Especializable en factura peruana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Sin conexión</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Costo por documento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Calcula NRUS</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r>
              <a:tr h="384048">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Cálculo manual</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 aplica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No aplica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Gratuito, alto costo en tiempo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OCR tradicional</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Solo con reglas por formato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Gratuito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Comprensión documental en la nube</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No, modelo cerrado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Por documento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Aplicaciones de contabilidad</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No aplica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Parcial</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Suscripción</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Parcial</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Aplicaciones de la SUNAT</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 aplica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No aplica</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Gratuito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Modelo multimodal base en el teléfono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Sí, pero no viene ajustado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Sin costo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Facturas S20: Gemma 4 ajustado y embebido + motor NRUS</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Sí, mediante ajuste fino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Sin costo</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73152" marR="73152"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r>
            </a:tbl>
          </a:graphicData>
        </a:graphic>
      </p:graphicFrame>
      <p:sp>
        <p:nvSpPr>
          <p:cNvPr id="10" name="Shape 6"/>
          <p:cNvSpPr/>
          <p:nvPr/>
        </p:nvSpPr>
        <p:spPr>
          <a:xfrm>
            <a:off x="502920" y="4892040"/>
            <a:ext cx="11155680" cy="1371600"/>
          </a:xfrm>
          <a:prstGeom prst="rect">
            <a:avLst/>
          </a:prstGeom>
          <a:solidFill>
            <a:srgbClr val="FBEAEA"/>
          </a:solidFill>
          <a:ln w="15875">
            <a:solidFill>
              <a:srgbClr val="C00000"/>
            </a:solidFill>
            <a:prstDash val="solid"/>
          </a:ln>
        </p:spPr>
      </p:sp>
      <p:sp>
        <p:nvSpPr>
          <p:cNvPr id="11" name="Text 7"/>
          <p:cNvSpPr txBox="1"/>
          <p:nvPr/>
        </p:nvSpPr>
        <p:spPr>
          <a:xfrm>
            <a:off x="685800" y="4983480"/>
            <a:ext cx="10789920" cy="274320"/>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LA BRECHA</a:t>
            </a:r>
            <a:endParaRPr lang="en-US" sz="1200" dirty="0"/>
          </a:p>
        </p:txBody>
      </p:sp>
      <p:sp>
        <p:nvSpPr>
          <p:cNvPr id="12" name="Text 8"/>
          <p:cNvSpPr txBox="1"/>
          <p:nvPr/>
        </p:nvSpPr>
        <p:spPr>
          <a:xfrm>
            <a:off x="685800" y="5276088"/>
            <a:ext cx="10789920" cy="914400"/>
          </a:xfrm>
          <a:prstGeom prst="rect">
            <a:avLst/>
          </a:prstGeom>
          <a:noFill/>
          <a:ln/>
        </p:spPr>
        <p:txBody>
          <a:bodyPr wrap="square" lIns="0" tIns="0" rIns="0" bIns="0" rtlCol="0" anchor="t"/>
          <a:lstStyle/>
          <a:p>
            <a:pPr indent="0" marL="0">
              <a:buNone/>
            </a:pPr>
            <a:r>
              <a:rPr lang="en-US" sz="1300" dirty="0">
                <a:solidFill>
                  <a:srgbClr val="262626"/>
                </a:solidFill>
                <a:latin typeface="Calibri" pitchFamily="34" charset="0"/>
                <a:ea typeface="Calibri" pitchFamily="34" charset="-122"/>
                <a:cs typeface="Calibri" pitchFamily="34" charset="-120"/>
              </a:rPr>
              <a:t>Ninguna solución reúne a la vez las cuatro condiciones: interpretar la estructura del documento, especializarse en la factura peruana, funcionar sin conexión y sin costo por documento, y calcular la categoría del NRUS. El modelo base en el teléfono ya resuelve las tres primeras; el ajuste fino y el motor de reglas cierran la brecha.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ANEXO 2</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Tres alternativas y decisión</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Mateo Velásquez, Morán</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6</a:t>
            </a:r>
            <a:endParaRPr lang="en-US" sz="1100" dirty="0"/>
          </a:p>
        </p:txBody>
      </p:sp>
      <p:sp>
        <p:nvSpPr>
          <p:cNvPr id="9" name="Shape 6"/>
          <p:cNvSpPr/>
          <p:nvPr/>
        </p:nvSpPr>
        <p:spPr>
          <a:xfrm>
            <a:off x="502920" y="1298448"/>
            <a:ext cx="3611880" cy="3337560"/>
          </a:xfrm>
          <a:prstGeom prst="rect">
            <a:avLst/>
          </a:prstGeom>
          <a:solidFill>
            <a:srgbClr val="FFFFFF"/>
          </a:solidFill>
          <a:ln w="19050">
            <a:solidFill>
              <a:srgbClr val="1E7B4F"/>
            </a:solidFill>
            <a:prstDash val="solid"/>
          </a:ln>
        </p:spPr>
      </p:sp>
      <p:sp>
        <p:nvSpPr>
          <p:cNvPr id="10" name="Shape 7"/>
          <p:cNvSpPr/>
          <p:nvPr/>
        </p:nvSpPr>
        <p:spPr>
          <a:xfrm>
            <a:off x="502920" y="1298448"/>
            <a:ext cx="3611880" cy="868680"/>
          </a:xfrm>
          <a:prstGeom prst="rect">
            <a:avLst/>
          </a:prstGeom>
          <a:solidFill>
            <a:srgbClr val="1E7B4F"/>
          </a:solidFill>
          <a:ln w="12700">
            <a:solidFill>
              <a:srgbClr val="1E7B4F"/>
            </a:solidFill>
            <a:prstDash val="solid"/>
          </a:ln>
        </p:spPr>
      </p:sp>
      <p:sp>
        <p:nvSpPr>
          <p:cNvPr id="11" name="Text 8"/>
          <p:cNvSpPr txBox="1"/>
          <p:nvPr/>
        </p:nvSpPr>
        <p:spPr>
          <a:xfrm>
            <a:off x="640080" y="1371600"/>
            <a:ext cx="333756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ALTERNATIVA 1  ◄ SELECCIONADA</a:t>
            </a:r>
            <a:endParaRPr lang="en-US" sz="1050" dirty="0"/>
          </a:p>
        </p:txBody>
      </p:sp>
      <p:sp>
        <p:nvSpPr>
          <p:cNvPr id="12" name="Text 9"/>
          <p:cNvSpPr txBox="1"/>
          <p:nvPr/>
        </p:nvSpPr>
        <p:spPr>
          <a:xfrm>
            <a:off x="640080" y="1600200"/>
            <a:ext cx="3337560" cy="53035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App Android nativa en Java con Gemma 4 embebido en el teléfono</a:t>
            </a:r>
            <a:endParaRPr lang="en-US" sz="1250" dirty="0"/>
          </a:p>
        </p:txBody>
      </p:sp>
      <p:sp>
        <p:nvSpPr>
          <p:cNvPr id="13" name="Text 10"/>
          <p:cNvSpPr txBox="1"/>
          <p:nvPr/>
        </p:nvSpPr>
        <p:spPr>
          <a:xfrm>
            <a:off x="640080" y="2231136"/>
            <a:ext cx="3337560" cy="256032"/>
          </a:xfrm>
          <a:prstGeom prst="rect">
            <a:avLst/>
          </a:prstGeom>
          <a:noFill/>
          <a:ln/>
        </p:spPr>
        <p:txBody>
          <a:bodyPr wrap="square" lIns="0" tIns="0" rIns="0" bIns="0" rtlCol="0" anchor="ctr"/>
          <a:lstStyle/>
          <a:p>
            <a:pPr indent="0" marL="0">
              <a:buNone/>
            </a:pPr>
            <a:r>
              <a:rPr lang="en-US" sz="1150" b="1" dirty="0">
                <a:solidFill>
                  <a:srgbClr val="262626"/>
                </a:solidFill>
                <a:latin typeface="Calibri" pitchFamily="34" charset="0"/>
                <a:ea typeface="Calibri" pitchFamily="34" charset="-122"/>
                <a:cs typeface="Calibri" pitchFamily="34" charset="-120"/>
              </a:rPr>
              <a:t>Pantallas: 8   ·   Java: ≈ 85 %</a:t>
            </a:r>
            <a:endParaRPr lang="en-US" sz="1150" dirty="0"/>
          </a:p>
        </p:txBody>
      </p:sp>
      <p:sp>
        <p:nvSpPr>
          <p:cNvPr id="14" name="Text 11"/>
          <p:cNvSpPr txBox="1"/>
          <p:nvPr/>
        </p:nvSpPr>
        <p:spPr>
          <a:xfrm>
            <a:off x="640080" y="2542032"/>
            <a:ext cx="3337560" cy="2011680"/>
          </a:xfrm>
          <a:prstGeom prst="rect">
            <a:avLst/>
          </a:prstGeom>
          <a:noFill/>
          <a:ln/>
        </p:spPr>
        <p:txBody>
          <a:bodyPr wrap="square" lIns="0" tIns="0" rIns="0" bIns="0" rtlCol="0" anchor="t"/>
          <a:lstStyle/>
          <a:p>
            <a:pPr indent="0" marL="0">
              <a:spcAft>
                <a:spcPts val="300"/>
              </a:spcAft>
              <a:buNone/>
            </a:pPr>
            <a:r>
              <a:rPr lang="en-US" sz="1050" b="1" dirty="0">
                <a:solidFill>
                  <a:srgbClr val="1E7B4F"/>
                </a:solidFill>
                <a:latin typeface="Calibri" pitchFamily="34" charset="0"/>
                <a:ea typeface="Calibri" pitchFamily="34" charset="-122"/>
                <a:cs typeface="Calibri" pitchFamily="34" charset="-120"/>
              </a:rPr>
              <a:t>A FAVOR</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Lee la factura sin internet: la IA corre dentro del teléfono.</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Las imágenes y los datos tributarios no salen del equipo.</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Sin costo por documento ni servidor de inferencia.</a:t>
            </a:r>
            <a:endParaRPr lang="en-US" sz="1050" dirty="0"/>
          </a:p>
          <a:p>
            <a:pPr indent="0" marL="0">
              <a:spcAft>
                <a:spcPts val="300"/>
              </a:spcAft>
              <a:buNone/>
            </a:pPr>
            <a:r>
              <a:rPr lang="en-US" sz="1050" b="1" dirty="0">
                <a:solidFill>
                  <a:srgbClr val="C00000"/>
                </a:solidFill>
                <a:latin typeface="Calibri" pitchFamily="34" charset="0"/>
                <a:ea typeface="Calibri" pitchFamily="34" charset="-122"/>
                <a:cs typeface="Calibri" pitchFamily="34" charset="-120"/>
              </a:rPr>
              <a:t>EN CONTRA</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Requiere un teléfono de gama media (6 GB de RAM recomendados).</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Descarga única del modelo de ≈ 2,6 GB por Wi-Fi.</a:t>
            </a:r>
            <a:endParaRPr lang="en-US" sz="1050" dirty="0"/>
          </a:p>
        </p:txBody>
      </p:sp>
      <p:sp>
        <p:nvSpPr>
          <p:cNvPr id="15" name="Shape 12"/>
          <p:cNvSpPr/>
          <p:nvPr/>
        </p:nvSpPr>
        <p:spPr>
          <a:xfrm>
            <a:off x="4251960" y="1298448"/>
            <a:ext cx="3611880" cy="3337560"/>
          </a:xfrm>
          <a:prstGeom prst="rect">
            <a:avLst/>
          </a:prstGeom>
          <a:solidFill>
            <a:srgbClr val="FFFFFF"/>
          </a:solidFill>
          <a:ln w="19050">
            <a:solidFill>
              <a:srgbClr val="B8650A"/>
            </a:solidFill>
            <a:prstDash val="solid"/>
          </a:ln>
        </p:spPr>
      </p:sp>
      <p:sp>
        <p:nvSpPr>
          <p:cNvPr id="16" name="Shape 13"/>
          <p:cNvSpPr/>
          <p:nvPr/>
        </p:nvSpPr>
        <p:spPr>
          <a:xfrm>
            <a:off x="4251960" y="1298448"/>
            <a:ext cx="3611880" cy="868680"/>
          </a:xfrm>
          <a:prstGeom prst="rect">
            <a:avLst/>
          </a:prstGeom>
          <a:solidFill>
            <a:srgbClr val="B8650A"/>
          </a:solidFill>
          <a:ln w="12700">
            <a:solidFill>
              <a:srgbClr val="B8650A"/>
            </a:solidFill>
            <a:prstDash val="solid"/>
          </a:ln>
        </p:spPr>
      </p:sp>
      <p:sp>
        <p:nvSpPr>
          <p:cNvPr id="17" name="Text 14"/>
          <p:cNvSpPr txBox="1"/>
          <p:nvPr/>
        </p:nvSpPr>
        <p:spPr>
          <a:xfrm>
            <a:off x="4389120" y="1371600"/>
            <a:ext cx="333756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ALTERNATIVA 2</a:t>
            </a:r>
            <a:endParaRPr lang="en-US" sz="1050" dirty="0"/>
          </a:p>
        </p:txBody>
      </p:sp>
      <p:sp>
        <p:nvSpPr>
          <p:cNvPr id="18" name="Text 15"/>
          <p:cNvSpPr txBox="1"/>
          <p:nvPr/>
        </p:nvSpPr>
        <p:spPr>
          <a:xfrm>
            <a:off x="4389120" y="1600200"/>
            <a:ext cx="3337560" cy="53035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App Android nativa en Java con la inferencia en un servidor</a:t>
            </a:r>
            <a:endParaRPr lang="en-US" sz="1250" dirty="0"/>
          </a:p>
        </p:txBody>
      </p:sp>
      <p:sp>
        <p:nvSpPr>
          <p:cNvPr id="19" name="Text 16"/>
          <p:cNvSpPr txBox="1"/>
          <p:nvPr/>
        </p:nvSpPr>
        <p:spPr>
          <a:xfrm>
            <a:off x="4389120" y="2231136"/>
            <a:ext cx="3337560" cy="256032"/>
          </a:xfrm>
          <a:prstGeom prst="rect">
            <a:avLst/>
          </a:prstGeom>
          <a:noFill/>
          <a:ln/>
        </p:spPr>
        <p:txBody>
          <a:bodyPr wrap="square" lIns="0" tIns="0" rIns="0" bIns="0" rtlCol="0" anchor="ctr"/>
          <a:lstStyle/>
          <a:p>
            <a:pPr indent="0" marL="0">
              <a:buNone/>
            </a:pPr>
            <a:r>
              <a:rPr lang="en-US" sz="1150" b="1" dirty="0">
                <a:solidFill>
                  <a:srgbClr val="262626"/>
                </a:solidFill>
                <a:latin typeface="Calibri" pitchFamily="34" charset="0"/>
                <a:ea typeface="Calibri" pitchFamily="34" charset="-122"/>
                <a:cs typeface="Calibri" pitchFamily="34" charset="-120"/>
              </a:rPr>
              <a:t>Pantallas: 7   ·   Java: ≈ 85 %</a:t>
            </a:r>
            <a:endParaRPr lang="en-US" sz="1150" dirty="0"/>
          </a:p>
        </p:txBody>
      </p:sp>
      <p:sp>
        <p:nvSpPr>
          <p:cNvPr id="20" name="Text 17"/>
          <p:cNvSpPr txBox="1"/>
          <p:nvPr/>
        </p:nvSpPr>
        <p:spPr>
          <a:xfrm>
            <a:off x="4389120" y="2542032"/>
            <a:ext cx="3337560" cy="2011680"/>
          </a:xfrm>
          <a:prstGeom prst="rect">
            <a:avLst/>
          </a:prstGeom>
          <a:noFill/>
          <a:ln/>
        </p:spPr>
        <p:txBody>
          <a:bodyPr wrap="square" lIns="0" tIns="0" rIns="0" bIns="0" rtlCol="0" anchor="t"/>
          <a:lstStyle/>
          <a:p>
            <a:pPr indent="0" marL="0">
              <a:spcAft>
                <a:spcPts val="300"/>
              </a:spcAft>
              <a:buNone/>
            </a:pPr>
            <a:r>
              <a:rPr lang="en-US" sz="1050" b="1" dirty="0">
                <a:solidFill>
                  <a:srgbClr val="B8650A"/>
                </a:solidFill>
                <a:latin typeface="Calibri" pitchFamily="34" charset="0"/>
                <a:ea typeface="Calibri" pitchFamily="34" charset="-122"/>
                <a:cs typeface="Calibri" pitchFamily="34" charset="-120"/>
              </a:rPr>
              <a:t>A FAVOR</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Funciona en teléfonos de gama de entrada.</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Permite modelos más grandes en el servidor.</a:t>
            </a:r>
            <a:endParaRPr lang="en-US" sz="1050" dirty="0"/>
          </a:p>
          <a:p>
            <a:pPr indent="0" marL="0">
              <a:spcAft>
                <a:spcPts val="300"/>
              </a:spcAft>
              <a:buNone/>
            </a:pPr>
            <a:r>
              <a:rPr lang="en-US" sz="1050" b="1" dirty="0">
                <a:solidFill>
                  <a:srgbClr val="C00000"/>
                </a:solidFill>
                <a:latin typeface="Calibri" pitchFamily="34" charset="0"/>
                <a:ea typeface="Calibri" pitchFamily="34" charset="-122"/>
                <a:cs typeface="Calibri" pitchFamily="34" charset="-120"/>
              </a:rPr>
              <a:t>EN CONTRA</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Sin conexión no lee facturas: solo las encola.</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Las fotos viajan al servidor; hay que proteger datos tributarios.</a:t>
            </a:r>
            <a:endParaRPr lang="en-US" sz="1050" dirty="0"/>
          </a:p>
        </p:txBody>
      </p:sp>
      <p:sp>
        <p:nvSpPr>
          <p:cNvPr id="21" name="Shape 18"/>
          <p:cNvSpPr/>
          <p:nvPr/>
        </p:nvSpPr>
        <p:spPr>
          <a:xfrm>
            <a:off x="8001000" y="1298448"/>
            <a:ext cx="3611880" cy="3337560"/>
          </a:xfrm>
          <a:prstGeom prst="rect">
            <a:avLst/>
          </a:prstGeom>
          <a:solidFill>
            <a:srgbClr val="FFFFFF"/>
          </a:solidFill>
          <a:ln w="19050">
            <a:solidFill>
              <a:srgbClr val="404040"/>
            </a:solidFill>
            <a:prstDash val="solid"/>
          </a:ln>
        </p:spPr>
      </p:sp>
      <p:sp>
        <p:nvSpPr>
          <p:cNvPr id="22" name="Shape 19"/>
          <p:cNvSpPr/>
          <p:nvPr/>
        </p:nvSpPr>
        <p:spPr>
          <a:xfrm>
            <a:off x="8001000" y="1298448"/>
            <a:ext cx="3611880" cy="868680"/>
          </a:xfrm>
          <a:prstGeom prst="rect">
            <a:avLst/>
          </a:prstGeom>
          <a:solidFill>
            <a:srgbClr val="404040"/>
          </a:solidFill>
          <a:ln w="12700">
            <a:solidFill>
              <a:srgbClr val="404040"/>
            </a:solidFill>
            <a:prstDash val="solid"/>
          </a:ln>
        </p:spPr>
      </p:sp>
      <p:sp>
        <p:nvSpPr>
          <p:cNvPr id="23" name="Text 20"/>
          <p:cNvSpPr txBox="1"/>
          <p:nvPr/>
        </p:nvSpPr>
        <p:spPr>
          <a:xfrm>
            <a:off x="8138160" y="1371600"/>
            <a:ext cx="3337560" cy="2286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ALTERNATIVA 3</a:t>
            </a:r>
            <a:endParaRPr lang="en-US" sz="1050" dirty="0"/>
          </a:p>
        </p:txBody>
      </p:sp>
      <p:sp>
        <p:nvSpPr>
          <p:cNvPr id="24" name="Text 21"/>
          <p:cNvSpPr txBox="1"/>
          <p:nvPr/>
        </p:nvSpPr>
        <p:spPr>
          <a:xfrm>
            <a:off x="8138160" y="1600200"/>
            <a:ext cx="3337560" cy="53035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Aplicación web en Java con un servicio de extracción de terceros</a:t>
            </a:r>
            <a:endParaRPr lang="en-US" sz="1250" dirty="0"/>
          </a:p>
        </p:txBody>
      </p:sp>
      <p:sp>
        <p:nvSpPr>
          <p:cNvPr id="25" name="Text 22"/>
          <p:cNvSpPr txBox="1"/>
          <p:nvPr/>
        </p:nvSpPr>
        <p:spPr>
          <a:xfrm>
            <a:off x="8138160" y="2231136"/>
            <a:ext cx="3337560" cy="256032"/>
          </a:xfrm>
          <a:prstGeom prst="rect">
            <a:avLst/>
          </a:prstGeom>
          <a:noFill/>
          <a:ln/>
        </p:spPr>
        <p:txBody>
          <a:bodyPr wrap="square" lIns="0" tIns="0" rIns="0" bIns="0" rtlCol="0" anchor="ctr"/>
          <a:lstStyle/>
          <a:p>
            <a:pPr indent="0" marL="0">
              <a:buNone/>
            </a:pPr>
            <a:r>
              <a:rPr lang="en-US" sz="1150" b="1" dirty="0">
                <a:solidFill>
                  <a:srgbClr val="262626"/>
                </a:solidFill>
                <a:latin typeface="Calibri" pitchFamily="34" charset="0"/>
                <a:ea typeface="Calibri" pitchFamily="34" charset="-122"/>
                <a:cs typeface="Calibri" pitchFamily="34" charset="-120"/>
              </a:rPr>
              <a:t>Pantallas: 6   ·   Java: ≈ 80 %</a:t>
            </a:r>
            <a:endParaRPr lang="en-US" sz="1150" dirty="0"/>
          </a:p>
        </p:txBody>
      </p:sp>
      <p:sp>
        <p:nvSpPr>
          <p:cNvPr id="26" name="Text 23"/>
          <p:cNvSpPr txBox="1"/>
          <p:nvPr/>
        </p:nvSpPr>
        <p:spPr>
          <a:xfrm>
            <a:off x="8138160" y="2542032"/>
            <a:ext cx="3337560" cy="2011680"/>
          </a:xfrm>
          <a:prstGeom prst="rect">
            <a:avLst/>
          </a:prstGeom>
          <a:noFill/>
          <a:ln/>
        </p:spPr>
        <p:txBody>
          <a:bodyPr wrap="square" lIns="0" tIns="0" rIns="0" bIns="0" rtlCol="0" anchor="t"/>
          <a:lstStyle/>
          <a:p>
            <a:pPr indent="0" marL="0">
              <a:spcAft>
                <a:spcPts val="300"/>
              </a:spcAft>
              <a:buNone/>
            </a:pPr>
            <a:r>
              <a:rPr lang="en-US" sz="1050" b="1" dirty="0">
                <a:solidFill>
                  <a:srgbClr val="1F4E79"/>
                </a:solidFill>
                <a:latin typeface="Calibri" pitchFamily="34" charset="0"/>
                <a:ea typeface="Calibri" pitchFamily="34" charset="-122"/>
                <a:cs typeface="Calibri" pitchFamily="34" charset="-120"/>
              </a:rPr>
              <a:t>A FAVOR</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Menor esfuerzo de construcción: no se entrena ni despliega un modelo.</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No requiere instalar nada en el teléfono.</a:t>
            </a:r>
            <a:endParaRPr lang="en-US" sz="1050" dirty="0"/>
          </a:p>
          <a:p>
            <a:pPr indent="0" marL="0">
              <a:spcAft>
                <a:spcPts val="300"/>
              </a:spcAft>
              <a:buNone/>
            </a:pPr>
            <a:r>
              <a:rPr lang="en-US" sz="1050" b="1" dirty="0">
                <a:solidFill>
                  <a:srgbClr val="C00000"/>
                </a:solidFill>
                <a:latin typeface="Calibri" pitchFamily="34" charset="0"/>
                <a:ea typeface="Calibri" pitchFamily="34" charset="-122"/>
                <a:cs typeface="Calibri" pitchFamily="34" charset="-120"/>
              </a:rPr>
              <a:t>EN CONTRA</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No admite ajuste fino: el modelo del proveedor es cerrado.</a:t>
            </a:r>
            <a:endParaRPr lang="en-US" sz="1050" dirty="0"/>
          </a:p>
          <a:p>
            <a:pPr marL="127000" indent="-127000">
              <a:spcAft>
                <a:spcPts val="300"/>
              </a:spcAft>
              <a:buSzPct val="100000"/>
              <a:buChar char="•"/>
            </a:pPr>
            <a:r>
              <a:rPr lang="en-US" sz="1050" dirty="0">
                <a:solidFill>
                  <a:srgbClr val="262626"/>
                </a:solidFill>
                <a:latin typeface="Calibri" pitchFamily="34" charset="0"/>
                <a:ea typeface="Calibri" pitchFamily="34" charset="-122"/>
                <a:cs typeface="Calibri" pitchFamily="34" charset="-120"/>
              </a:rPr>
              <a:t>Cobra por documento procesado.</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4754880"/>
          <a:ext cx="6949440" cy="914400"/>
        </p:xfrm>
        <a:graphic>
          <a:graphicData uri="http://schemas.openxmlformats.org/drawingml/2006/table">
            <a:tbl>
              <a:tblPr/>
              <a:tblGrid>
                <a:gridCol w="3840480"/>
                <a:gridCol w="777240"/>
                <a:gridCol w="777240"/>
                <a:gridCol w="777240"/>
                <a:gridCol w="777240"/>
              </a:tblGrid>
              <a:tr h="18288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Criterio de decisión</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Peso</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A1</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A2</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A3</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r>
              <a:tr h="182880">
                <a:tc>
                  <a:txBody>
                    <a:bodyPr/>
                    <a:lstStyle/>
                    <a:p>
                      <a:pPr algn="l" indent="0" marL="0">
                        <a:buNone/>
                      </a:pPr>
                      <a:r>
                        <a:rPr lang="en-US" sz="950" dirty="0">
                          <a:solidFill>
                            <a:srgbClr val="262626"/>
                          </a:solidFill>
                          <a:latin typeface="Calibri" pitchFamily="34" charset="0"/>
                          <a:ea typeface="Calibri" pitchFamily="34" charset="-122"/>
                          <a:cs typeface="Calibri" pitchFamily="34" charset="-120"/>
                        </a:rPr>
                        <a:t>Permite el ajuste fino sobre facturas peruanas</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25 %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262626"/>
                          </a:solidFill>
                          <a:latin typeface="Calibri" pitchFamily="34" charset="0"/>
                          <a:ea typeface="Calibri" pitchFamily="34" charset="-122"/>
                          <a:cs typeface="Calibri" pitchFamily="34" charset="-120"/>
                        </a:rPr>
                        <a:t>Funciona sin conexión, incluida la extracción</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20 %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182880">
                <a:tc>
                  <a:txBody>
                    <a:bodyPr/>
                    <a:lstStyle/>
                    <a:p>
                      <a:pPr algn="l" indent="0" marL="0">
                        <a:buNone/>
                      </a:pPr>
                      <a:r>
                        <a:rPr lang="en-US" sz="950" dirty="0">
                          <a:solidFill>
                            <a:srgbClr val="262626"/>
                          </a:solidFill>
                          <a:latin typeface="Calibri" pitchFamily="34" charset="0"/>
                          <a:ea typeface="Calibri" pitchFamily="34" charset="-122"/>
                          <a:cs typeface="Calibri" pitchFamily="34" charset="-120"/>
                        </a:rPr>
                        <a:t>Privacidad de los datos tributarios</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15 %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262626"/>
                          </a:solidFill>
                          <a:latin typeface="Calibri" pitchFamily="34" charset="0"/>
                          <a:ea typeface="Calibri" pitchFamily="34" charset="-122"/>
                          <a:cs typeface="Calibri" pitchFamily="34" charset="-120"/>
                        </a:rPr>
                        <a:t>Costo operativo por documento</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15 %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182880">
                <a:tc>
                  <a:txBody>
                    <a:bodyPr/>
                    <a:lstStyle/>
                    <a:p>
                      <a:pPr algn="l" indent="0" marL="0">
                        <a:buNone/>
                      </a:pPr>
                      <a:r>
                        <a:rPr lang="en-US" sz="950" dirty="0">
                          <a:solidFill>
                            <a:srgbClr val="262626"/>
                          </a:solidFill>
                          <a:latin typeface="Calibri" pitchFamily="34" charset="0"/>
                          <a:ea typeface="Calibri" pitchFamily="34" charset="-122"/>
                          <a:cs typeface="Calibri" pitchFamily="34" charset="-120"/>
                        </a:rPr>
                        <a:t>Cobertura de equipos del segmento</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15 %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262626"/>
                          </a:solidFill>
                          <a:latin typeface="Calibri" pitchFamily="34" charset="0"/>
                          <a:ea typeface="Calibri" pitchFamily="34" charset="-122"/>
                          <a:cs typeface="Calibri" pitchFamily="34" charset="-120"/>
                        </a:rPr>
                        <a:t>Esfuerzo de construcción</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10 %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2626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182880">
                <a:tc>
                  <a:txBody>
                    <a:bodyPr/>
                    <a:lstStyle/>
                    <a:p>
                      <a:pPr algn="l" indent="0" marL="0">
                        <a:buNone/>
                      </a:pPr>
                      <a:r>
                        <a:rPr lang="en-US" sz="950" b="1" dirty="0">
                          <a:solidFill>
                            <a:srgbClr val="262626"/>
                          </a:solidFill>
                          <a:latin typeface="Calibri" pitchFamily="34" charset="0"/>
                          <a:ea typeface="Calibri" pitchFamily="34" charset="-122"/>
                          <a:cs typeface="Calibri" pitchFamily="34" charset="-120"/>
                        </a:rPr>
                        <a:t>Puntaje ponderado</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2"/>
                    </a:solidFill>
                  </a:tcPr>
                </a:tc>
                <a:tc>
                  <a:txBody>
                    <a:bodyPr/>
                    <a:lstStyle/>
                    <a:p>
                      <a:pPr algn="ctr" indent="0" marL="0">
                        <a:buNone/>
                      </a:pPr>
                      <a:r>
                        <a:rPr lang="en-US" sz="950" b="1" dirty="0">
                          <a:solidFill>
                            <a:srgbClr val="262626"/>
                          </a:solidFill>
                          <a:latin typeface="Calibri" pitchFamily="34" charset="0"/>
                          <a:ea typeface="Calibri" pitchFamily="34" charset="-122"/>
                          <a:cs typeface="Calibri" pitchFamily="34" charset="-120"/>
                        </a:rPr>
                        <a:t>100 %</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4,40</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E7B4F"/>
                    </a:solidFill>
                  </a:tcPr>
                </a:tc>
                <a:tc>
                  <a:txBody>
                    <a:bodyPr/>
                    <a:lstStyle/>
                    <a:p>
                      <a:pPr algn="ctr" indent="0" marL="0">
                        <a:buNone/>
                      </a:pPr>
                      <a:r>
                        <a:rPr lang="en-US" sz="950" b="1" dirty="0">
                          <a:solidFill>
                            <a:srgbClr val="262626"/>
                          </a:solidFill>
                          <a:latin typeface="Calibri" pitchFamily="34" charset="0"/>
                          <a:ea typeface="Calibri" pitchFamily="34" charset="-122"/>
                          <a:cs typeface="Calibri" pitchFamily="34" charset="-120"/>
                        </a:rPr>
                        <a:t>3,60</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2"/>
                    </a:solidFill>
                  </a:tcPr>
                </a:tc>
                <a:tc>
                  <a:txBody>
                    <a:bodyPr/>
                    <a:lstStyle/>
                    <a:p>
                      <a:pPr algn="ctr" indent="0" marL="0">
                        <a:buNone/>
                      </a:pPr>
                      <a:r>
                        <a:rPr lang="en-US" sz="950" b="1" dirty="0">
                          <a:solidFill>
                            <a:srgbClr val="262626"/>
                          </a:solidFill>
                          <a:latin typeface="Calibri" pitchFamily="34" charset="0"/>
                          <a:ea typeface="Calibri" pitchFamily="34" charset="-122"/>
                          <a:cs typeface="Calibri" pitchFamily="34" charset="-120"/>
                        </a:rPr>
                        <a:t>2,15</a:t>
                      </a:r>
                      <a:endParaRPr lang="en-US" sz="950" dirty="0">
                        <a:latin typeface="Calibri" charset="0"/>
                        <a:ea typeface="Calibri" charset="0"/>
                        <a:cs typeface="Calibri" charset="0"/>
                      </a:endParaRPr>
                    </a:p>
                  </a:txBody>
                  <a:tcPr marL="64008" marR="64008"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CE6F2"/>
                    </a:solidFill>
                  </a:tcPr>
                </a:tc>
              </a:tr>
            </a:tbl>
          </a:graphicData>
        </a:graphic>
      </p:graphicFrame>
      <p:sp>
        <p:nvSpPr>
          <p:cNvPr id="28" name="Shape 24"/>
          <p:cNvSpPr/>
          <p:nvPr/>
        </p:nvSpPr>
        <p:spPr>
          <a:xfrm>
            <a:off x="7635240" y="4754880"/>
            <a:ext cx="4023360" cy="1554480"/>
          </a:xfrm>
          <a:prstGeom prst="rect">
            <a:avLst/>
          </a:prstGeom>
          <a:solidFill>
            <a:srgbClr val="E3F1E8"/>
          </a:solidFill>
          <a:ln w="15875">
            <a:solidFill>
              <a:srgbClr val="1E7B4F"/>
            </a:solidFill>
            <a:prstDash val="solid"/>
          </a:ln>
        </p:spPr>
      </p:sp>
      <p:sp>
        <p:nvSpPr>
          <p:cNvPr id="29" name="Text 25"/>
          <p:cNvSpPr txBox="1"/>
          <p:nvPr/>
        </p:nvSpPr>
        <p:spPr>
          <a:xfrm>
            <a:off x="7818120" y="4846320"/>
            <a:ext cx="3657600" cy="274320"/>
          </a:xfrm>
          <a:prstGeom prst="rect">
            <a:avLst/>
          </a:prstGeom>
          <a:noFill/>
          <a:ln/>
        </p:spPr>
        <p:txBody>
          <a:bodyPr wrap="square" lIns="0" tIns="0" rIns="0" bIns="0" rtlCol="0" anchor="ctr"/>
          <a:lstStyle/>
          <a:p>
            <a:pPr indent="0" marL="0">
              <a:buNone/>
            </a:pPr>
            <a:r>
              <a:rPr lang="en-US" sz="1200" b="1" dirty="0">
                <a:solidFill>
                  <a:srgbClr val="1E7B4F"/>
                </a:solidFill>
                <a:latin typeface="Calibri" pitchFamily="34" charset="0"/>
                <a:ea typeface="Calibri" pitchFamily="34" charset="-122"/>
                <a:cs typeface="Calibri" pitchFamily="34" charset="-120"/>
              </a:rPr>
              <a:t>POR QUÉ A1</a:t>
            </a:r>
            <a:endParaRPr lang="en-US" sz="1200" dirty="0"/>
          </a:p>
        </p:txBody>
      </p:sp>
      <p:sp>
        <p:nvSpPr>
          <p:cNvPr id="30" name="Text 26"/>
          <p:cNvSpPr txBox="1"/>
          <p:nvPr/>
        </p:nvSpPr>
        <p:spPr>
          <a:xfrm>
            <a:off x="7818120" y="5138928"/>
            <a:ext cx="3657600" cy="1097280"/>
          </a:xfrm>
          <a:prstGeom prst="rect">
            <a:avLst/>
          </a:prstGeom>
          <a:noFill/>
          <a:ln/>
        </p:spPr>
        <p:txBody>
          <a:bodyPr wrap="square" lIns="0" tIns="0" rIns="0" bIns="0" rtlCol="0" anchor="t"/>
          <a:lstStyle/>
          <a:p>
            <a:pPr indent="0" marL="0">
              <a:buNone/>
            </a:pPr>
            <a:r>
              <a:rPr lang="en-US" sz="1100" dirty="0">
                <a:solidFill>
                  <a:srgbClr val="262626"/>
                </a:solidFill>
                <a:latin typeface="Calibri" pitchFamily="34" charset="0"/>
                <a:ea typeface="Calibri" pitchFamily="34" charset="-122"/>
                <a:cs typeface="Calibri" pitchFamily="34" charset="-120"/>
              </a:rPr>
              <a:t>Es la única que permite el ajuste fino y lee facturas sin conexión. Su costo —un teléfono de gama media— se asume y se mitiga con E2B y un modo manual.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ANEXO 3</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Herramientas de gestión del proyecto</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Mateo Velásquez, Morán</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7</a:t>
            </a:r>
            <a:endParaRPr lang="en-US" sz="1100" dirty="0"/>
          </a:p>
        </p:txBody>
      </p:sp>
      <p:sp>
        <p:nvSpPr>
          <p:cNvPr id="9" name="Shape 6"/>
          <p:cNvSpPr/>
          <p:nvPr/>
        </p:nvSpPr>
        <p:spPr>
          <a:xfrm>
            <a:off x="502920" y="1298448"/>
            <a:ext cx="3611880" cy="2148840"/>
          </a:xfrm>
          <a:prstGeom prst="rect">
            <a:avLst/>
          </a:prstGeom>
          <a:solidFill>
            <a:srgbClr val="FFFFFF"/>
          </a:solidFill>
          <a:ln w="15875">
            <a:solidFill>
              <a:srgbClr val="1F4E79"/>
            </a:solidFill>
            <a:prstDash val="solid"/>
          </a:ln>
        </p:spPr>
      </p:sp>
      <p:sp>
        <p:nvSpPr>
          <p:cNvPr id="10" name="Shape 7"/>
          <p:cNvSpPr/>
          <p:nvPr/>
        </p:nvSpPr>
        <p:spPr>
          <a:xfrm>
            <a:off x="502920" y="1298448"/>
            <a:ext cx="3611880" cy="64008"/>
          </a:xfrm>
          <a:prstGeom prst="rect">
            <a:avLst/>
          </a:prstGeom>
          <a:solidFill>
            <a:srgbClr val="1F4E79"/>
          </a:solidFill>
          <a:ln w="12700">
            <a:solidFill>
              <a:srgbClr val="1F4E79"/>
            </a:solidFill>
            <a:prstDash val="solid"/>
          </a:ln>
        </p:spPr>
      </p:sp>
      <p:sp>
        <p:nvSpPr>
          <p:cNvPr id="11" name="Text 8"/>
          <p:cNvSpPr txBox="1"/>
          <p:nvPr/>
        </p:nvSpPr>
        <p:spPr>
          <a:xfrm>
            <a:off x="640080" y="1426464"/>
            <a:ext cx="333756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PROJECT CHARTER</a:t>
            </a:r>
            <a:endParaRPr lang="en-US" sz="1300" dirty="0"/>
          </a:p>
        </p:txBody>
      </p:sp>
      <p:sp>
        <p:nvSpPr>
          <p:cNvPr id="12" name="Text 9"/>
          <p:cNvSpPr txBox="1"/>
          <p:nvPr/>
        </p:nvSpPr>
        <p:spPr>
          <a:xfrm>
            <a:off x="640080" y="1755648"/>
            <a:ext cx="3337560" cy="1600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Propósito, alcance, interesados, supuestos y restricciones</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Líder: Diego Aarón Damián Valdivia</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Éxito: total y categoría coinciden con el cálculo de control; lectura ≤ 20 s en el teléfono</a:t>
            </a:r>
            <a:endParaRPr lang="en-US" sz="1100" dirty="0"/>
          </a:p>
        </p:txBody>
      </p:sp>
      <p:sp>
        <p:nvSpPr>
          <p:cNvPr id="13" name="Shape 10"/>
          <p:cNvSpPr/>
          <p:nvPr/>
        </p:nvSpPr>
        <p:spPr>
          <a:xfrm>
            <a:off x="4270248" y="1298448"/>
            <a:ext cx="3611880" cy="2148840"/>
          </a:xfrm>
          <a:prstGeom prst="rect">
            <a:avLst/>
          </a:prstGeom>
          <a:solidFill>
            <a:srgbClr val="FFFFFF"/>
          </a:solidFill>
          <a:ln w="15875">
            <a:solidFill>
              <a:srgbClr val="1E7B4F"/>
            </a:solidFill>
            <a:prstDash val="solid"/>
          </a:ln>
        </p:spPr>
      </p:sp>
      <p:sp>
        <p:nvSpPr>
          <p:cNvPr id="14" name="Shape 11"/>
          <p:cNvSpPr/>
          <p:nvPr/>
        </p:nvSpPr>
        <p:spPr>
          <a:xfrm>
            <a:off x="4270248" y="1298448"/>
            <a:ext cx="3611880" cy="64008"/>
          </a:xfrm>
          <a:prstGeom prst="rect">
            <a:avLst/>
          </a:prstGeom>
          <a:solidFill>
            <a:srgbClr val="1E7B4F"/>
          </a:solidFill>
          <a:ln w="12700">
            <a:solidFill>
              <a:srgbClr val="1E7B4F"/>
            </a:solidFill>
            <a:prstDash val="solid"/>
          </a:ln>
        </p:spPr>
      </p:sp>
      <p:sp>
        <p:nvSpPr>
          <p:cNvPr id="15" name="Text 12"/>
          <p:cNvSpPr txBox="1"/>
          <p:nvPr/>
        </p:nvSpPr>
        <p:spPr>
          <a:xfrm>
            <a:off x="4407408" y="1426464"/>
            <a:ext cx="3337560" cy="292608"/>
          </a:xfrm>
          <a:prstGeom prst="rect">
            <a:avLst/>
          </a:prstGeom>
          <a:noFill/>
          <a:ln/>
        </p:spPr>
        <p:txBody>
          <a:bodyPr wrap="square" lIns="0" tIns="0" rIns="0" bIns="0" rtlCol="0" anchor="ctr"/>
          <a:lstStyle/>
          <a:p>
            <a:pPr indent="0" marL="0">
              <a:buNone/>
            </a:pPr>
            <a:r>
              <a:rPr lang="en-US" sz="1300" b="1" dirty="0">
                <a:solidFill>
                  <a:srgbClr val="1E7B4F"/>
                </a:solidFill>
                <a:latin typeface="Calibri" pitchFamily="34" charset="0"/>
                <a:ea typeface="Calibri" pitchFamily="34" charset="-122"/>
                <a:cs typeface="Calibri" pitchFamily="34" charset="-120"/>
              </a:rPr>
              <a:t>WBS</a:t>
            </a:r>
            <a:endParaRPr lang="en-US" sz="1300" dirty="0"/>
          </a:p>
        </p:txBody>
      </p:sp>
      <p:sp>
        <p:nvSpPr>
          <p:cNvPr id="16" name="Text 13"/>
          <p:cNvSpPr txBox="1"/>
          <p:nvPr/>
        </p:nvSpPr>
        <p:spPr>
          <a:xfrm>
            <a:off x="4407408" y="1755648"/>
            <a:ext cx="3337560" cy="1600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7 entregables y 34 paquetes de trabajo</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Gestión · Análisis · Diseño · Modelo · Construcción · Pruebas · Documentación</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Cada paquete con responsable (Anexo 3.2)</a:t>
            </a:r>
            <a:endParaRPr lang="en-US" sz="1100" dirty="0"/>
          </a:p>
        </p:txBody>
      </p:sp>
      <p:sp>
        <p:nvSpPr>
          <p:cNvPr id="17" name="Shape 14"/>
          <p:cNvSpPr/>
          <p:nvPr/>
        </p:nvSpPr>
        <p:spPr>
          <a:xfrm>
            <a:off x="8046720" y="1298448"/>
            <a:ext cx="3611880" cy="2148840"/>
          </a:xfrm>
          <a:prstGeom prst="rect">
            <a:avLst/>
          </a:prstGeom>
          <a:solidFill>
            <a:srgbClr val="FFFFFF"/>
          </a:solidFill>
          <a:ln w="15875">
            <a:solidFill>
              <a:srgbClr val="C00000"/>
            </a:solidFill>
            <a:prstDash val="solid"/>
          </a:ln>
        </p:spPr>
      </p:sp>
      <p:sp>
        <p:nvSpPr>
          <p:cNvPr id="18" name="Shape 15"/>
          <p:cNvSpPr/>
          <p:nvPr/>
        </p:nvSpPr>
        <p:spPr>
          <a:xfrm>
            <a:off x="8046720" y="1298448"/>
            <a:ext cx="3611880" cy="64008"/>
          </a:xfrm>
          <a:prstGeom prst="rect">
            <a:avLst/>
          </a:prstGeom>
          <a:solidFill>
            <a:srgbClr val="C00000"/>
          </a:solidFill>
          <a:ln w="12700">
            <a:solidFill>
              <a:srgbClr val="C00000"/>
            </a:solidFill>
            <a:prstDash val="solid"/>
          </a:ln>
        </p:spPr>
      </p:sp>
      <p:sp>
        <p:nvSpPr>
          <p:cNvPr id="19" name="Text 16"/>
          <p:cNvSpPr txBox="1"/>
          <p:nvPr/>
        </p:nvSpPr>
        <p:spPr>
          <a:xfrm>
            <a:off x="8183880" y="1426464"/>
            <a:ext cx="3337560" cy="292608"/>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RIESGOS PRINCIPALES</a:t>
            </a:r>
            <a:endParaRPr lang="en-US" sz="1300" dirty="0"/>
          </a:p>
        </p:txBody>
      </p:sp>
      <p:sp>
        <p:nvSpPr>
          <p:cNvPr id="20" name="Text 17"/>
          <p:cNvSpPr txBox="1"/>
          <p:nvPr/>
        </p:nvSpPr>
        <p:spPr>
          <a:xfrm>
            <a:off x="8183880" y="1755648"/>
            <a:ext cx="3337560" cy="1600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R1 El ajuste fino no mejora en fotos malas</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R4 La cuantización reduce la exactitud</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R5 El teléfono no alcanza el tiempo o la memoria</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Los siete con respuesta definida</a:t>
            </a:r>
            <a:endParaRPr lang="en-US" sz="1100" dirty="0"/>
          </a:p>
        </p:txBody>
      </p:sp>
      <p:sp>
        <p:nvSpPr>
          <p:cNvPr id="21" name="Shape 18"/>
          <p:cNvSpPr/>
          <p:nvPr/>
        </p:nvSpPr>
        <p:spPr>
          <a:xfrm>
            <a:off x="502920" y="3611880"/>
            <a:ext cx="7095744" cy="329184"/>
          </a:xfrm>
          <a:prstGeom prst="rect">
            <a:avLst/>
          </a:prstGeom>
          <a:solidFill>
            <a:srgbClr val="1F4E79"/>
          </a:solidFill>
          <a:ln w="12700">
            <a:solidFill>
              <a:srgbClr val="1F4E79"/>
            </a:solidFill>
            <a:prstDash val="solid"/>
          </a:ln>
        </p:spPr>
      </p:sp>
      <p:sp>
        <p:nvSpPr>
          <p:cNvPr id="22" name="Text 19"/>
          <p:cNvSpPr txBox="1"/>
          <p:nvPr/>
        </p:nvSpPr>
        <p:spPr>
          <a:xfrm>
            <a:off x="576072" y="3611880"/>
            <a:ext cx="265176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Entregable / semana</a:t>
            </a:r>
            <a:endParaRPr lang="en-US" sz="1050" dirty="0"/>
          </a:p>
        </p:txBody>
      </p:sp>
      <p:sp>
        <p:nvSpPr>
          <p:cNvPr id="23" name="Text 20"/>
          <p:cNvSpPr txBox="1"/>
          <p:nvPr/>
        </p:nvSpPr>
        <p:spPr>
          <a:xfrm>
            <a:off x="3154680"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21"/>
          <p:cNvSpPr txBox="1"/>
          <p:nvPr/>
        </p:nvSpPr>
        <p:spPr>
          <a:xfrm>
            <a:off x="3401568"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22"/>
          <p:cNvSpPr txBox="1"/>
          <p:nvPr/>
        </p:nvSpPr>
        <p:spPr>
          <a:xfrm>
            <a:off x="3648456"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Shape 23"/>
          <p:cNvSpPr/>
          <p:nvPr/>
        </p:nvSpPr>
        <p:spPr>
          <a:xfrm>
            <a:off x="3895344" y="3611880"/>
            <a:ext cx="246888" cy="329184"/>
          </a:xfrm>
          <a:prstGeom prst="rect">
            <a:avLst/>
          </a:prstGeom>
          <a:solidFill>
            <a:srgbClr val="C00000"/>
          </a:solidFill>
          <a:ln w="12700">
            <a:solidFill>
              <a:srgbClr val="C00000"/>
            </a:solidFill>
            <a:prstDash val="solid"/>
          </a:ln>
        </p:spPr>
      </p:sp>
      <p:sp>
        <p:nvSpPr>
          <p:cNvPr id="27" name="Text 24"/>
          <p:cNvSpPr txBox="1"/>
          <p:nvPr/>
        </p:nvSpPr>
        <p:spPr>
          <a:xfrm>
            <a:off x="3895344"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8" name="Text 25"/>
          <p:cNvSpPr txBox="1"/>
          <p:nvPr/>
        </p:nvSpPr>
        <p:spPr>
          <a:xfrm>
            <a:off x="4142232"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9" name="Text 26"/>
          <p:cNvSpPr txBox="1"/>
          <p:nvPr/>
        </p:nvSpPr>
        <p:spPr>
          <a:xfrm>
            <a:off x="4389120"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0" name="Text 27"/>
          <p:cNvSpPr txBox="1"/>
          <p:nvPr/>
        </p:nvSpPr>
        <p:spPr>
          <a:xfrm>
            <a:off x="4636008"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1" name="Shape 28"/>
          <p:cNvSpPr/>
          <p:nvPr/>
        </p:nvSpPr>
        <p:spPr>
          <a:xfrm>
            <a:off x="4882896" y="3611880"/>
            <a:ext cx="246888" cy="329184"/>
          </a:xfrm>
          <a:prstGeom prst="rect">
            <a:avLst/>
          </a:prstGeom>
          <a:solidFill>
            <a:srgbClr val="C00000"/>
          </a:solidFill>
          <a:ln w="12700">
            <a:solidFill>
              <a:srgbClr val="C00000"/>
            </a:solidFill>
            <a:prstDash val="solid"/>
          </a:ln>
        </p:spPr>
      </p:sp>
      <p:sp>
        <p:nvSpPr>
          <p:cNvPr id="32" name="Text 29"/>
          <p:cNvSpPr txBox="1"/>
          <p:nvPr/>
        </p:nvSpPr>
        <p:spPr>
          <a:xfrm>
            <a:off x="4882896"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3" name="Text 30"/>
          <p:cNvSpPr txBox="1"/>
          <p:nvPr/>
        </p:nvSpPr>
        <p:spPr>
          <a:xfrm>
            <a:off x="5129784"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34" name="Text 31"/>
          <p:cNvSpPr txBox="1"/>
          <p:nvPr/>
        </p:nvSpPr>
        <p:spPr>
          <a:xfrm>
            <a:off x="5376672"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35" name="Text 32"/>
          <p:cNvSpPr txBox="1"/>
          <p:nvPr/>
        </p:nvSpPr>
        <p:spPr>
          <a:xfrm>
            <a:off x="5623560"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11</a:t>
            </a:r>
            <a:endParaRPr lang="en-US" sz="900" dirty="0"/>
          </a:p>
        </p:txBody>
      </p:sp>
      <p:sp>
        <p:nvSpPr>
          <p:cNvPr id="36" name="Shape 33"/>
          <p:cNvSpPr/>
          <p:nvPr/>
        </p:nvSpPr>
        <p:spPr>
          <a:xfrm>
            <a:off x="5870448" y="3611880"/>
            <a:ext cx="246888" cy="329184"/>
          </a:xfrm>
          <a:prstGeom prst="rect">
            <a:avLst/>
          </a:prstGeom>
          <a:solidFill>
            <a:srgbClr val="C00000"/>
          </a:solidFill>
          <a:ln w="12700">
            <a:solidFill>
              <a:srgbClr val="C00000"/>
            </a:solidFill>
            <a:prstDash val="solid"/>
          </a:ln>
        </p:spPr>
      </p:sp>
      <p:sp>
        <p:nvSpPr>
          <p:cNvPr id="37" name="Text 34"/>
          <p:cNvSpPr txBox="1"/>
          <p:nvPr/>
        </p:nvSpPr>
        <p:spPr>
          <a:xfrm>
            <a:off x="5870448"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12</a:t>
            </a:r>
            <a:endParaRPr lang="en-US" sz="900" dirty="0"/>
          </a:p>
        </p:txBody>
      </p:sp>
      <p:sp>
        <p:nvSpPr>
          <p:cNvPr id="38" name="Text 35"/>
          <p:cNvSpPr txBox="1"/>
          <p:nvPr/>
        </p:nvSpPr>
        <p:spPr>
          <a:xfrm>
            <a:off x="6117336"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13</a:t>
            </a:r>
            <a:endParaRPr lang="en-US" sz="900" dirty="0"/>
          </a:p>
        </p:txBody>
      </p:sp>
      <p:sp>
        <p:nvSpPr>
          <p:cNvPr id="39" name="Text 36"/>
          <p:cNvSpPr txBox="1"/>
          <p:nvPr/>
        </p:nvSpPr>
        <p:spPr>
          <a:xfrm>
            <a:off x="6364224"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14</a:t>
            </a:r>
            <a:endParaRPr lang="en-US" sz="900" dirty="0"/>
          </a:p>
        </p:txBody>
      </p:sp>
      <p:sp>
        <p:nvSpPr>
          <p:cNvPr id="40" name="Text 37"/>
          <p:cNvSpPr txBox="1"/>
          <p:nvPr/>
        </p:nvSpPr>
        <p:spPr>
          <a:xfrm>
            <a:off x="6611112"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a:t>
            </a:r>
            <a:endParaRPr lang="en-US" sz="900" dirty="0"/>
          </a:p>
        </p:txBody>
      </p:sp>
      <p:sp>
        <p:nvSpPr>
          <p:cNvPr id="41" name="Text 38"/>
          <p:cNvSpPr txBox="1"/>
          <p:nvPr/>
        </p:nvSpPr>
        <p:spPr>
          <a:xfrm>
            <a:off x="6858000"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16</a:t>
            </a:r>
            <a:endParaRPr lang="en-US" sz="900" dirty="0"/>
          </a:p>
        </p:txBody>
      </p:sp>
      <p:sp>
        <p:nvSpPr>
          <p:cNvPr id="42" name="Text 39"/>
          <p:cNvSpPr txBox="1"/>
          <p:nvPr/>
        </p:nvSpPr>
        <p:spPr>
          <a:xfrm>
            <a:off x="7104888"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17</a:t>
            </a:r>
            <a:endParaRPr lang="en-US" sz="900" dirty="0"/>
          </a:p>
        </p:txBody>
      </p:sp>
      <p:sp>
        <p:nvSpPr>
          <p:cNvPr id="43" name="Shape 40"/>
          <p:cNvSpPr/>
          <p:nvPr/>
        </p:nvSpPr>
        <p:spPr>
          <a:xfrm>
            <a:off x="7351776" y="3611880"/>
            <a:ext cx="246888" cy="329184"/>
          </a:xfrm>
          <a:prstGeom prst="rect">
            <a:avLst/>
          </a:prstGeom>
          <a:solidFill>
            <a:srgbClr val="C00000"/>
          </a:solidFill>
          <a:ln w="12700">
            <a:solidFill>
              <a:srgbClr val="C00000"/>
            </a:solidFill>
            <a:prstDash val="solid"/>
          </a:ln>
        </p:spPr>
      </p:sp>
      <p:sp>
        <p:nvSpPr>
          <p:cNvPr id="44" name="Text 41"/>
          <p:cNvSpPr txBox="1"/>
          <p:nvPr/>
        </p:nvSpPr>
        <p:spPr>
          <a:xfrm>
            <a:off x="7351776" y="3611880"/>
            <a:ext cx="24688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18</a:t>
            </a:r>
            <a:endParaRPr lang="en-US" sz="900" dirty="0"/>
          </a:p>
        </p:txBody>
      </p:sp>
      <p:sp>
        <p:nvSpPr>
          <p:cNvPr id="45" name="Shape 42"/>
          <p:cNvSpPr/>
          <p:nvPr/>
        </p:nvSpPr>
        <p:spPr>
          <a:xfrm>
            <a:off x="502920" y="3941064"/>
            <a:ext cx="7095744" cy="329184"/>
          </a:xfrm>
          <a:prstGeom prst="rect">
            <a:avLst/>
          </a:prstGeom>
          <a:solidFill>
            <a:srgbClr val="FFFFFF"/>
          </a:solidFill>
          <a:ln w="6350">
            <a:solidFill>
              <a:srgbClr val="E0E0E0"/>
            </a:solidFill>
            <a:prstDash val="solid"/>
          </a:ln>
        </p:spPr>
      </p:sp>
      <p:sp>
        <p:nvSpPr>
          <p:cNvPr id="46" name="Text 43"/>
          <p:cNvSpPr txBox="1"/>
          <p:nvPr/>
        </p:nvSpPr>
        <p:spPr>
          <a:xfrm>
            <a:off x="576072" y="3941064"/>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1. Gestión del proyecto</a:t>
            </a:r>
            <a:endParaRPr lang="en-US" sz="1050" dirty="0"/>
          </a:p>
        </p:txBody>
      </p:sp>
      <p:sp>
        <p:nvSpPr>
          <p:cNvPr id="47" name="Shape 44"/>
          <p:cNvSpPr/>
          <p:nvPr/>
        </p:nvSpPr>
        <p:spPr>
          <a:xfrm>
            <a:off x="3419856" y="4005072"/>
            <a:ext cx="4160520" cy="201168"/>
          </a:xfrm>
          <a:prstGeom prst="rect">
            <a:avLst/>
          </a:prstGeom>
          <a:solidFill>
            <a:srgbClr val="1F4E79"/>
          </a:solidFill>
          <a:ln w="12700">
            <a:solidFill>
              <a:srgbClr val="1F4E79"/>
            </a:solidFill>
            <a:prstDash val="solid"/>
          </a:ln>
        </p:spPr>
      </p:sp>
      <p:sp>
        <p:nvSpPr>
          <p:cNvPr id="48" name="Shape 45"/>
          <p:cNvSpPr/>
          <p:nvPr/>
        </p:nvSpPr>
        <p:spPr>
          <a:xfrm>
            <a:off x="502920" y="4270248"/>
            <a:ext cx="7095744" cy="329184"/>
          </a:xfrm>
          <a:prstGeom prst="rect">
            <a:avLst/>
          </a:prstGeom>
          <a:solidFill>
            <a:srgbClr val="F2F2F2"/>
          </a:solidFill>
          <a:ln w="6350">
            <a:solidFill>
              <a:srgbClr val="E0E0E0"/>
            </a:solidFill>
            <a:prstDash val="solid"/>
          </a:ln>
        </p:spPr>
      </p:sp>
      <p:sp>
        <p:nvSpPr>
          <p:cNvPr id="49" name="Text 46"/>
          <p:cNvSpPr txBox="1"/>
          <p:nvPr/>
        </p:nvSpPr>
        <p:spPr>
          <a:xfrm>
            <a:off x="576072" y="4270248"/>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2. Análisis</a:t>
            </a:r>
            <a:endParaRPr lang="en-US" sz="1050" dirty="0"/>
          </a:p>
        </p:txBody>
      </p:sp>
      <p:sp>
        <p:nvSpPr>
          <p:cNvPr id="50" name="Shape 47"/>
          <p:cNvSpPr/>
          <p:nvPr/>
        </p:nvSpPr>
        <p:spPr>
          <a:xfrm>
            <a:off x="3419856" y="4334256"/>
            <a:ext cx="704088" cy="201168"/>
          </a:xfrm>
          <a:prstGeom prst="rect">
            <a:avLst/>
          </a:prstGeom>
          <a:solidFill>
            <a:srgbClr val="1E7B4F"/>
          </a:solidFill>
          <a:ln w="12700">
            <a:solidFill>
              <a:srgbClr val="1E7B4F"/>
            </a:solidFill>
            <a:prstDash val="solid"/>
          </a:ln>
        </p:spPr>
      </p:sp>
      <p:sp>
        <p:nvSpPr>
          <p:cNvPr id="51" name="Shape 48"/>
          <p:cNvSpPr/>
          <p:nvPr/>
        </p:nvSpPr>
        <p:spPr>
          <a:xfrm>
            <a:off x="502920" y="4599432"/>
            <a:ext cx="7095744" cy="329184"/>
          </a:xfrm>
          <a:prstGeom prst="rect">
            <a:avLst/>
          </a:prstGeom>
          <a:solidFill>
            <a:srgbClr val="FFFFFF"/>
          </a:solidFill>
          <a:ln w="6350">
            <a:solidFill>
              <a:srgbClr val="E0E0E0"/>
            </a:solidFill>
            <a:prstDash val="solid"/>
          </a:ln>
        </p:spPr>
      </p:sp>
      <p:sp>
        <p:nvSpPr>
          <p:cNvPr id="52" name="Text 49"/>
          <p:cNvSpPr txBox="1"/>
          <p:nvPr/>
        </p:nvSpPr>
        <p:spPr>
          <a:xfrm>
            <a:off x="576072" y="4599432"/>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3. Diseño</a:t>
            </a:r>
            <a:endParaRPr lang="en-US" sz="1050" dirty="0"/>
          </a:p>
        </p:txBody>
      </p:sp>
      <p:sp>
        <p:nvSpPr>
          <p:cNvPr id="53" name="Shape 50"/>
          <p:cNvSpPr/>
          <p:nvPr/>
        </p:nvSpPr>
        <p:spPr>
          <a:xfrm>
            <a:off x="3913632" y="4663440"/>
            <a:ext cx="1197864" cy="201168"/>
          </a:xfrm>
          <a:prstGeom prst="rect">
            <a:avLst/>
          </a:prstGeom>
          <a:solidFill>
            <a:srgbClr val="B8650A"/>
          </a:solidFill>
          <a:ln w="12700">
            <a:solidFill>
              <a:srgbClr val="B8650A"/>
            </a:solidFill>
            <a:prstDash val="solid"/>
          </a:ln>
        </p:spPr>
      </p:sp>
      <p:sp>
        <p:nvSpPr>
          <p:cNvPr id="54" name="Shape 51"/>
          <p:cNvSpPr/>
          <p:nvPr/>
        </p:nvSpPr>
        <p:spPr>
          <a:xfrm>
            <a:off x="502920" y="4928616"/>
            <a:ext cx="7095744" cy="329184"/>
          </a:xfrm>
          <a:prstGeom prst="rect">
            <a:avLst/>
          </a:prstGeom>
          <a:solidFill>
            <a:srgbClr val="F2F2F2"/>
          </a:solidFill>
          <a:ln w="6350">
            <a:solidFill>
              <a:srgbClr val="E0E0E0"/>
            </a:solidFill>
            <a:prstDash val="solid"/>
          </a:ln>
        </p:spPr>
      </p:sp>
      <p:sp>
        <p:nvSpPr>
          <p:cNvPr id="55" name="Text 52"/>
          <p:cNvSpPr txBox="1"/>
          <p:nvPr/>
        </p:nvSpPr>
        <p:spPr>
          <a:xfrm>
            <a:off x="576072" y="4928616"/>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4. Modelo Gemma 4</a:t>
            </a:r>
            <a:endParaRPr lang="en-US" sz="1050" dirty="0"/>
          </a:p>
        </p:txBody>
      </p:sp>
      <p:sp>
        <p:nvSpPr>
          <p:cNvPr id="56" name="Shape 53"/>
          <p:cNvSpPr/>
          <p:nvPr/>
        </p:nvSpPr>
        <p:spPr>
          <a:xfrm>
            <a:off x="4160520" y="4992624"/>
            <a:ext cx="1938528" cy="201168"/>
          </a:xfrm>
          <a:prstGeom prst="rect">
            <a:avLst/>
          </a:prstGeom>
          <a:solidFill>
            <a:srgbClr val="C00000"/>
          </a:solidFill>
          <a:ln w="12700">
            <a:solidFill>
              <a:srgbClr val="C00000"/>
            </a:solidFill>
            <a:prstDash val="solid"/>
          </a:ln>
        </p:spPr>
      </p:sp>
      <p:sp>
        <p:nvSpPr>
          <p:cNvPr id="57" name="Shape 54"/>
          <p:cNvSpPr/>
          <p:nvPr/>
        </p:nvSpPr>
        <p:spPr>
          <a:xfrm>
            <a:off x="502920" y="5257800"/>
            <a:ext cx="7095744" cy="329184"/>
          </a:xfrm>
          <a:prstGeom prst="rect">
            <a:avLst/>
          </a:prstGeom>
          <a:solidFill>
            <a:srgbClr val="FFFFFF"/>
          </a:solidFill>
          <a:ln w="6350">
            <a:solidFill>
              <a:srgbClr val="E0E0E0"/>
            </a:solidFill>
            <a:prstDash val="solid"/>
          </a:ln>
        </p:spPr>
      </p:sp>
      <p:sp>
        <p:nvSpPr>
          <p:cNvPr id="58" name="Text 55"/>
          <p:cNvSpPr txBox="1"/>
          <p:nvPr/>
        </p:nvSpPr>
        <p:spPr>
          <a:xfrm>
            <a:off x="576072" y="5257800"/>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5. Construcción de la app</a:t>
            </a:r>
            <a:endParaRPr lang="en-US" sz="1050" dirty="0"/>
          </a:p>
        </p:txBody>
      </p:sp>
      <p:sp>
        <p:nvSpPr>
          <p:cNvPr id="59" name="Shape 56"/>
          <p:cNvSpPr/>
          <p:nvPr/>
        </p:nvSpPr>
        <p:spPr>
          <a:xfrm>
            <a:off x="4901184" y="5321808"/>
            <a:ext cx="1938528" cy="201168"/>
          </a:xfrm>
          <a:prstGeom prst="rect">
            <a:avLst/>
          </a:prstGeom>
          <a:solidFill>
            <a:srgbClr val="1F4E79"/>
          </a:solidFill>
          <a:ln w="12700">
            <a:solidFill>
              <a:srgbClr val="1F4E79"/>
            </a:solidFill>
            <a:prstDash val="solid"/>
          </a:ln>
        </p:spPr>
      </p:sp>
      <p:sp>
        <p:nvSpPr>
          <p:cNvPr id="60" name="Shape 57"/>
          <p:cNvSpPr/>
          <p:nvPr/>
        </p:nvSpPr>
        <p:spPr>
          <a:xfrm>
            <a:off x="502920" y="5586984"/>
            <a:ext cx="7095744" cy="329184"/>
          </a:xfrm>
          <a:prstGeom prst="rect">
            <a:avLst/>
          </a:prstGeom>
          <a:solidFill>
            <a:srgbClr val="F2F2F2"/>
          </a:solidFill>
          <a:ln w="6350">
            <a:solidFill>
              <a:srgbClr val="E0E0E0"/>
            </a:solidFill>
            <a:prstDash val="solid"/>
          </a:ln>
        </p:spPr>
      </p:sp>
      <p:sp>
        <p:nvSpPr>
          <p:cNvPr id="61" name="Text 58"/>
          <p:cNvSpPr txBox="1"/>
          <p:nvPr/>
        </p:nvSpPr>
        <p:spPr>
          <a:xfrm>
            <a:off x="576072" y="5586984"/>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6. Pruebas y validación</a:t>
            </a:r>
            <a:endParaRPr lang="en-US" sz="1050" dirty="0"/>
          </a:p>
        </p:txBody>
      </p:sp>
      <p:sp>
        <p:nvSpPr>
          <p:cNvPr id="62" name="Shape 59"/>
          <p:cNvSpPr/>
          <p:nvPr/>
        </p:nvSpPr>
        <p:spPr>
          <a:xfrm>
            <a:off x="6135624" y="5650992"/>
            <a:ext cx="1197864" cy="201168"/>
          </a:xfrm>
          <a:prstGeom prst="rect">
            <a:avLst/>
          </a:prstGeom>
          <a:solidFill>
            <a:srgbClr val="1E7B4F"/>
          </a:solidFill>
          <a:ln w="12700">
            <a:solidFill>
              <a:srgbClr val="1E7B4F"/>
            </a:solidFill>
            <a:prstDash val="solid"/>
          </a:ln>
        </p:spPr>
      </p:sp>
      <p:sp>
        <p:nvSpPr>
          <p:cNvPr id="63" name="Shape 60"/>
          <p:cNvSpPr/>
          <p:nvPr/>
        </p:nvSpPr>
        <p:spPr>
          <a:xfrm>
            <a:off x="502920" y="5916168"/>
            <a:ext cx="7095744" cy="329184"/>
          </a:xfrm>
          <a:prstGeom prst="rect">
            <a:avLst/>
          </a:prstGeom>
          <a:solidFill>
            <a:srgbClr val="FFFFFF"/>
          </a:solidFill>
          <a:ln w="6350">
            <a:solidFill>
              <a:srgbClr val="E0E0E0"/>
            </a:solidFill>
            <a:prstDash val="solid"/>
          </a:ln>
        </p:spPr>
      </p:sp>
      <p:sp>
        <p:nvSpPr>
          <p:cNvPr id="64" name="Text 61"/>
          <p:cNvSpPr txBox="1"/>
          <p:nvPr/>
        </p:nvSpPr>
        <p:spPr>
          <a:xfrm>
            <a:off x="576072" y="5916168"/>
            <a:ext cx="2651760" cy="329184"/>
          </a:xfrm>
          <a:prstGeom prst="rect">
            <a:avLst/>
          </a:prstGeom>
          <a:noFill/>
          <a:ln/>
        </p:spPr>
        <p:txBody>
          <a:bodyPr wrap="square" lIns="0" tIns="0" rIns="0" bIns="0" rtlCol="0" anchor="ctr"/>
          <a:lstStyle/>
          <a:p>
            <a:pPr indent="0" marL="0">
              <a:buNone/>
            </a:pPr>
            <a:r>
              <a:rPr lang="en-US" sz="1050" b="1" dirty="0">
                <a:solidFill>
                  <a:srgbClr val="262626"/>
                </a:solidFill>
                <a:latin typeface="Calibri" pitchFamily="34" charset="0"/>
                <a:ea typeface="Calibri" pitchFamily="34" charset="-122"/>
                <a:cs typeface="Calibri" pitchFamily="34" charset="-120"/>
              </a:rPr>
              <a:t>7. Documentación y sustentación</a:t>
            </a:r>
            <a:endParaRPr lang="en-US" sz="1050" dirty="0"/>
          </a:p>
        </p:txBody>
      </p:sp>
      <p:sp>
        <p:nvSpPr>
          <p:cNvPr id="65" name="Shape 62"/>
          <p:cNvSpPr/>
          <p:nvPr/>
        </p:nvSpPr>
        <p:spPr>
          <a:xfrm>
            <a:off x="3666744" y="5980176"/>
            <a:ext cx="457200" cy="201168"/>
          </a:xfrm>
          <a:prstGeom prst="rect">
            <a:avLst/>
          </a:prstGeom>
          <a:solidFill>
            <a:srgbClr val="404040"/>
          </a:solidFill>
          <a:ln w="12700">
            <a:solidFill>
              <a:srgbClr val="404040"/>
            </a:solidFill>
            <a:prstDash val="solid"/>
          </a:ln>
        </p:spPr>
      </p:sp>
      <p:sp>
        <p:nvSpPr>
          <p:cNvPr id="66" name="Shape 63"/>
          <p:cNvSpPr/>
          <p:nvPr/>
        </p:nvSpPr>
        <p:spPr>
          <a:xfrm>
            <a:off x="4654296" y="5980176"/>
            <a:ext cx="457200" cy="201168"/>
          </a:xfrm>
          <a:prstGeom prst="rect">
            <a:avLst/>
          </a:prstGeom>
          <a:solidFill>
            <a:srgbClr val="404040"/>
          </a:solidFill>
          <a:ln w="12700">
            <a:solidFill>
              <a:srgbClr val="404040"/>
            </a:solidFill>
            <a:prstDash val="solid"/>
          </a:ln>
        </p:spPr>
      </p:sp>
      <p:sp>
        <p:nvSpPr>
          <p:cNvPr id="67" name="Shape 64"/>
          <p:cNvSpPr/>
          <p:nvPr/>
        </p:nvSpPr>
        <p:spPr>
          <a:xfrm>
            <a:off x="5641848" y="5980176"/>
            <a:ext cx="457200" cy="201168"/>
          </a:xfrm>
          <a:prstGeom prst="rect">
            <a:avLst/>
          </a:prstGeom>
          <a:solidFill>
            <a:srgbClr val="404040"/>
          </a:solidFill>
          <a:ln w="12700">
            <a:solidFill>
              <a:srgbClr val="404040"/>
            </a:solidFill>
            <a:prstDash val="solid"/>
          </a:ln>
        </p:spPr>
      </p:sp>
      <p:sp>
        <p:nvSpPr>
          <p:cNvPr id="68" name="Shape 65"/>
          <p:cNvSpPr/>
          <p:nvPr/>
        </p:nvSpPr>
        <p:spPr>
          <a:xfrm>
            <a:off x="6876288" y="5980176"/>
            <a:ext cx="704088" cy="201168"/>
          </a:xfrm>
          <a:prstGeom prst="rect">
            <a:avLst/>
          </a:prstGeom>
          <a:solidFill>
            <a:srgbClr val="404040"/>
          </a:solidFill>
          <a:ln w="12700">
            <a:solidFill>
              <a:srgbClr val="404040"/>
            </a:solidFill>
            <a:prstDash val="solid"/>
          </a:ln>
        </p:spPr>
      </p:sp>
      <p:sp>
        <p:nvSpPr>
          <p:cNvPr id="69" name="Shape 66"/>
          <p:cNvSpPr/>
          <p:nvPr/>
        </p:nvSpPr>
        <p:spPr>
          <a:xfrm>
            <a:off x="8046720" y="3611880"/>
            <a:ext cx="3611880" cy="2651760"/>
          </a:xfrm>
          <a:prstGeom prst="rect">
            <a:avLst/>
          </a:prstGeom>
          <a:solidFill>
            <a:srgbClr val="DCE6F2"/>
          </a:solidFill>
          <a:ln w="15875">
            <a:solidFill>
              <a:srgbClr val="1F4E79"/>
            </a:solidFill>
            <a:prstDash val="solid"/>
          </a:ln>
        </p:spPr>
      </p:sp>
      <p:sp>
        <p:nvSpPr>
          <p:cNvPr id="70" name="Shape 67"/>
          <p:cNvSpPr/>
          <p:nvPr/>
        </p:nvSpPr>
        <p:spPr>
          <a:xfrm>
            <a:off x="8046720" y="3611880"/>
            <a:ext cx="3611880" cy="64008"/>
          </a:xfrm>
          <a:prstGeom prst="rect">
            <a:avLst/>
          </a:prstGeom>
          <a:solidFill>
            <a:srgbClr val="1F4E79"/>
          </a:solidFill>
          <a:ln w="12700">
            <a:solidFill>
              <a:srgbClr val="1F4E79"/>
            </a:solidFill>
            <a:prstDash val="solid"/>
          </a:ln>
        </p:spPr>
      </p:sp>
      <p:sp>
        <p:nvSpPr>
          <p:cNvPr id="71" name="Text 68"/>
          <p:cNvSpPr txBox="1"/>
          <p:nvPr/>
        </p:nvSpPr>
        <p:spPr>
          <a:xfrm>
            <a:off x="8183880" y="3739896"/>
            <a:ext cx="333756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HITOS</a:t>
            </a:r>
            <a:endParaRPr lang="en-US" sz="1300" dirty="0"/>
          </a:p>
        </p:txBody>
      </p:sp>
      <p:sp>
        <p:nvSpPr>
          <p:cNvPr id="72" name="Text 69"/>
          <p:cNvSpPr txBox="1"/>
          <p:nvPr/>
        </p:nvSpPr>
        <p:spPr>
          <a:xfrm>
            <a:off x="8183880" y="4069080"/>
            <a:ext cx="3337560" cy="21031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Semana 4: APF1 — Análisis del contexto, alternativas, planificación y SRS</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Semana 8: APF2 — Diseño, prototipos, diagramas y modelo de datos</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Semana 12: APF3 — Modelo ajustado convertido y app funcional en el teléfono</a:t>
            </a:r>
            <a:endParaRPr lang="en-US" sz="1100" dirty="0"/>
          </a:p>
          <a:p>
            <a:pPr marL="152400" indent="-152400">
              <a:spcAft>
                <a:spcPts val="400"/>
              </a:spcAft>
              <a:buSzPct val="100000"/>
              <a:buChar char="•"/>
            </a:pPr>
            <a:r>
              <a:rPr lang="en-US" sz="1100" dirty="0">
                <a:solidFill>
                  <a:srgbClr val="262626"/>
                </a:solidFill>
                <a:latin typeface="Calibri" pitchFamily="34" charset="0"/>
                <a:ea typeface="Calibri" pitchFamily="34" charset="-122"/>
                <a:cs typeface="Calibri" pitchFamily="34" charset="-120"/>
              </a:rPr>
              <a:t>Semana 18: Final — Validación en mes simulado y sustentación final</a:t>
            </a:r>
            <a:endParaRPr lang="en-US" sz="1100" dirty="0"/>
          </a:p>
        </p:txBody>
      </p:sp>
      <p:sp>
        <p:nvSpPr>
          <p:cNvPr id="73" name="Text 70"/>
          <p:cNvSpPr txBox="1"/>
          <p:nvPr/>
        </p:nvSpPr>
        <p:spPr>
          <a:xfrm>
            <a:off x="502920" y="6263640"/>
            <a:ext cx="7406640" cy="201168"/>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Las tres herramientas que pide la consigna están presentes: Project Charter, WBS y diagrama de Gantt.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ANEXO 4</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Análisis de la solución: casos de uso y SRS</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Gonzales Maco, Fabrizzio Jhoel</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5852160" cy="914400"/>
        </p:xfrm>
        <a:graphic>
          <a:graphicData uri="http://schemas.openxmlformats.org/drawingml/2006/table">
            <a:tbl>
              <a:tblPr/>
              <a:tblGrid>
                <a:gridCol w="731520"/>
                <a:gridCol w="3566160"/>
                <a:gridCol w="1554480"/>
              </a:tblGrid>
              <a:tr h="28346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Cód.</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1F4E7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Caso de uso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1F4E7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Actor</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1F4E79"/>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CU-01</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Registrar factura de compra por fotografía</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CU-02</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Verificar y corregir los datos extraídos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CU-03</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Ingresar el total de ventas del mes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CU-04</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Consultar el total de adquisiciones del mes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CU-05</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Calcular categoría y cuota del NRUS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Motor de reglas NRUS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CU-06</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Recibir aviso de proximidad a los topes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CU-07</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Consultar la fecha de vencimiento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CU-08</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Generar y exportar el reporte mensual</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CU-09</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Instalar y actualizar el modelo de IA</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CU-10</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Configurar los datos del contribuyente</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CU-11</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Consultar el histórico de meses cerrados</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283464">
                <a:tc>
                  <a:txBody>
                    <a:bodyPr/>
                    <a:lstStyle/>
                    <a:p>
                      <a:pPr algn="ctr" indent="0" marL="0">
                        <a:buNone/>
                      </a:pPr>
                      <a:r>
                        <a:rPr lang="en-US" sz="1050" b="1" dirty="0">
                          <a:solidFill>
                            <a:srgbClr val="262626"/>
                          </a:solidFill>
                          <a:latin typeface="Calibri" pitchFamily="34" charset="0"/>
                          <a:ea typeface="Calibri" pitchFamily="34" charset="-122"/>
                          <a:cs typeface="Calibri" pitchFamily="34" charset="-120"/>
                        </a:rPr>
                        <a:t>CU-12</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Anular una factura registrada por error</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l" indent="0" marL="0">
                        <a:buNone/>
                      </a:pPr>
                      <a:r>
                        <a:rPr lang="en-US" sz="1050" dirty="0">
                          <a:solidFill>
                            <a:srgbClr val="262626"/>
                          </a:solidFill>
                          <a:latin typeface="Calibri" pitchFamily="34" charset="0"/>
                          <a:ea typeface="Calibri" pitchFamily="34" charset="-122"/>
                          <a:cs typeface="Calibri" pitchFamily="34" charset="-120"/>
                        </a:rPr>
                        <a:t>Bodeguero</a:t>
                      </a:r>
                      <a:endParaRPr lang="en-US" sz="105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2F2F2"/>
                    </a:solidFill>
                  </a:tcPr>
                </a:tc>
              </a:tr>
            </a:tbl>
          </a:graphicData>
        </a:graphic>
      </p:graphicFrame>
      <p:sp>
        <p:nvSpPr>
          <p:cNvPr id="10" name="Text 6"/>
          <p:cNvSpPr txBox="1"/>
          <p:nvPr/>
        </p:nvSpPr>
        <p:spPr>
          <a:xfrm>
            <a:off x="502920" y="5074920"/>
            <a:ext cx="5852160" cy="685800"/>
          </a:xfrm>
          <a:prstGeom prst="rect">
            <a:avLst/>
          </a:prstGeom>
          <a:noFill/>
          <a:ln/>
        </p:spPr>
        <p:txBody>
          <a:bodyPr wrap="square" lIns="0" tIns="0" rIns="0" bIns="0" rtlCol="0" anchor="t"/>
          <a:lstStyle/>
          <a:p>
            <a:pPr indent="0" marL="0">
              <a:buNone/>
            </a:pPr>
            <a:r>
              <a:rPr lang="en-US" sz="1150" dirty="0">
                <a:solidFill>
                  <a:srgbClr val="262626"/>
                </a:solidFill>
                <a:latin typeface="Calibri" pitchFamily="34" charset="0"/>
                <a:ea typeface="Calibri" pitchFamily="34" charset="-122"/>
                <a:cs typeface="Calibri" pitchFamily="34" charset="-120"/>
              </a:rPr>
              <a:t>Levantamiento por entrevista estructurada y observación directa. 12 casos de uso y 5 actores; dos son de sistema: Gemma 4 en el teléfono y el motor de reglas del NRUS.</a:t>
            </a:r>
            <a:endParaRPr lang="en-US" sz="1150" dirty="0"/>
          </a:p>
        </p:txBody>
      </p:sp>
      <p:sp>
        <p:nvSpPr>
          <p:cNvPr id="11" name="Shape 7"/>
          <p:cNvSpPr/>
          <p:nvPr/>
        </p:nvSpPr>
        <p:spPr>
          <a:xfrm>
            <a:off x="6583680" y="1298448"/>
            <a:ext cx="5074920" cy="1508760"/>
          </a:xfrm>
          <a:prstGeom prst="rect">
            <a:avLst/>
          </a:prstGeom>
          <a:solidFill>
            <a:srgbClr val="FFFFFF"/>
          </a:solidFill>
          <a:ln w="15875">
            <a:solidFill>
              <a:srgbClr val="1F4E79"/>
            </a:solidFill>
            <a:prstDash val="solid"/>
          </a:ln>
        </p:spPr>
      </p:sp>
      <p:sp>
        <p:nvSpPr>
          <p:cNvPr id="12" name="Shape 8"/>
          <p:cNvSpPr/>
          <p:nvPr/>
        </p:nvSpPr>
        <p:spPr>
          <a:xfrm>
            <a:off x="6583680" y="1298448"/>
            <a:ext cx="5074920" cy="64008"/>
          </a:xfrm>
          <a:prstGeom prst="rect">
            <a:avLst/>
          </a:prstGeom>
          <a:solidFill>
            <a:srgbClr val="1F4E79"/>
          </a:solidFill>
          <a:ln w="12700">
            <a:solidFill>
              <a:srgbClr val="1F4E79"/>
            </a:solidFill>
            <a:prstDash val="solid"/>
          </a:ln>
        </p:spPr>
      </p:sp>
      <p:sp>
        <p:nvSpPr>
          <p:cNvPr id="13" name="Text 9"/>
          <p:cNvSpPr txBox="1"/>
          <p:nvPr/>
        </p:nvSpPr>
        <p:spPr>
          <a:xfrm>
            <a:off x="6720840" y="1426464"/>
            <a:ext cx="480060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REQUERIMIENTOS FUNCIONALES · 22</a:t>
            </a:r>
            <a:endParaRPr lang="en-US" sz="1300" dirty="0"/>
          </a:p>
        </p:txBody>
      </p:sp>
      <p:sp>
        <p:nvSpPr>
          <p:cNvPr id="14" name="Text 10"/>
          <p:cNvSpPr txBox="1"/>
          <p:nvPr/>
        </p:nvSpPr>
        <p:spPr>
          <a:xfrm>
            <a:off x="6720840" y="1755648"/>
            <a:ext cx="4800600" cy="9601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Captura y extracción local con Gemma 4: RF-01 a RF-07</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Cálculo del NRUS y vencimiento: RF-08 a RF-14</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Reportes, histórico, modelo y respaldo: RF-15 a RF-22</a:t>
            </a:r>
            <a:endParaRPr lang="en-US" sz="1150" dirty="0"/>
          </a:p>
        </p:txBody>
      </p:sp>
      <p:sp>
        <p:nvSpPr>
          <p:cNvPr id="15" name="Shape 11"/>
          <p:cNvSpPr/>
          <p:nvPr/>
        </p:nvSpPr>
        <p:spPr>
          <a:xfrm>
            <a:off x="6583680" y="2926080"/>
            <a:ext cx="5074920" cy="2103120"/>
          </a:xfrm>
          <a:prstGeom prst="rect">
            <a:avLst/>
          </a:prstGeom>
          <a:solidFill>
            <a:srgbClr val="FFFFFF"/>
          </a:solidFill>
          <a:ln w="15875">
            <a:solidFill>
              <a:srgbClr val="1E7B4F"/>
            </a:solidFill>
            <a:prstDash val="solid"/>
          </a:ln>
        </p:spPr>
      </p:sp>
      <p:sp>
        <p:nvSpPr>
          <p:cNvPr id="16" name="Shape 12"/>
          <p:cNvSpPr/>
          <p:nvPr/>
        </p:nvSpPr>
        <p:spPr>
          <a:xfrm>
            <a:off x="6583680" y="2926080"/>
            <a:ext cx="5074920" cy="64008"/>
          </a:xfrm>
          <a:prstGeom prst="rect">
            <a:avLst/>
          </a:prstGeom>
          <a:solidFill>
            <a:srgbClr val="1E7B4F"/>
          </a:solidFill>
          <a:ln w="12700">
            <a:solidFill>
              <a:srgbClr val="1E7B4F"/>
            </a:solidFill>
            <a:prstDash val="solid"/>
          </a:ln>
        </p:spPr>
      </p:sp>
      <p:sp>
        <p:nvSpPr>
          <p:cNvPr id="17" name="Text 13"/>
          <p:cNvSpPr txBox="1"/>
          <p:nvPr/>
        </p:nvSpPr>
        <p:spPr>
          <a:xfrm>
            <a:off x="6720840" y="3054096"/>
            <a:ext cx="4800600" cy="292608"/>
          </a:xfrm>
          <a:prstGeom prst="rect">
            <a:avLst/>
          </a:prstGeom>
          <a:noFill/>
          <a:ln/>
        </p:spPr>
        <p:txBody>
          <a:bodyPr wrap="square" lIns="0" tIns="0" rIns="0" bIns="0" rtlCol="0" anchor="ctr"/>
          <a:lstStyle/>
          <a:p>
            <a:pPr indent="0" marL="0">
              <a:buNone/>
            </a:pPr>
            <a:r>
              <a:rPr lang="en-US" sz="1300" b="1" dirty="0">
                <a:solidFill>
                  <a:srgbClr val="1E7B4F"/>
                </a:solidFill>
                <a:latin typeface="Calibri" pitchFamily="34" charset="0"/>
                <a:ea typeface="Calibri" pitchFamily="34" charset="-122"/>
                <a:cs typeface="Calibri" pitchFamily="34" charset="-120"/>
              </a:rPr>
              <a:t>NO FUNCIONALES · 19  (ISO/IEC 25010)</a:t>
            </a:r>
            <a:endParaRPr lang="en-US" sz="1300" dirty="0"/>
          </a:p>
        </p:txBody>
      </p:sp>
      <p:sp>
        <p:nvSpPr>
          <p:cNvPr id="18" name="Text 14"/>
          <p:cNvSpPr txBox="1"/>
          <p:nvPr/>
        </p:nvSpPr>
        <p:spPr>
          <a:xfrm>
            <a:off x="6720840" y="3383280"/>
            <a:ext cx="4800600" cy="15544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Adecuación: exactitud ≥ 90 % y mejor que el modelo base</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Eficiencia: lectura ≤ 20 s y ≤ 2 GB de RAM en gama media</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Fiabilidad: 100 % sin conexión, incluida la extracción</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Seguridad: las fotos no salen del teléfono</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Portabilidad: el modelo se cambia sin reinstalar la app</a:t>
            </a:r>
            <a:endParaRPr lang="en-US" sz="1150" dirty="0"/>
          </a:p>
        </p:txBody>
      </p:sp>
      <p:sp>
        <p:nvSpPr>
          <p:cNvPr id="19" name="Shape 15"/>
          <p:cNvSpPr/>
          <p:nvPr/>
        </p:nvSpPr>
        <p:spPr>
          <a:xfrm>
            <a:off x="6583680" y="5148072"/>
            <a:ext cx="5074920" cy="1143000"/>
          </a:xfrm>
          <a:prstGeom prst="rect">
            <a:avLst/>
          </a:prstGeom>
          <a:solidFill>
            <a:srgbClr val="DCE6F2"/>
          </a:solidFill>
          <a:ln w="15875">
            <a:solidFill>
              <a:srgbClr val="1F4E79"/>
            </a:solidFill>
            <a:prstDash val="solid"/>
          </a:ln>
        </p:spPr>
      </p:sp>
      <p:sp>
        <p:nvSpPr>
          <p:cNvPr id="20" name="Shape 16"/>
          <p:cNvSpPr/>
          <p:nvPr/>
        </p:nvSpPr>
        <p:spPr>
          <a:xfrm>
            <a:off x="6583680" y="5148072"/>
            <a:ext cx="5074920" cy="64008"/>
          </a:xfrm>
          <a:prstGeom prst="rect">
            <a:avLst/>
          </a:prstGeom>
          <a:solidFill>
            <a:srgbClr val="1F4E79"/>
          </a:solidFill>
          <a:ln w="12700">
            <a:solidFill>
              <a:srgbClr val="1F4E79"/>
            </a:solidFill>
            <a:prstDash val="solid"/>
          </a:ln>
        </p:spPr>
      </p:sp>
      <p:sp>
        <p:nvSpPr>
          <p:cNvPr id="21" name="Text 17"/>
          <p:cNvSpPr txBox="1"/>
          <p:nvPr/>
        </p:nvSpPr>
        <p:spPr>
          <a:xfrm>
            <a:off x="6720840" y="5276088"/>
            <a:ext cx="480060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TRAZABILIDAD</a:t>
            </a:r>
            <a:endParaRPr lang="en-US" sz="1300" dirty="0"/>
          </a:p>
        </p:txBody>
      </p:sp>
      <p:sp>
        <p:nvSpPr>
          <p:cNvPr id="22" name="Text 18"/>
          <p:cNvSpPr txBox="1"/>
          <p:nvPr/>
        </p:nvSpPr>
        <p:spPr>
          <a:xfrm>
            <a:off x="6720840" y="5605272"/>
            <a:ext cx="4800600" cy="594360"/>
          </a:xfrm>
          <a:prstGeom prst="rect">
            <a:avLst/>
          </a:prstGeom>
          <a:noFill/>
          <a:ln/>
        </p:spPr>
        <p:txBody>
          <a:bodyPr wrap="square" lIns="0" tIns="0" rIns="0" bIns="0" rtlCol="0" anchor="t"/>
          <a:lstStyle/>
          <a:p>
            <a:pPr indent="0" marL="0">
              <a:spcAft>
                <a:spcPts val="400"/>
              </a:spcAft>
              <a:buNone/>
            </a:pPr>
            <a:r>
              <a:rPr lang="en-US" sz="1150" dirty="0">
                <a:solidFill>
                  <a:srgbClr val="262626"/>
                </a:solidFill>
                <a:latin typeface="Calibri" pitchFamily="34" charset="0"/>
                <a:ea typeface="Calibri" pitchFamily="34" charset="-122"/>
                <a:cs typeface="Calibri" pitchFamily="34" charset="-120"/>
              </a:rPr>
              <a:t>Cada requerimiento se vincula a un objetivo y a un caso de uso (matriz en el Anexo 4.6).</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ANEXO 5</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Diseño de la solución: todo corre en el teléfono</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Gonzales Maco, Fabrizzio Jhoel</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9</a:t>
            </a:r>
            <a:endParaRPr lang="en-US" sz="1100" dirty="0"/>
          </a:p>
        </p:txBody>
      </p:sp>
      <p:sp>
        <p:nvSpPr>
          <p:cNvPr id="9" name="Shape 6"/>
          <p:cNvSpPr/>
          <p:nvPr/>
        </p:nvSpPr>
        <p:spPr>
          <a:xfrm>
            <a:off x="502920" y="1298448"/>
            <a:ext cx="5943600" cy="3931920"/>
          </a:xfrm>
          <a:prstGeom prst="rect">
            <a:avLst/>
          </a:prstGeom>
          <a:solidFill>
            <a:srgbClr val="F7FAFD"/>
          </a:solidFill>
          <a:ln w="19050">
            <a:solidFill>
              <a:srgbClr val="1F4E79"/>
            </a:solidFill>
            <a:prstDash val="solid"/>
          </a:ln>
        </p:spPr>
      </p:sp>
      <p:sp>
        <p:nvSpPr>
          <p:cNvPr id="10" name="Text 7"/>
          <p:cNvSpPr txBox="1"/>
          <p:nvPr/>
        </p:nvSpPr>
        <p:spPr>
          <a:xfrm>
            <a:off x="640080" y="1371600"/>
            <a:ext cx="5669280" cy="274320"/>
          </a:xfrm>
          <a:prstGeom prst="rect">
            <a:avLst/>
          </a:prstGeom>
          <a:noFill/>
          <a:ln/>
        </p:spPr>
        <p:txBody>
          <a:bodyPr wrap="square" lIns="0" tIns="0" rIns="0" bIns="0" rtlCol="0" anchor="ctr"/>
          <a:lstStyle/>
          <a:p>
            <a:pPr algn="ctr" indent="0" marL="0">
              <a:buNone/>
            </a:pPr>
            <a:r>
              <a:rPr lang="en-US" sz="1150" b="1" dirty="0">
                <a:solidFill>
                  <a:srgbClr val="1F4E79"/>
                </a:solidFill>
                <a:latin typeface="Calibri" pitchFamily="34" charset="0"/>
                <a:ea typeface="Calibri" pitchFamily="34" charset="-122"/>
                <a:cs typeface="Calibri" pitchFamily="34" charset="-120"/>
              </a:rPr>
              <a:t>TELÉFONO ANDROID · SIN CONEXIÓN</a:t>
            </a:r>
            <a:endParaRPr lang="en-US" sz="1150" dirty="0"/>
          </a:p>
        </p:txBody>
      </p:sp>
      <p:sp>
        <p:nvSpPr>
          <p:cNvPr id="11" name="Shape 8"/>
          <p:cNvSpPr/>
          <p:nvPr/>
        </p:nvSpPr>
        <p:spPr>
          <a:xfrm>
            <a:off x="685800" y="1737360"/>
            <a:ext cx="5577840" cy="749808"/>
          </a:xfrm>
          <a:prstGeom prst="rect">
            <a:avLst/>
          </a:prstGeom>
          <a:solidFill>
            <a:srgbClr val="FFFFFF"/>
          </a:solidFill>
          <a:ln w="15875">
            <a:solidFill>
              <a:srgbClr val="1F4E79"/>
            </a:solidFill>
            <a:prstDash val="solid"/>
          </a:ln>
        </p:spPr>
      </p:sp>
      <p:sp>
        <p:nvSpPr>
          <p:cNvPr id="12" name="Shape 9"/>
          <p:cNvSpPr/>
          <p:nvPr/>
        </p:nvSpPr>
        <p:spPr>
          <a:xfrm>
            <a:off x="685800" y="1737360"/>
            <a:ext cx="1783080" cy="749808"/>
          </a:xfrm>
          <a:prstGeom prst="rect">
            <a:avLst/>
          </a:prstGeom>
          <a:solidFill>
            <a:srgbClr val="1F4E79"/>
          </a:solidFill>
          <a:ln w="12700">
            <a:solidFill>
              <a:srgbClr val="1F4E79"/>
            </a:solidFill>
            <a:prstDash val="solid"/>
          </a:ln>
        </p:spPr>
      </p:sp>
      <p:sp>
        <p:nvSpPr>
          <p:cNvPr id="13" name="Text 10"/>
          <p:cNvSpPr txBox="1"/>
          <p:nvPr/>
        </p:nvSpPr>
        <p:spPr>
          <a:xfrm>
            <a:off x="777240" y="1737360"/>
            <a:ext cx="164592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Presentación</a:t>
            </a:r>
            <a:endParaRPr lang="en-US" sz="1250" dirty="0"/>
          </a:p>
          <a:p>
            <a:pPr indent="0" marL="0">
              <a:buNone/>
            </a:pPr>
            <a:r>
              <a:rPr lang="en-US" sz="950" dirty="0">
                <a:solidFill>
                  <a:srgbClr val="FFFFFF"/>
                </a:solidFill>
                <a:latin typeface="Calibri" pitchFamily="34" charset="0"/>
                <a:ea typeface="Calibri" pitchFamily="34" charset="-122"/>
                <a:cs typeface="Calibri" pitchFamily="34" charset="-120"/>
              </a:rPr>
              <a:t>Java · Android</a:t>
            </a:r>
            <a:endParaRPr lang="en-US" sz="1250" dirty="0"/>
          </a:p>
        </p:txBody>
      </p:sp>
      <p:sp>
        <p:nvSpPr>
          <p:cNvPr id="14" name="Text 11"/>
          <p:cNvSpPr txBox="1"/>
          <p:nvPr/>
        </p:nvSpPr>
        <p:spPr>
          <a:xfrm>
            <a:off x="2606040" y="1737360"/>
            <a:ext cx="3566160" cy="749808"/>
          </a:xfrm>
          <a:prstGeom prst="rect">
            <a:avLst/>
          </a:prstGeom>
          <a:noFill/>
          <a:ln/>
        </p:spPr>
        <p:txBody>
          <a:bodyPr wrap="square" lIns="0" tIns="0" rIns="0" bIns="0" rtlCol="0" anchor="ctr"/>
          <a:lstStyle/>
          <a:p>
            <a:pPr indent="0" marL="0">
              <a:buNone/>
            </a:pPr>
            <a:r>
              <a:rPr lang="en-US" sz="1100" dirty="0">
                <a:solidFill>
                  <a:srgbClr val="262626"/>
                </a:solidFill>
                <a:latin typeface="Calibri" pitchFamily="34" charset="0"/>
                <a:ea typeface="Calibri" pitchFamily="34" charset="-122"/>
                <a:cs typeface="Calibri" pitchFamily="34" charset="-120"/>
              </a:rPr>
              <a:t>Activities, CameraX con guía de encuadre, verificación</a:t>
            </a:r>
            <a:endParaRPr lang="en-US" sz="1100" dirty="0"/>
          </a:p>
        </p:txBody>
      </p:sp>
      <p:sp>
        <p:nvSpPr>
          <p:cNvPr id="15" name="Shape 12"/>
          <p:cNvSpPr/>
          <p:nvPr/>
        </p:nvSpPr>
        <p:spPr>
          <a:xfrm>
            <a:off x="685800" y="2606040"/>
            <a:ext cx="5577840" cy="749808"/>
          </a:xfrm>
          <a:prstGeom prst="rect">
            <a:avLst/>
          </a:prstGeom>
          <a:solidFill>
            <a:srgbClr val="FFFFFF"/>
          </a:solidFill>
          <a:ln w="15875">
            <a:solidFill>
              <a:srgbClr val="C00000"/>
            </a:solidFill>
            <a:prstDash val="solid"/>
          </a:ln>
        </p:spPr>
      </p:sp>
      <p:sp>
        <p:nvSpPr>
          <p:cNvPr id="16" name="Shape 13"/>
          <p:cNvSpPr/>
          <p:nvPr/>
        </p:nvSpPr>
        <p:spPr>
          <a:xfrm>
            <a:off x="685800" y="2606040"/>
            <a:ext cx="1783080" cy="749808"/>
          </a:xfrm>
          <a:prstGeom prst="rect">
            <a:avLst/>
          </a:prstGeom>
          <a:solidFill>
            <a:srgbClr val="C00000"/>
          </a:solidFill>
          <a:ln w="12700">
            <a:solidFill>
              <a:srgbClr val="C00000"/>
            </a:solidFill>
            <a:prstDash val="solid"/>
          </a:ln>
        </p:spPr>
      </p:sp>
      <p:sp>
        <p:nvSpPr>
          <p:cNvPr id="17" name="Text 14"/>
          <p:cNvSpPr txBox="1"/>
          <p:nvPr/>
        </p:nvSpPr>
        <p:spPr>
          <a:xfrm>
            <a:off x="777240" y="2606040"/>
            <a:ext cx="164592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Dominio</a:t>
            </a:r>
            <a:endParaRPr lang="en-US" sz="1250" dirty="0"/>
          </a:p>
          <a:p>
            <a:pPr indent="0" marL="0">
              <a:buNone/>
            </a:pPr>
            <a:r>
              <a:rPr lang="en-US" sz="950" dirty="0">
                <a:solidFill>
                  <a:srgbClr val="FFFFFF"/>
                </a:solidFill>
                <a:latin typeface="Calibri" pitchFamily="34" charset="0"/>
                <a:ea typeface="Calibri" pitchFamily="34" charset="-122"/>
                <a:cs typeface="Calibri" pitchFamily="34" charset="-120"/>
              </a:rPr>
              <a:t>Java</a:t>
            </a:r>
            <a:endParaRPr lang="en-US" sz="1250" dirty="0"/>
          </a:p>
        </p:txBody>
      </p:sp>
      <p:sp>
        <p:nvSpPr>
          <p:cNvPr id="18" name="Text 15"/>
          <p:cNvSpPr txBox="1"/>
          <p:nvPr/>
        </p:nvSpPr>
        <p:spPr>
          <a:xfrm>
            <a:off x="2606040" y="2606040"/>
            <a:ext cx="3566160" cy="749808"/>
          </a:xfrm>
          <a:prstGeom prst="rect">
            <a:avLst/>
          </a:prstGeom>
          <a:noFill/>
          <a:ln/>
        </p:spPr>
        <p:txBody>
          <a:bodyPr wrap="square" lIns="0" tIns="0" rIns="0" bIns="0" rtlCol="0" anchor="ctr"/>
          <a:lstStyle/>
          <a:p>
            <a:pPr indent="0" marL="0">
              <a:buNone/>
            </a:pPr>
            <a:r>
              <a:rPr lang="en-US" sz="1100" dirty="0">
                <a:solidFill>
                  <a:srgbClr val="262626"/>
                </a:solidFill>
                <a:latin typeface="Calibri" pitchFamily="34" charset="0"/>
                <a:ea typeface="Calibri" pitchFamily="34" charset="-122"/>
                <a:cs typeface="Calibri" pitchFamily="34" charset="-120"/>
              </a:rPr>
              <a:t>Casos de uso y motor de reglas NRUS con pruebas unitarias</a:t>
            </a:r>
            <a:endParaRPr lang="en-US" sz="1100" dirty="0"/>
          </a:p>
        </p:txBody>
      </p:sp>
      <p:sp>
        <p:nvSpPr>
          <p:cNvPr id="19" name="Shape 16"/>
          <p:cNvSpPr/>
          <p:nvPr/>
        </p:nvSpPr>
        <p:spPr>
          <a:xfrm>
            <a:off x="685800" y="3474720"/>
            <a:ext cx="5577840" cy="749808"/>
          </a:xfrm>
          <a:prstGeom prst="rect">
            <a:avLst/>
          </a:prstGeom>
          <a:solidFill>
            <a:srgbClr val="FFFFFF"/>
          </a:solidFill>
          <a:ln w="15875">
            <a:solidFill>
              <a:srgbClr val="1E7B4F"/>
            </a:solidFill>
            <a:prstDash val="solid"/>
          </a:ln>
        </p:spPr>
      </p:sp>
      <p:sp>
        <p:nvSpPr>
          <p:cNvPr id="20" name="Shape 17"/>
          <p:cNvSpPr/>
          <p:nvPr/>
        </p:nvSpPr>
        <p:spPr>
          <a:xfrm>
            <a:off x="685800" y="3474720"/>
            <a:ext cx="1783080" cy="749808"/>
          </a:xfrm>
          <a:prstGeom prst="rect">
            <a:avLst/>
          </a:prstGeom>
          <a:solidFill>
            <a:srgbClr val="1E7B4F"/>
          </a:solidFill>
          <a:ln w="12700">
            <a:solidFill>
              <a:srgbClr val="1E7B4F"/>
            </a:solidFill>
            <a:prstDash val="solid"/>
          </a:ln>
        </p:spPr>
      </p:sp>
      <p:sp>
        <p:nvSpPr>
          <p:cNvPr id="21" name="Text 18"/>
          <p:cNvSpPr txBox="1"/>
          <p:nvPr/>
        </p:nvSpPr>
        <p:spPr>
          <a:xfrm>
            <a:off x="777240" y="3474720"/>
            <a:ext cx="164592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Inferencia local</a:t>
            </a:r>
            <a:endParaRPr lang="en-US" sz="1250" dirty="0"/>
          </a:p>
          <a:p>
            <a:pPr indent="0" marL="0">
              <a:buNone/>
            </a:pPr>
            <a:r>
              <a:rPr lang="en-US" sz="950" dirty="0">
                <a:solidFill>
                  <a:srgbClr val="FFFFFF"/>
                </a:solidFill>
                <a:latin typeface="Calibri" pitchFamily="34" charset="0"/>
                <a:ea typeface="Calibri" pitchFamily="34" charset="-122"/>
                <a:cs typeface="Calibri" pitchFamily="34" charset="-120"/>
              </a:rPr>
              <a:t>Kotlin (puente) + LiteRT-LM</a:t>
            </a:r>
            <a:endParaRPr lang="en-US" sz="1250" dirty="0"/>
          </a:p>
        </p:txBody>
      </p:sp>
      <p:sp>
        <p:nvSpPr>
          <p:cNvPr id="22" name="Text 19"/>
          <p:cNvSpPr txBox="1"/>
          <p:nvPr/>
        </p:nvSpPr>
        <p:spPr>
          <a:xfrm>
            <a:off x="2606040" y="3474720"/>
            <a:ext cx="3566160" cy="749808"/>
          </a:xfrm>
          <a:prstGeom prst="rect">
            <a:avLst/>
          </a:prstGeom>
          <a:noFill/>
          <a:ln/>
        </p:spPr>
        <p:txBody>
          <a:bodyPr wrap="square" lIns="0" tIns="0" rIns="0" bIns="0" rtlCol="0" anchor="ctr"/>
          <a:lstStyle/>
          <a:p>
            <a:pPr indent="0" marL="0">
              <a:buNone/>
            </a:pPr>
            <a:r>
              <a:rPr lang="en-US" sz="1100" dirty="0">
                <a:solidFill>
                  <a:srgbClr val="262626"/>
                </a:solidFill>
                <a:latin typeface="Calibri" pitchFamily="34" charset="0"/>
                <a:ea typeface="Calibri" pitchFamily="34" charset="-122"/>
                <a:cs typeface="Calibri" pitchFamily="34" charset="-120"/>
              </a:rPr>
              <a:t>Gemma 4 E2B ajustado (.litertlm): imagen → JSON</a:t>
            </a:r>
            <a:endParaRPr lang="en-US" sz="1100" dirty="0"/>
          </a:p>
        </p:txBody>
      </p:sp>
      <p:sp>
        <p:nvSpPr>
          <p:cNvPr id="23" name="Shape 20"/>
          <p:cNvSpPr/>
          <p:nvPr/>
        </p:nvSpPr>
        <p:spPr>
          <a:xfrm>
            <a:off x="685800" y="4343400"/>
            <a:ext cx="5577840" cy="749808"/>
          </a:xfrm>
          <a:prstGeom prst="rect">
            <a:avLst/>
          </a:prstGeom>
          <a:solidFill>
            <a:srgbClr val="FFFFFF"/>
          </a:solidFill>
          <a:ln w="15875">
            <a:solidFill>
              <a:srgbClr val="B8650A"/>
            </a:solidFill>
            <a:prstDash val="solid"/>
          </a:ln>
        </p:spPr>
      </p:sp>
      <p:sp>
        <p:nvSpPr>
          <p:cNvPr id="24" name="Shape 21"/>
          <p:cNvSpPr/>
          <p:nvPr/>
        </p:nvSpPr>
        <p:spPr>
          <a:xfrm>
            <a:off x="685800" y="4343400"/>
            <a:ext cx="1783080" cy="749808"/>
          </a:xfrm>
          <a:prstGeom prst="rect">
            <a:avLst/>
          </a:prstGeom>
          <a:solidFill>
            <a:srgbClr val="B8650A"/>
          </a:solidFill>
          <a:ln w="12700">
            <a:solidFill>
              <a:srgbClr val="B8650A"/>
            </a:solidFill>
            <a:prstDash val="solid"/>
          </a:ln>
        </p:spPr>
      </p:sp>
      <p:sp>
        <p:nvSpPr>
          <p:cNvPr id="25" name="Text 22"/>
          <p:cNvSpPr txBox="1"/>
          <p:nvPr/>
        </p:nvSpPr>
        <p:spPr>
          <a:xfrm>
            <a:off x="777240" y="4343400"/>
            <a:ext cx="164592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Datos</a:t>
            </a:r>
            <a:endParaRPr lang="en-US" sz="1250" dirty="0"/>
          </a:p>
          <a:p>
            <a:pPr indent="0" marL="0">
              <a:buNone/>
            </a:pPr>
            <a:r>
              <a:rPr lang="en-US" sz="950" dirty="0">
                <a:solidFill>
                  <a:srgbClr val="FFFFFF"/>
                </a:solidFill>
                <a:latin typeface="Calibri" pitchFamily="34" charset="0"/>
                <a:ea typeface="Calibri" pitchFamily="34" charset="-122"/>
                <a:cs typeface="Calibri" pitchFamily="34" charset="-120"/>
              </a:rPr>
              <a:t>Java · Room / SQLite cifrada</a:t>
            </a:r>
            <a:endParaRPr lang="en-US" sz="1250" dirty="0"/>
          </a:p>
        </p:txBody>
      </p:sp>
      <p:sp>
        <p:nvSpPr>
          <p:cNvPr id="26" name="Text 23"/>
          <p:cNvSpPr txBox="1"/>
          <p:nvPr/>
        </p:nvSpPr>
        <p:spPr>
          <a:xfrm>
            <a:off x="2606040" y="4343400"/>
            <a:ext cx="3566160" cy="749808"/>
          </a:xfrm>
          <a:prstGeom prst="rect">
            <a:avLst/>
          </a:prstGeom>
          <a:noFill/>
          <a:ln/>
        </p:spPr>
        <p:txBody>
          <a:bodyPr wrap="square" lIns="0" tIns="0" rIns="0" bIns="0" rtlCol="0" anchor="ctr"/>
          <a:lstStyle/>
          <a:p>
            <a:pPr indent="0" marL="0">
              <a:buNone/>
            </a:pPr>
            <a:r>
              <a:rPr lang="en-US" sz="1100" dirty="0">
                <a:solidFill>
                  <a:srgbClr val="262626"/>
                </a:solidFill>
                <a:latin typeface="Calibri" pitchFamily="34" charset="0"/>
                <a:ea typeface="Calibri" pitchFamily="34" charset="-122"/>
                <a:cs typeface="Calibri" pitchFamily="34" charset="-120"/>
              </a:rPr>
              <a:t>Facturas, imágenes, parámetros NRUS y versión del modelo</a:t>
            </a:r>
            <a:endParaRPr lang="en-US" sz="1100" dirty="0"/>
          </a:p>
        </p:txBody>
      </p:sp>
      <p:sp>
        <p:nvSpPr>
          <p:cNvPr id="27" name="Shape 24"/>
          <p:cNvSpPr/>
          <p:nvPr/>
        </p:nvSpPr>
        <p:spPr>
          <a:xfrm>
            <a:off x="502920" y="5349240"/>
            <a:ext cx="5943600" cy="914400"/>
          </a:xfrm>
          <a:prstGeom prst="rect">
            <a:avLst/>
          </a:prstGeom>
          <a:solidFill>
            <a:srgbClr val="F2F2F2"/>
          </a:solidFill>
          <a:ln w="15875">
            <a:solidFill>
              <a:srgbClr val="404040"/>
            </a:solidFill>
            <a:prstDash val="solid"/>
          </a:ln>
        </p:spPr>
      </p:sp>
      <p:sp>
        <p:nvSpPr>
          <p:cNvPr id="28" name="Text 25"/>
          <p:cNvSpPr txBox="1"/>
          <p:nvPr/>
        </p:nvSpPr>
        <p:spPr>
          <a:xfrm>
            <a:off x="685800" y="5440680"/>
            <a:ext cx="5577840" cy="274320"/>
          </a:xfrm>
          <a:prstGeom prst="rect">
            <a:avLst/>
          </a:prstGeom>
          <a:noFill/>
          <a:ln/>
        </p:spPr>
        <p:txBody>
          <a:bodyPr wrap="square" lIns="0" tIns="0" rIns="0" bIns="0" rtlCol="0" anchor="ctr"/>
          <a:lstStyle/>
          <a:p>
            <a:pPr indent="0" marL="0">
              <a:buNone/>
            </a:pPr>
            <a:r>
              <a:rPr lang="en-US" sz="1200" b="1" dirty="0">
                <a:solidFill>
                  <a:srgbClr val="404040"/>
                </a:solidFill>
                <a:latin typeface="Calibri" pitchFamily="34" charset="0"/>
                <a:ea typeface="Calibri" pitchFamily="34" charset="-122"/>
                <a:cs typeface="Calibri" pitchFamily="34" charset="-120"/>
              </a:rPr>
              <a:t>SERVIDOR OPCIONAL · Java Spring Boot + Oracle/SQL Server</a:t>
            </a:r>
            <a:endParaRPr lang="en-US" sz="1200" dirty="0"/>
          </a:p>
        </p:txBody>
      </p:sp>
      <p:sp>
        <p:nvSpPr>
          <p:cNvPr id="29" name="Text 26"/>
          <p:cNvSpPr txBox="1"/>
          <p:nvPr/>
        </p:nvSpPr>
        <p:spPr>
          <a:xfrm>
            <a:off x="685800" y="5733288"/>
            <a:ext cx="5577840" cy="457200"/>
          </a:xfrm>
          <a:prstGeom prst="rect">
            <a:avLst/>
          </a:prstGeom>
          <a:noFill/>
          <a:ln/>
        </p:spPr>
        <p:txBody>
          <a:bodyPr wrap="square" lIns="0" tIns="0" rIns="0" bIns="0" rtlCol="0" anchor="t"/>
          <a:lstStyle/>
          <a:p>
            <a:pPr indent="0" marL="0">
              <a:buNone/>
            </a:pPr>
            <a:r>
              <a:rPr lang="en-US" sz="1050" dirty="0">
                <a:solidFill>
                  <a:srgbClr val="262626"/>
                </a:solidFill>
                <a:latin typeface="Calibri" pitchFamily="34" charset="0"/>
                <a:ea typeface="Calibri" pitchFamily="34" charset="-122"/>
                <a:cs typeface="Calibri" pitchFamily="34" charset="-120"/>
              </a:rPr>
              <a:t>Respaldo cifrado, parámetros del NRUS y distribución del modelo. Nunca recibe fotos para leerlas.</a:t>
            </a:r>
            <a:endParaRPr lang="en-US" sz="1050" dirty="0"/>
          </a:p>
        </p:txBody>
      </p:sp>
      <p:sp>
        <p:nvSpPr>
          <p:cNvPr id="30" name="Shape 27"/>
          <p:cNvSpPr/>
          <p:nvPr/>
        </p:nvSpPr>
        <p:spPr>
          <a:xfrm>
            <a:off x="6675120" y="1298448"/>
            <a:ext cx="2423160" cy="1600200"/>
          </a:xfrm>
          <a:prstGeom prst="rect">
            <a:avLst/>
          </a:prstGeom>
          <a:solidFill>
            <a:srgbClr val="FFFFFF"/>
          </a:solidFill>
          <a:ln w="15875">
            <a:solidFill>
              <a:srgbClr val="1F4E79"/>
            </a:solidFill>
            <a:prstDash val="solid"/>
          </a:ln>
        </p:spPr>
      </p:sp>
      <p:sp>
        <p:nvSpPr>
          <p:cNvPr id="31" name="Shape 28"/>
          <p:cNvSpPr/>
          <p:nvPr/>
        </p:nvSpPr>
        <p:spPr>
          <a:xfrm>
            <a:off x="6675120" y="1298448"/>
            <a:ext cx="2423160" cy="64008"/>
          </a:xfrm>
          <a:prstGeom prst="rect">
            <a:avLst/>
          </a:prstGeom>
          <a:solidFill>
            <a:srgbClr val="1F4E79"/>
          </a:solidFill>
          <a:ln w="12700">
            <a:solidFill>
              <a:srgbClr val="1F4E79"/>
            </a:solidFill>
            <a:prstDash val="solid"/>
          </a:ln>
        </p:spPr>
      </p:sp>
      <p:sp>
        <p:nvSpPr>
          <p:cNvPr id="32" name="Text 29"/>
          <p:cNvSpPr txBox="1"/>
          <p:nvPr/>
        </p:nvSpPr>
        <p:spPr>
          <a:xfrm>
            <a:off x="6812280" y="1426464"/>
            <a:ext cx="214884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CLASES</a:t>
            </a:r>
            <a:endParaRPr lang="en-US" sz="1300" dirty="0"/>
          </a:p>
        </p:txBody>
      </p:sp>
      <p:sp>
        <p:nvSpPr>
          <p:cNvPr id="33" name="Text 30"/>
          <p:cNvSpPr txBox="1"/>
          <p:nvPr/>
        </p:nvSpPr>
        <p:spPr>
          <a:xfrm>
            <a:off x="6812280" y="1755648"/>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11 clases del dominio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PeriodoMensual · FacturaCompra · Determinacion · ModeloLocal</a:t>
            </a:r>
            <a:endParaRPr lang="en-US" sz="1050" dirty="0"/>
          </a:p>
        </p:txBody>
      </p:sp>
      <p:sp>
        <p:nvSpPr>
          <p:cNvPr id="34" name="Shape 31"/>
          <p:cNvSpPr/>
          <p:nvPr/>
        </p:nvSpPr>
        <p:spPr>
          <a:xfrm>
            <a:off x="9235440" y="1298448"/>
            <a:ext cx="2423160" cy="1600200"/>
          </a:xfrm>
          <a:prstGeom prst="rect">
            <a:avLst/>
          </a:prstGeom>
          <a:solidFill>
            <a:srgbClr val="FFFFFF"/>
          </a:solidFill>
          <a:ln w="15875">
            <a:solidFill>
              <a:srgbClr val="1E7B4F"/>
            </a:solidFill>
            <a:prstDash val="solid"/>
          </a:ln>
        </p:spPr>
      </p:sp>
      <p:sp>
        <p:nvSpPr>
          <p:cNvPr id="35" name="Shape 32"/>
          <p:cNvSpPr/>
          <p:nvPr/>
        </p:nvSpPr>
        <p:spPr>
          <a:xfrm>
            <a:off x="9235440" y="1298448"/>
            <a:ext cx="2423160" cy="64008"/>
          </a:xfrm>
          <a:prstGeom prst="rect">
            <a:avLst/>
          </a:prstGeom>
          <a:solidFill>
            <a:srgbClr val="1E7B4F"/>
          </a:solidFill>
          <a:ln w="12700">
            <a:solidFill>
              <a:srgbClr val="1E7B4F"/>
            </a:solidFill>
            <a:prstDash val="solid"/>
          </a:ln>
        </p:spPr>
      </p:sp>
      <p:sp>
        <p:nvSpPr>
          <p:cNvPr id="36" name="Text 33"/>
          <p:cNvSpPr txBox="1"/>
          <p:nvPr/>
        </p:nvSpPr>
        <p:spPr>
          <a:xfrm>
            <a:off x="9372600" y="1426464"/>
            <a:ext cx="2148840" cy="292608"/>
          </a:xfrm>
          <a:prstGeom prst="rect">
            <a:avLst/>
          </a:prstGeom>
          <a:noFill/>
          <a:ln/>
        </p:spPr>
        <p:txBody>
          <a:bodyPr wrap="square" lIns="0" tIns="0" rIns="0" bIns="0" rtlCol="0" anchor="ctr"/>
          <a:lstStyle/>
          <a:p>
            <a:pPr indent="0" marL="0">
              <a:buNone/>
            </a:pPr>
            <a:r>
              <a:rPr lang="en-US" sz="1300" b="1" dirty="0">
                <a:solidFill>
                  <a:srgbClr val="1E7B4F"/>
                </a:solidFill>
                <a:latin typeface="Calibri" pitchFamily="34" charset="0"/>
                <a:ea typeface="Calibri" pitchFamily="34" charset="-122"/>
                <a:cs typeface="Calibri" pitchFamily="34" charset="-120"/>
              </a:rPr>
              <a:t>MODELO DE DATOS</a:t>
            </a:r>
            <a:endParaRPr lang="en-US" sz="1300" dirty="0"/>
          </a:p>
        </p:txBody>
      </p:sp>
      <p:sp>
        <p:nvSpPr>
          <p:cNvPr id="37" name="Text 34"/>
          <p:cNvSpPr txBox="1"/>
          <p:nvPr/>
        </p:nvSpPr>
        <p:spPr>
          <a:xfrm>
            <a:off x="9372600" y="1755648"/>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Conceptual, lógico y físico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9 entidades hasta 3FN</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DDL para Oracle</a:t>
            </a:r>
            <a:endParaRPr lang="en-US" sz="1050" dirty="0"/>
          </a:p>
        </p:txBody>
      </p:sp>
      <p:sp>
        <p:nvSpPr>
          <p:cNvPr id="38" name="Shape 35"/>
          <p:cNvSpPr/>
          <p:nvPr/>
        </p:nvSpPr>
        <p:spPr>
          <a:xfrm>
            <a:off x="6675120" y="3017520"/>
            <a:ext cx="4983480" cy="1417320"/>
          </a:xfrm>
          <a:prstGeom prst="rect">
            <a:avLst/>
          </a:prstGeom>
          <a:solidFill>
            <a:srgbClr val="FFFFFF"/>
          </a:solidFill>
          <a:ln w="15875">
            <a:solidFill>
              <a:srgbClr val="B8650A"/>
            </a:solidFill>
            <a:prstDash val="solid"/>
          </a:ln>
        </p:spPr>
      </p:sp>
      <p:sp>
        <p:nvSpPr>
          <p:cNvPr id="39" name="Shape 36"/>
          <p:cNvSpPr/>
          <p:nvPr/>
        </p:nvSpPr>
        <p:spPr>
          <a:xfrm>
            <a:off x="6675120" y="3017520"/>
            <a:ext cx="4983480" cy="64008"/>
          </a:xfrm>
          <a:prstGeom prst="rect">
            <a:avLst/>
          </a:prstGeom>
          <a:solidFill>
            <a:srgbClr val="B8650A"/>
          </a:solidFill>
          <a:ln w="12700">
            <a:solidFill>
              <a:srgbClr val="B8650A"/>
            </a:solidFill>
            <a:prstDash val="solid"/>
          </a:ln>
        </p:spPr>
      </p:sp>
      <p:sp>
        <p:nvSpPr>
          <p:cNvPr id="40" name="Text 37"/>
          <p:cNvSpPr txBox="1"/>
          <p:nvPr/>
        </p:nvSpPr>
        <p:spPr>
          <a:xfrm>
            <a:off x="6812280" y="3145536"/>
            <a:ext cx="4709160" cy="292608"/>
          </a:xfrm>
          <a:prstGeom prst="rect">
            <a:avLst/>
          </a:prstGeom>
          <a:noFill/>
          <a:ln/>
        </p:spPr>
        <p:txBody>
          <a:bodyPr wrap="square" lIns="0" tIns="0" rIns="0" bIns="0" rtlCol="0" anchor="ctr"/>
          <a:lstStyle/>
          <a:p>
            <a:pPr indent="0" marL="0">
              <a:buNone/>
            </a:pPr>
            <a:r>
              <a:rPr lang="en-US" sz="1300" b="1" dirty="0">
                <a:solidFill>
                  <a:srgbClr val="B8650A"/>
                </a:solidFill>
                <a:latin typeface="Calibri" pitchFamily="34" charset="0"/>
                <a:ea typeface="Calibri" pitchFamily="34" charset="-122"/>
                <a:cs typeface="Calibri" pitchFamily="34" charset="-120"/>
              </a:rPr>
              <a:t>DIAGRAMA DE PROCESO: LO QUE CAMBIA</a:t>
            </a:r>
            <a:endParaRPr lang="en-US" sz="1300" dirty="0"/>
          </a:p>
        </p:txBody>
      </p:sp>
      <p:sp>
        <p:nvSpPr>
          <p:cNvPr id="41" name="Text 38"/>
          <p:cNvSpPr txBox="1"/>
          <p:nvPr/>
        </p:nvSpPr>
        <p:spPr>
          <a:xfrm>
            <a:off x="6812280" y="3474720"/>
            <a:ext cx="4709160" cy="8686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Hoy: la factura se guarda sin registrar y se suma a mano al cierre del mes.</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Con Facturas S20: se fotografía al recibirla, Gemma 4 la lee en el teléfono y el total está siempre calculado.</a:t>
            </a:r>
            <a:endParaRPr lang="en-US" sz="1050" dirty="0"/>
          </a:p>
        </p:txBody>
      </p:sp>
      <p:sp>
        <p:nvSpPr>
          <p:cNvPr id="42" name="Shape 39"/>
          <p:cNvSpPr/>
          <p:nvPr/>
        </p:nvSpPr>
        <p:spPr>
          <a:xfrm>
            <a:off x="6675120" y="4553712"/>
            <a:ext cx="4983480" cy="1737360"/>
          </a:xfrm>
          <a:prstGeom prst="rect">
            <a:avLst/>
          </a:prstGeom>
          <a:solidFill>
            <a:srgbClr val="FFFFFF"/>
          </a:solidFill>
          <a:ln w="15875">
            <a:solidFill>
              <a:srgbClr val="C00000"/>
            </a:solidFill>
            <a:prstDash val="solid"/>
          </a:ln>
        </p:spPr>
      </p:sp>
      <p:sp>
        <p:nvSpPr>
          <p:cNvPr id="43" name="Shape 40"/>
          <p:cNvSpPr/>
          <p:nvPr/>
        </p:nvSpPr>
        <p:spPr>
          <a:xfrm>
            <a:off x="6675120" y="4553712"/>
            <a:ext cx="4983480" cy="64008"/>
          </a:xfrm>
          <a:prstGeom prst="rect">
            <a:avLst/>
          </a:prstGeom>
          <a:solidFill>
            <a:srgbClr val="C00000"/>
          </a:solidFill>
          <a:ln w="12700">
            <a:solidFill>
              <a:srgbClr val="C00000"/>
            </a:solidFill>
            <a:prstDash val="solid"/>
          </a:ln>
        </p:spPr>
      </p:sp>
      <p:sp>
        <p:nvSpPr>
          <p:cNvPr id="44" name="Text 41"/>
          <p:cNvSpPr txBox="1"/>
          <p:nvPr/>
        </p:nvSpPr>
        <p:spPr>
          <a:xfrm>
            <a:off x="6812280" y="4681728"/>
            <a:ext cx="4709160" cy="292608"/>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SECUENCIA CU-01: TODO DENTRO DEL TELÉFONO</a:t>
            </a:r>
            <a:endParaRPr lang="en-US" sz="1300" dirty="0"/>
          </a:p>
        </p:txBody>
      </p:sp>
      <p:sp>
        <p:nvSpPr>
          <p:cNvPr id="45" name="Text 42"/>
          <p:cNvSpPr txBox="1"/>
          <p:nvPr/>
        </p:nvSpPr>
        <p:spPr>
          <a:xfrm>
            <a:off x="6812280" y="5010912"/>
            <a:ext cx="4709160"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Cámara → verificar nitidez → ExtractorGemmaLocal (LiteRT-LM)</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JSON con campos y confianza → validar RUC módulo 11, fecha y duplicado</a:t>
            </a:r>
            <a:endParaRPr lang="en-US" sz="1050" dirty="0"/>
          </a:p>
          <a:p>
            <a:pPr marL="152400" indent="-1524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Guardar en Room → MotorReglasNRUS recalcula total, categoría y cuota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PROTOTIPO · CIERRE</a:t>
            </a:r>
            <a:endParaRPr lang="en-US" sz="1100" dirty="0"/>
          </a:p>
        </p:txBody>
      </p:sp>
      <p:sp>
        <p:nvSpPr>
          <p:cNvPr id="3" name="Text 1"/>
          <p:cNvSpPr txBox="1"/>
          <p:nvPr/>
        </p:nvSpPr>
        <p:spPr>
          <a:xfrm>
            <a:off x="502920" y="457200"/>
            <a:ext cx="9601200" cy="594360"/>
          </a:xfrm>
          <a:prstGeom prst="rect">
            <a:avLst/>
          </a:prstGeom>
          <a:noFill/>
          <a:ln/>
        </p:spPr>
        <p:txBody>
          <a:bodyPr wrap="square" lIns="0" tIns="0" rIns="0" bIns="0"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Prototipo y próximos pasos</a:t>
            </a:r>
            <a:endParaRPr lang="en-US" sz="2800" dirty="0"/>
          </a:p>
        </p:txBody>
      </p:sp>
      <p:sp>
        <p:nvSpPr>
          <p:cNvPr id="4" name="Shape 2"/>
          <p:cNvSpPr/>
          <p:nvPr/>
        </p:nvSpPr>
        <p:spPr>
          <a:xfrm>
            <a:off x="502920" y="1097280"/>
            <a:ext cx="1371600" cy="45720"/>
          </a:xfrm>
          <a:prstGeom prst="rect">
            <a:avLst/>
          </a:prstGeom>
          <a:solidFill>
            <a:srgbClr val="C00000"/>
          </a:solidFill>
          <a:ln w="12700">
            <a:solidFill>
              <a:srgbClr val="C00000"/>
            </a:solidFill>
            <a:prstDash val="solid"/>
          </a:ln>
        </p:spPr>
      </p:sp>
      <p:pic>
        <p:nvPicPr>
          <p:cNvPr id="5" name="Image 0" descr="Logotipo UTP">    </p:cNvPr>
          <p:cNvPicPr>
            <a:picLocks noChangeAspect="1"/>
          </p:cNvPicPr>
          <p:nvPr/>
        </p:nvPicPr>
        <p:blipFill>
          <a:blip r:embed="rId1"/>
          <a:stretch>
            <a:fillRect/>
          </a:stretch>
        </p:blipFill>
        <p:spPr>
          <a:xfrm>
            <a:off x="10607040" y="228600"/>
            <a:ext cx="1188720" cy="315468"/>
          </a:xfrm>
          <a:prstGeom prst="rect">
            <a:avLst/>
          </a:prstGeom>
        </p:spPr>
      </p:pic>
      <p:sp>
        <p:nvSpPr>
          <p:cNvPr id="6" name="Shape 3"/>
          <p:cNvSpPr/>
          <p:nvPr/>
        </p:nvSpPr>
        <p:spPr>
          <a:xfrm>
            <a:off x="0" y="6492240"/>
            <a:ext cx="12191695" cy="365760"/>
          </a:xfrm>
          <a:prstGeom prst="rect">
            <a:avLst/>
          </a:prstGeom>
          <a:solidFill>
            <a:srgbClr val="C00000"/>
          </a:solidFill>
          <a:ln w="12700">
            <a:solidFill>
              <a:srgbClr val="C00000"/>
            </a:solidFill>
            <a:prstDash val="solid"/>
          </a:ln>
        </p:spPr>
      </p:sp>
      <p:sp>
        <p:nvSpPr>
          <p:cNvPr id="7" name="Text 4"/>
          <p:cNvSpPr txBox="1"/>
          <p:nvPr/>
        </p:nvSpPr>
        <p:spPr>
          <a:xfrm>
            <a:off x="365760" y="6492240"/>
            <a:ext cx="5486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Damián Valdivia, Diego Aarón</a:t>
            </a:r>
            <a:endParaRPr lang="en-US" sz="1100" dirty="0"/>
          </a:p>
        </p:txBody>
      </p:sp>
      <p:sp>
        <p:nvSpPr>
          <p:cNvPr id="8" name="Text 5"/>
          <p:cNvSpPr txBox="1"/>
          <p:nvPr/>
        </p:nvSpPr>
        <p:spPr>
          <a:xfrm>
            <a:off x="11247120" y="6492240"/>
            <a:ext cx="548640" cy="36576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10</a:t>
            </a:r>
            <a:endParaRPr lang="en-US" sz="1100" dirty="0"/>
          </a:p>
        </p:txBody>
      </p:sp>
      <p:pic>
        <p:nvPicPr>
          <p:cNvPr id="9" name="Image 1" descr="Pantallas 1 a 4 del prototipo">    </p:cNvPr>
          <p:cNvPicPr>
            <a:picLocks noChangeAspect="1"/>
          </p:cNvPicPr>
          <p:nvPr/>
        </p:nvPicPr>
        <p:blipFill>
          <a:blip r:embed="rId2"/>
          <a:stretch>
            <a:fillRect/>
          </a:stretch>
        </p:blipFill>
        <p:spPr>
          <a:xfrm>
            <a:off x="502920" y="1298448"/>
            <a:ext cx="6949440" cy="3474720"/>
          </a:xfrm>
          <a:prstGeom prst="rect">
            <a:avLst/>
          </a:prstGeom>
        </p:spPr>
      </p:pic>
      <p:sp>
        <p:nvSpPr>
          <p:cNvPr id="10" name="Text 6"/>
          <p:cNvSpPr txBox="1"/>
          <p:nvPr/>
        </p:nvSpPr>
        <p:spPr>
          <a:xfrm>
            <a:off x="502920" y="4892040"/>
            <a:ext cx="6949440" cy="50292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Flujo principal: guía → cámara → lectura en el teléfono (sin conexión) → verificación. Ocho pantallas en total (capítulo 3 del informe).</a:t>
            </a:r>
            <a:endParaRPr lang="en-US" sz="1150" dirty="0"/>
          </a:p>
        </p:txBody>
      </p:sp>
      <p:sp>
        <p:nvSpPr>
          <p:cNvPr id="11" name="Shape 7"/>
          <p:cNvSpPr/>
          <p:nvPr/>
        </p:nvSpPr>
        <p:spPr>
          <a:xfrm>
            <a:off x="7680960" y="1298448"/>
            <a:ext cx="3977640" cy="2743200"/>
          </a:xfrm>
          <a:prstGeom prst="rect">
            <a:avLst/>
          </a:prstGeom>
          <a:solidFill>
            <a:srgbClr val="DCE6F2"/>
          </a:solidFill>
          <a:ln w="15875">
            <a:solidFill>
              <a:srgbClr val="1F4E79"/>
            </a:solidFill>
            <a:prstDash val="solid"/>
          </a:ln>
        </p:spPr>
      </p:sp>
      <p:sp>
        <p:nvSpPr>
          <p:cNvPr id="12" name="Shape 8"/>
          <p:cNvSpPr/>
          <p:nvPr/>
        </p:nvSpPr>
        <p:spPr>
          <a:xfrm>
            <a:off x="7680960" y="1298448"/>
            <a:ext cx="3977640" cy="64008"/>
          </a:xfrm>
          <a:prstGeom prst="rect">
            <a:avLst/>
          </a:prstGeom>
          <a:solidFill>
            <a:srgbClr val="1F4E79"/>
          </a:solidFill>
          <a:ln w="12700">
            <a:solidFill>
              <a:srgbClr val="1F4E79"/>
            </a:solidFill>
            <a:prstDash val="solid"/>
          </a:ln>
        </p:spPr>
      </p:sp>
      <p:sp>
        <p:nvSpPr>
          <p:cNvPr id="13" name="Text 9"/>
          <p:cNvSpPr txBox="1"/>
          <p:nvPr/>
        </p:nvSpPr>
        <p:spPr>
          <a:xfrm>
            <a:off x="7818120" y="1426464"/>
            <a:ext cx="370332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PRÓXIMOS PASOS — APF2 (semana 8)</a:t>
            </a:r>
            <a:endParaRPr lang="en-US" sz="1300" dirty="0"/>
          </a:p>
        </p:txBody>
      </p:sp>
      <p:sp>
        <p:nvSpPr>
          <p:cNvPr id="14" name="Text 10"/>
          <p:cNvSpPr txBox="1"/>
          <p:nvPr/>
        </p:nvSpPr>
        <p:spPr>
          <a:xfrm>
            <a:off x="7818120" y="1755648"/>
            <a:ext cx="3703320" cy="21945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Completar recopilación y etiquetado de facturas</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Primer ajuste fino y conversión a .litertlm</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Medir exactitud y tiempo en el teléfono de referencia</a:t>
            </a:r>
            <a:endParaRPr lang="en-US" sz="1150" dirty="0"/>
          </a:p>
          <a:p>
            <a:pPr marL="152400" indent="-152400">
              <a:spcAft>
                <a:spcPts val="400"/>
              </a:spcAft>
              <a:buSzPct val="100000"/>
              <a:buChar char="•"/>
            </a:pPr>
            <a:r>
              <a:rPr lang="en-US" sz="1150" dirty="0">
                <a:solidFill>
                  <a:srgbClr val="262626"/>
                </a:solidFill>
                <a:latin typeface="Calibri" pitchFamily="34" charset="0"/>
                <a:ea typeface="Calibri" pitchFamily="34" charset="-122"/>
                <a:cs typeface="Calibri" pitchFamily="34" charset="-120"/>
              </a:rPr>
              <a:t>Prototipos navegables y modelo de datos final</a:t>
            </a:r>
            <a:endParaRPr lang="en-US" sz="1150" dirty="0"/>
          </a:p>
        </p:txBody>
      </p:sp>
      <p:sp>
        <p:nvSpPr>
          <p:cNvPr id="15" name="Shape 11"/>
          <p:cNvSpPr/>
          <p:nvPr/>
        </p:nvSpPr>
        <p:spPr>
          <a:xfrm>
            <a:off x="7680960" y="4160520"/>
            <a:ext cx="3977640" cy="1234440"/>
          </a:xfrm>
          <a:prstGeom prst="rect">
            <a:avLst/>
          </a:prstGeom>
          <a:solidFill>
            <a:srgbClr val="FBEAEA"/>
          </a:solidFill>
          <a:ln w="15875">
            <a:solidFill>
              <a:srgbClr val="C00000"/>
            </a:solidFill>
            <a:prstDash val="solid"/>
          </a:ln>
        </p:spPr>
      </p:sp>
      <p:sp>
        <p:nvSpPr>
          <p:cNvPr id="16" name="Text 12"/>
          <p:cNvSpPr txBox="1"/>
          <p:nvPr/>
        </p:nvSpPr>
        <p:spPr>
          <a:xfrm>
            <a:off x="7863840" y="4251960"/>
            <a:ext cx="3611880" cy="274320"/>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LO QUE AÚN FALTA VALIDAR</a:t>
            </a:r>
            <a:endParaRPr lang="en-US" sz="1200" dirty="0"/>
          </a:p>
        </p:txBody>
      </p:sp>
      <p:sp>
        <p:nvSpPr>
          <p:cNvPr id="17" name="Text 13"/>
          <p:cNvSpPr txBox="1"/>
          <p:nvPr/>
        </p:nvSpPr>
        <p:spPr>
          <a:xfrm>
            <a:off x="7863840" y="4544568"/>
            <a:ext cx="3611880" cy="777240"/>
          </a:xfrm>
          <a:prstGeom prst="rect">
            <a:avLst/>
          </a:prstGeom>
          <a:noFill/>
          <a:ln/>
        </p:spPr>
        <p:txBody>
          <a:bodyPr wrap="square" lIns="0" tIns="0" rIns="0" bIns="0" rtlCol="0" anchor="t"/>
          <a:lstStyle/>
          <a:p>
            <a:pPr indent="0" marL="0">
              <a:buNone/>
            </a:pPr>
            <a:r>
              <a:rPr lang="en-US" sz="1100" dirty="0">
                <a:solidFill>
                  <a:srgbClr val="262626"/>
                </a:solidFill>
                <a:latin typeface="Calibri" pitchFamily="34" charset="0"/>
                <a:ea typeface="Calibri" pitchFamily="34" charset="-122"/>
                <a:cs typeface="Calibri" pitchFamily="34" charset="-120"/>
              </a:rPr>
              <a:t>Que el modelo conserve su exactitud tras la cuantización y que lea una factura en ≤ 20 s en un equipo de gama media.</a:t>
            </a:r>
            <a:endParaRPr lang="en-US" sz="1100" dirty="0"/>
          </a:p>
        </p:txBody>
      </p:sp>
      <p:sp>
        <p:nvSpPr>
          <p:cNvPr id="18" name="Shape 14"/>
          <p:cNvSpPr/>
          <p:nvPr/>
        </p:nvSpPr>
        <p:spPr>
          <a:xfrm>
            <a:off x="502920" y="5532120"/>
            <a:ext cx="11155680" cy="777240"/>
          </a:xfrm>
          <a:prstGeom prst="rect">
            <a:avLst/>
          </a:prstGeom>
          <a:solidFill>
            <a:srgbClr val="1E7B4F"/>
          </a:solidFill>
          <a:ln w="15875">
            <a:solidFill>
              <a:srgbClr val="1E7B4F"/>
            </a:solidFill>
            <a:prstDash val="solid"/>
          </a:ln>
        </p:spPr>
      </p:sp>
      <p:sp>
        <p:nvSpPr>
          <p:cNvPr id="19" name="Text 15"/>
          <p:cNvSpPr txBox="1"/>
          <p:nvPr/>
        </p:nvSpPr>
        <p:spPr>
          <a:xfrm>
            <a:off x="685800" y="5605272"/>
            <a:ext cx="10789920" cy="63093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Facturas S20: una foto al recibir la factura, la IA la lee en el teléfono y el bodeguero declara el NRUS con el monto exacto.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APF1 - Sustentación — Facturas S20</dc:title>
  <dc:subject>PptxGenJS Presentation</dc:subject>
  <dc:creator>PptxGenJS</dc:creator>
  <cp:lastModifiedBy>PptxGenJS</cp:lastModifiedBy>
  <cp:revision>1</cp:revision>
  <dcterms:created xsi:type="dcterms:W3CDTF">2026-09-27T04:13:26Z</dcterms:created>
  <dcterms:modified xsi:type="dcterms:W3CDTF">2026-09-27T04:13:26Z</dcterms:modified>
</cp:coreProperties>
</file>