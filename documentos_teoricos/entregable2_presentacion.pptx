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Buenos días. Somos el equipo de Facturas S20. En el primer avance analizamos el problema y elegimos la solución; hoy presentamos su diseño: procesos BPMN, arquitectura, clases, base de datos, prototipo, validación, cronograma y presupuesto. Cada integrante expone una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Recordamos el problema con el enfoque de procesos que pide este avance. La bodega del NRUS recibe facturas que no registra; eso afecta cinco procesos, desde la recepción hasta el pago. En el caso de referencia se perdieron 5 de 14 facturas, el cálculo toma 3 horas y el titular pagó S/ 30 de más en el mes, S/ 360 al año. La solución se organiza en seis módulos que cubren esos procesos.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Profundizamos las tres alternativas con los seis aspectos que pide la consigna. Las tres tienen al menos cinco pantallas y más de 50 % de Java. La diferencia es dónde se lee la factura. Solo la alternativa 1 cubre los 22 requerimientos funcionales y los 19 no funcionales, porque funciona sin conexión y la imagen no sale del teléfono. Obtuvo 4,40 sobre 5 en la matriz ponderada. Paso la palabra a Paulo.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Paulo: Modelamos los procesos con BPMN 2.0. Uso la notación estándar: pools por participante, eventos de inicio, de temporizador y de fin, tareas y compuertas exclusivas. En el proceso actual, al fin de mes el titular reúne, estima y suma a mano. La compuerta ¿Seguro de la categoría? es donde nace el pago en exceso. Las anotaciones rojas son los tres puntos de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Paulo: En el proceso propuesto la bodega tiene dos carriles: el bodeguero y la app. La factura se fotografía al llegar, Gemma 4 la lee en el teléfono, el bodeguero solo verifica y el acumulado y la categoría se recalculan con cada factura. Si se pasa del 80 % del límite, la app avisa. El cierre ya no es manual: un temporizador recuerda el vencimiento y solo se pide el total de ventas.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Paulo: Detallamos el caso de uso principal en cuatro carriles. Tres compuertas cubren las excepciones: foto ilegible, equipo sin memoria o sin modelo, y factura duplicada. Solo después de la revisión del bodeguero se guarda todo en una transacción y se recalcula el mes. Los subprocesos de cierre mensual y de publicación del modelo están en el Anexo K. Paso la palabra a Morán.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Morán: La arquitectura tiene cuatro capas en el teléfono: presentación, dominio, inferencia local y datos. La regla es que el dominio no depende de nadie: la inferencia y los datos implementan sus interfaces. Por eso el motor del NRUS se prueba sin emulador y el modelo se cambia sin tocar el dominio. El servidor es opcional y nunca recibe imágenes; el entrenamiento ocurre fuera del producto en Colab.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Morán: El diagrama de clases tiene dos vistas. El dominio, con 14 clases y enumeraciones para los estados; agregamos ParametrosNrus, para cambiar la norma sin recompilar, y Aviso. La vista de diseño muestra cómo se implementa el registro por capas con buenas prácticas: inversión de dependencias, responsabilidad única y encapsulamiento, con BigDecimal para los montos.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Morán: Tenemos dos bases. La local, en el teléfono, es la fuente de verdad: 13 tablas en tercera forma normal, cifradas con SQLCipher. La del servidor no replica facturas: guarda el respaldo como un bloque cifrado en el teléfono que el servidor no puede leer, las versiones del modelo y de parámetros y la auditoría. Aplicamos mínimo privilegio, BCrypt, consultas parametrizadas y verificación SHA-256. Paso la palabra a Fabrizzio.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Fabrizzio: Las interfaces se diseñaron desde el proceso TO-BE: cada tarea del bodeguero tiene una pantalla. El sistema de diseño fija colores con significado, tipografía, componentes y reglas de UX: botones de 48 dp, texto de datos de 16 sp y lenguaje sin términos contables. La navegación usa una barra inferior con un botón central Escanear, así registrar una factura está siempre a un toque.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Fabrizzio: Este es el flujo principal del prototipo. Desde el inicio, que muestra compras, categoría, cuota y vencimiento, el bodeguero toca Escanear, encuadra la factura con indicador de nitidez, revisa los campos —el importe aparece en ámbar porque la confianza fue baja— y guarda. Son tres toques. El total del mes se actualiza y avisa que pasó el 80 % del límite.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Fabrizzio: El prototipo completo tiene 19 pantallas móviles en seis módulos, más la consola de administración y el reporte PDF. Aquí la determinación: la app explica que decide el mayor monto entre compras y ventas. El vencimiento se calcula con el último dígito del RUC. El reporte PDF es lo que el bodeguero comparte con su contador, y la consola permite publicar versiones del modelo con su huella SHA-256.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Fabrizzio: Validamos el diseño con matrices de cobertura. Cada uno de los 22 requerimientos funcionales tiene pantalla, caso de uso, clase y tabla; los 19 no funcionales tienen una decisión de diseño verificable. Hicimos una evaluación heurística con las diez heurísticas de Nielsen y un recorrido de seis tareas, y definimos la prueba con tres titulares para la iteración 3. Devuelvo la palabra a Diego.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Al corte de la semana 8 el análisis y el diseño están completos y no hay desviaciones: adelantamos el front-end una semana. El ajuste fino con conversión inicia la semana 9. El proyecto necesita un desembolso de unos S/ 552 en servicios; el resto son aportes del equipo. La operación cuesta unos S/ 64 al mes y no depende del número de facturas, porque la lectura se hace en el teléfono.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Diego: Por último, entregamos la documentación técnica en Markdown, pensada para versionarse con el código: arquitectura, contratos, esquema de datos, reglas del NRUS, pantallas, API y plan de pruebas. Con ella empieza la construcción. En conclusión: el diseño cubre todo el alcance, protege los datos del bodeguero y mantiene 85 % de Java. Gracias,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E1B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502920"/>
            <a:ext cx="4050791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731520"/>
            <a:ext cx="3136392" cy="83484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725912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Facturas S20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23160"/>
            <a:ext cx="9994392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Diseño de la solución: aplicación móvil con IA multimodal (Gemma 4) embebida en el teléfono para la declaración mensual del NRUS en bodegas de San Juan de Lurigancho</a:t>
            </a:r>
          </a:p>
        </p:txBody>
      </p:sp>
      <p:sp>
        <p:nvSpPr>
          <p:cNvPr id="7" name="Rectangle 6"/>
          <p:cNvSpPr/>
          <p:nvPr/>
        </p:nvSpPr>
        <p:spPr>
          <a:xfrm>
            <a:off x="5550408" y="3383280"/>
            <a:ext cx="109728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1036015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Avance de Proyecto Final 2  ·  Curso Integrador I: Sistemas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1036015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Sección 48935  ·  Docente: Ing. Carlos Alberto Effio Gonzáles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434840"/>
            <a:ext cx="5788152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10360152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Lima – Perú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ANÁLISIS DEL CONTEXTO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El problema afecta a toda la cadena del proceso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651760" cy="1143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716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1F4E79"/>
                </a:solidFill>
                <a:latin typeface="Calibri"/>
              </a:rPr>
              <a:t>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facturas de compra al 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651760" cy="1143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3716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  <a:latin typeface="Calibri"/>
              </a:rPr>
              <a:t>5 de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9933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facturas perdidas al cierre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143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3716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  <a:latin typeface="Calibri"/>
              </a:rPr>
              <a:t>3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9933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de cálculo manual al 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325880"/>
            <a:ext cx="2651760" cy="11430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3716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00" b="1" i="0">
                <a:solidFill>
                  <a:srgbClr val="C00000"/>
                </a:solidFill>
                <a:latin typeface="Calibri"/>
              </a:rPr>
              <a:t>S/ 360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9933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pagados de más al año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743200"/>
          <a:ext cx="758952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  <a:gridCol w="256032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Proceso de la bodega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Cómo lo afecta el problema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Qué hace Facturas S20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Recepción de mercadería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La factura se guarda sin registrar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Foto en ≈ 10 s en el mostrador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Custodia de comprobantes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Se pierden o deterioran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Imagen cifrada en el teléfono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Cálculo mensual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Suma a mano, 3 h y errores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Acumulado automático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Determinación de la categoría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Ante la duda, categoría superior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Motor de reglas y avisos al 80 %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Declaración y pago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Al último día y sin sustento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Recordatorio y reporte PDF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8321040" y="2743200"/>
            <a:ext cx="338328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2743200"/>
            <a:ext cx="338328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88036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Alcance: 6 módulos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200400"/>
            <a:ext cx="3108960" cy="23042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Acceso y configuración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Registro de facturas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Control de facturas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Determinación del NRUS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Reportes e historial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Respaldo y administración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ALTERNATIVAS DE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Tres alternativas profundizadas; se mantiene la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3611880" cy="86868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ALTERNATIVA 1 · SELECCIONADA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 Android en Java con Gemma 4 embebido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19 pantallas + consola web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Java ≈ 85 %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Lee la factura sin internet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La imagen no sale del teléfono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RF 22/22 · RNF 19/19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348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1E7B4F"/>
                </a:solidFill>
                <a:latin typeface="Calibri"/>
              </a:rPr>
              <a:t>Puntaje ponderado  </a:t>
            </a:r>
            <a:r>
              <a:rPr sz="2000" b="1" i="0">
                <a:solidFill>
                  <a:srgbClr val="1E7B4F"/>
                </a:solidFill>
                <a:latin typeface="Calibri"/>
              </a:rPr>
              <a:t>4,40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611880" cy="86868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4173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ALTERNATIVA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6916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 Android en Java con inferencia en servidor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402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37744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7 pantallas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Java ≈ 85 %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Sin señal solo encola facturas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Costo mensual de GPU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RF 22/22 · RNF 16/19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4348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C55A11"/>
                </a:solidFill>
                <a:latin typeface="Calibri"/>
              </a:rPr>
              <a:t>Puntaje ponderado  </a:t>
            </a:r>
            <a:r>
              <a:rPr sz="2000" b="1" i="0">
                <a:solidFill>
                  <a:srgbClr val="C55A11"/>
                </a:solidFill>
                <a:latin typeface="Calibri"/>
              </a:rPr>
              <a:t>3,60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371600"/>
            <a:ext cx="3611880" cy="86868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417320"/>
            <a:ext cx="33832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ALTERNATIVA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691640"/>
            <a:ext cx="3383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Aplicación web en Java con servicio de terceros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92440" y="2240280"/>
            <a:ext cx="36118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377440"/>
            <a:ext cx="329184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6 pantallas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Java ≈ 80 %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Modelo cerrado, sin ajuste fino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Cobra por documento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50" b="0">
                <a:solidFill>
                  <a:srgbClr val="262626"/>
                </a:solidFill>
                <a:latin typeface="Calibri"/>
              </a:rPr>
              <a:t>RF parcial · RNF 13/19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434840"/>
            <a:ext cx="32918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404040"/>
                </a:solidFill>
                <a:latin typeface="Calibri"/>
              </a:rPr>
              <a:t>Puntaje ponderado  </a:t>
            </a:r>
            <a:r>
              <a:rPr sz="2000" b="1" i="0">
                <a:solidFill>
                  <a:srgbClr val="404040"/>
                </a:solidFill>
                <a:latin typeface="Calibri"/>
              </a:rPr>
              <a:t>2,15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440680"/>
            <a:ext cx="11201400" cy="86868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486400"/>
            <a:ext cx="108813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7B4F"/>
                </a:solidFill>
                <a:latin typeface="Calibri"/>
              </a:rPr>
              <a:t>Criterios de mayor peso: permitir el ajuste fino sobre facturas peruanas (25 %) y funcionar sin conexión (20 %). La única desventaja de la alternativa 1 —requiere un teléfono de gama media— se mitiga con el registro manual (P19).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 PROCESOS · BPMN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Proceso actual (AS-IS): tres puntos de error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pic>
        <p:nvPicPr>
          <p:cNvPr id="9" name="Picture 8" descr="bpmn_01_a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8229600" cy="327313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869680" y="1325880"/>
            <a:ext cx="28346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0" y="1325880"/>
            <a:ext cx="283464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1463039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Notación usada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40" y="1783080"/>
            <a:ext cx="2560320" cy="17830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Pools: distribuidor, bodega, SUNAT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Evento de temporizador: fin de mes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Compuertas exclusivas (XOR)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Flujo de mensaje entre pools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150" b="0">
                <a:solidFill>
                  <a:srgbClr val="262626"/>
                </a:solidFill>
                <a:latin typeface="Calibri"/>
              </a:rPr>
              <a:t>Almacén de datos: la caja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3794760"/>
            <a:ext cx="2834640" cy="2514600"/>
          </a:xfrm>
          <a:prstGeom prst="rect">
            <a:avLst/>
          </a:prstGeom>
          <a:solidFill>
            <a:srgbClr val="FBE9E9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69680" y="3794760"/>
            <a:ext cx="2834640" cy="6400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3931920"/>
            <a:ext cx="25603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Puntos de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4251960"/>
            <a:ext cx="2560320" cy="1965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Guardar sin registrar: se pierden 5 de 14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Sumar a mano: 3 h y errores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Estimar ante la duda: paga S/ 50 en vez de S/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 PROCESOS · BPMN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Proceso propuesto (TO-BE): registrar al recibir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bpmn_02_t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8229600" cy="4021281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823960" y="1371600"/>
          <a:ext cx="29260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60120"/>
                <a:gridCol w="1051560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AS-IS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TO-BE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Registro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Fin de mes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Al recibir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Tiempo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≈ 3 h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≈ 10 s por factura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Categoría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Juicio ante la duda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Motor de reglas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Sustento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64 % conservadas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100 % con imagen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  <a:latin typeface="Calibri"/>
                        </a:rPr>
                        <a:t>Avisos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Ninguno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62626"/>
                          </a:solidFill>
                          <a:latin typeface="Calibri"/>
                        </a:rPr>
                        <a:t>80 %, 100 % y vencimiento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 PROCESOS · BPMN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Subproceso «Registrar factura con IA» y sus excepciones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Coronel Obregón, Paulo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bpmn_03_regist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8138160" cy="4069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778240" y="1325880"/>
            <a:ext cx="292608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778240" y="1325880"/>
            <a:ext cx="292608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1463039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Excepciones diseñadas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783080"/>
            <a:ext cx="2651760" cy="22402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  <a:latin typeface="Calibri"/>
              </a:rPr>
              <a:t>¿Legible? </a:t>
            </a:r>
            <a:r>
              <a:rPr sz="1200" b="0">
                <a:solidFill>
                  <a:srgbClr val="262626"/>
                </a:solidFill>
                <a:latin typeface="Calibri"/>
              </a:rPr>
              <a:t>no → otra toma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  <a:latin typeface="Calibri"/>
              </a:rPr>
              <a:t>¿Modelo y memoria? </a:t>
            </a:r>
            <a:r>
              <a:rPr sz="1200" b="0">
                <a:solidFill>
                  <a:srgbClr val="262626"/>
                </a:solidFill>
                <a:latin typeface="Calibri"/>
              </a:rPr>
              <a:t>no → registro manual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  <a:latin typeface="Calibri"/>
              </a:rPr>
              <a:t>¿Duplicada? </a:t>
            </a:r>
            <a:r>
              <a:rPr sz="1200" b="0">
                <a:solidFill>
                  <a:srgbClr val="262626"/>
                </a:solidFill>
                <a:latin typeface="Calibri"/>
              </a:rPr>
              <a:t>sí → aviso, no se registra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1">
                <a:solidFill>
                  <a:srgbClr val="262626"/>
                </a:solidFill>
                <a:latin typeface="Calibri"/>
              </a:rPr>
              <a:t>¿Corrige? </a:t>
            </a:r>
            <a:r>
              <a:rPr sz="1200" b="0">
                <a:solidFill>
                  <a:srgbClr val="262626"/>
                </a:solidFill>
                <a:latin typeface="Calibri"/>
              </a:rPr>
              <a:t>sí → editar campo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78240" y="4251960"/>
            <a:ext cx="29260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0" y="4251960"/>
            <a:ext cx="292608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4389120"/>
            <a:ext cx="26517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Requerimientos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709160"/>
            <a:ext cx="2651760" cy="1508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RF-01 a RF-08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RNF-04: lectura ≤ 20 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RNF-12: sin conexión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RNF-14: la foto no sale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DETALLADO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Arquitectura: cuatro capas dentro del teléfono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pic>
        <p:nvPicPr>
          <p:cNvPr id="9" name="Picture 8" descr="arquitectura_cap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7680960" cy="442784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21040" y="1325880"/>
            <a:ext cx="33832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21040" y="1325880"/>
            <a:ext cx="338328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463039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Decisiones clave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1783080"/>
            <a:ext cx="310896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Dominio en Java puro, sin Android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Kotlin solo en el puente con LiteRT-LM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Room + SQLCipher con clave en el Keystore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Modelo como descarga separada verificada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931920"/>
            <a:ext cx="33832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3931920"/>
            <a:ext cx="338328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406908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Tecnologías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389120"/>
            <a:ext cx="310896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Java 17 · Android 8.0+ · CameraX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LiteRT-LM · Gemma 4 E2B (.litertlm)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Java 21 · Spring Boot 3 · JPA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00" b="0">
                <a:solidFill>
                  <a:srgbClr val="262626"/>
                </a:solidFill>
                <a:latin typeface="Calibri"/>
              </a:rPr>
              <a:t>Oracle Database o SQL 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DETALLADO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Diagrama de clases: dominio y diseño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pic>
        <p:nvPicPr>
          <p:cNvPr id="9" name="Picture 8" descr="clases_domin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5669280" cy="3800994"/>
          </a:xfrm>
          <a:prstGeom prst="rect">
            <a:avLst/>
          </a:prstGeom>
        </p:spPr>
      </p:pic>
      <p:pic>
        <p:nvPicPr>
          <p:cNvPr id="10" name="Picture 9" descr="clases_disen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280160"/>
            <a:ext cx="5577840" cy="316922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5440680"/>
            <a:ext cx="11201400" cy="8686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108813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Buenas prácticas: </a:t>
            </a:r>
            <a:r>
              <a:rPr sz="1300" b="0" i="0">
                <a:solidFill>
                  <a:srgbClr val="1F4E79"/>
                </a:solidFill>
                <a:latin typeface="Calibri"/>
              </a:rPr>
              <a:t>inversión de dependencias (el caso de uso depende de interfaces), responsabilidad única (ViewModel solo estado), encapsulamiento (atributos privados, BigDecimal y enumeraciones).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DETALLADO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Base de datos: local cifrada y servidor sin facturas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Mateo Velásquez, Morán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pic>
        <p:nvPicPr>
          <p:cNvPr id="9" name="Picture 8" descr="der_loc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5852160" cy="3857105"/>
          </a:xfrm>
          <a:prstGeom prst="rect">
            <a:avLst/>
          </a:prstGeom>
        </p:spPr>
      </p:pic>
      <p:pic>
        <p:nvPicPr>
          <p:cNvPr id="10" name="Picture 9" descr="der_servid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280160"/>
            <a:ext cx="5394960" cy="27587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230368"/>
            <a:ext cx="5760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Local · Room + SQLCipher · 13 tablas · 3FN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5230368"/>
            <a:ext cx="53949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Servidor · Oracle / SQL Server · 9 tablas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AES-256 en reposo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86584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32304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TLS en tránsito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Respaldo cifrado de extremo a extremo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1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BCrypt y JWT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7576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Mínimo privilegio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921240" y="5623560"/>
            <a:ext cx="1783080" cy="6858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66960" y="56235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1E7B4F"/>
                </a:solidFill>
                <a:latin typeface="Calibri"/>
              </a:rPr>
              <a:t>SHA-256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 INTERFACES · UX/UI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Sistema de diseño y navegación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ui_sistema_disen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5760720" cy="3240405"/>
          </a:xfrm>
          <a:prstGeom prst="rect">
            <a:avLst/>
          </a:prstGeom>
        </p:spPr>
      </p:pic>
      <p:pic>
        <p:nvPicPr>
          <p:cNvPr id="10" name="Picture 9" descr="ui_mapa_navegac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1280160"/>
            <a:ext cx="5486400" cy="29045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2920" y="4937760"/>
            <a:ext cx="26517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E7B4F"/>
                </a:solidFill>
                <a:latin typeface="Calibri"/>
              </a:rPr>
              <a:t>≥ 48 dp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509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objetivos táctiles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4937760"/>
            <a:ext cx="26517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50292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E7B4F"/>
                </a:solidFill>
                <a:latin typeface="Calibri"/>
              </a:rPr>
              <a:t>≥ 16 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56509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texto de datos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4937760"/>
            <a:ext cx="26517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50292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E7B4F"/>
                </a:solidFill>
                <a:latin typeface="Calibri"/>
              </a:rPr>
              <a:t>≤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56509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toques para registrar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4937760"/>
            <a:ext cx="2651760" cy="137160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502920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800" b="1" i="0">
                <a:solidFill>
                  <a:srgbClr val="1E7B4F"/>
                </a:solidFill>
                <a:latin typeface="Calibri"/>
              </a:rPr>
              <a:t>4,5:1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565099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contraste mínimo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DEL 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Flujo principal: una factura en tres toques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9" name="Picture 8" descr="pantalla_04_inicio_resumen_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26" y="1280160"/>
            <a:ext cx="2239346" cy="457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97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P04 Inicio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090672" y="3429000"/>
            <a:ext cx="320040" cy="320040"/>
          </a:xfrm>
          <a:prstGeom prst="rightArrow">
            <a:avLst/>
          </a:prstGeom>
          <a:solidFill>
            <a:srgbClr val="1E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ntalla_06_camara_con_encuad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766" y="1280160"/>
            <a:ext cx="2239346" cy="457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74720" y="5897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P06 Cámara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25312" y="3429000"/>
            <a:ext cx="320040" cy="320040"/>
          </a:xfrm>
          <a:prstGeom prst="rightArrow">
            <a:avLst/>
          </a:prstGeom>
          <a:solidFill>
            <a:srgbClr val="1E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antalla_08_verificacion_de_dat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406" y="1280160"/>
            <a:ext cx="2239346" cy="457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09360" y="5897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P08 Verificación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759952" y="3429000"/>
            <a:ext cx="320040" cy="320040"/>
          </a:xfrm>
          <a:prstGeom prst="rightArrow">
            <a:avLst/>
          </a:prstGeom>
          <a:solidFill>
            <a:srgbClr val="1E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antalla_10_factura_guardad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3046" y="1280160"/>
            <a:ext cx="2239346" cy="457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0" y="589788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1" i="0">
                <a:solidFill>
                  <a:srgbClr val="1F4E79"/>
                </a:solidFill>
                <a:latin typeface="Calibri"/>
              </a:rPr>
              <a:t>P10 Guardada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DISEÑO DEL PROTOTIPO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Módulos del NRUS, reportes y administración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9" name="Picture 8" descr="pantalla_14_categoria_y_cuo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520" y="1280160"/>
            <a:ext cx="2060199" cy="4206240"/>
          </a:xfrm>
          <a:prstGeom prst="rect">
            <a:avLst/>
          </a:prstGeom>
        </p:spPr>
      </p:pic>
      <p:pic>
        <p:nvPicPr>
          <p:cNvPr id="10" name="Picture 9" descr="pantalla_15_vencimiento_y_recordatori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800" y="1280160"/>
            <a:ext cx="2060199" cy="4206240"/>
          </a:xfrm>
          <a:prstGeom prst="rect">
            <a:avLst/>
          </a:prstGeom>
        </p:spPr>
      </p:pic>
      <p:pic>
        <p:nvPicPr>
          <p:cNvPr id="11" name="Picture 10" descr="reporte_mensual_pd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280160"/>
            <a:ext cx="2834640" cy="3779519"/>
          </a:xfrm>
          <a:prstGeom prst="rect">
            <a:avLst/>
          </a:prstGeom>
        </p:spPr>
      </p:pic>
      <p:pic>
        <p:nvPicPr>
          <p:cNvPr id="12" name="Picture 11" descr="pantalla_20_consola_adm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79" y="1645920"/>
            <a:ext cx="3794760" cy="23717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7200" y="5532120"/>
            <a:ext cx="2148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P14 Categoría y cuota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5532120"/>
            <a:ext cx="2148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P15 Vencimiento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5532120"/>
            <a:ext cx="2834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Reporte mensual PDF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5532120"/>
            <a:ext cx="3794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1F4E79"/>
                </a:solidFill>
                <a:latin typeface="Calibri"/>
              </a:rPr>
              <a:t>P20 Consola de administración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97880"/>
            <a:ext cx="11201400" cy="45720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5897880"/>
            <a:ext cx="1088136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1" i="0">
                <a:solidFill>
                  <a:srgbClr val="1E7B4F"/>
                </a:solidFill>
                <a:latin typeface="Calibri"/>
              </a:rPr>
              <a:t>Herramienta: mockups vectoriales SVG editables en Figma o Penpot · 19 pantallas + consola + reporte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VALIDACIÓN DE 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El diseño cubre el 100 % del alcance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Gonzales Maco, Fabrizzio Jhoel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651760" cy="13258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E7B4F"/>
                </a:solidFill>
                <a:latin typeface="Calibri"/>
              </a:rPr>
              <a:t>22 /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3911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requerimientos funcionales cubiertos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325880"/>
            <a:ext cx="2651760" cy="13258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E7B4F"/>
                </a:solidFill>
                <a:latin typeface="Calibri"/>
              </a:rPr>
              <a:t>19 / 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03911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no funcionales con decisión de diseño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651760" cy="13258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F4E79"/>
                </a:solidFill>
                <a:latin typeface="Calibri"/>
              </a:rPr>
              <a:t>10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03911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heurísticas de Nielsen revisadas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6840" y="1325880"/>
            <a:ext cx="2651760" cy="132588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417320"/>
            <a:ext cx="2651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1F4E79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039112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50" b="0" i="0">
                <a:solidFill>
                  <a:srgbClr val="404040"/>
                </a:solidFill>
                <a:latin typeface="Calibri"/>
              </a:rPr>
              <a:t>tareas en la prueba con 3 titulares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880360"/>
          <a:ext cx="7498079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79"/>
                <a:gridCol w="2999232"/>
                <a:gridCol w="1687068"/>
              </a:tblGrid>
              <a:tr h="42976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Escenario verificado en el prototipo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Resultado esperado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Pantallas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Factura legible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Campos leídos; total S/ 4 120,50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P06–P10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Importe con baja confianza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Campo en ámbar para revisar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P08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Factura duplicada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Aviso; no se registra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Equipo de 4 GB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Registro manual validado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P03, P19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Más del 80 % del límite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Barra y aviso en ámbar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P04, P10, P14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Anular por error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Se descuenta y recalcula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P12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8229600" y="2880360"/>
            <a:ext cx="34747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880360"/>
            <a:ext cx="347472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66760" y="3017520"/>
            <a:ext cx="3200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Metas de usabilidad (I3)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37560"/>
            <a:ext cx="3200400" cy="246887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≥ 5 de 6 tareas sin ayuda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≤ 3 toques para registrar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≤ 30 s por factura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SUS ≥ 70 puntos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250" b="0">
                <a:solidFill>
                  <a:srgbClr val="262626"/>
                </a:solidFill>
                <a:latin typeface="Calibri"/>
              </a:rPr>
              <a:t>0 errores al leer la categoría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CRONOGRAMA Y PRESUPUESTO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Cronograma al corte de la semana 8 y presupuesto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9" name="Picture 8" descr="gantt_actualizad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280160"/>
            <a:ext cx="7589520" cy="35360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75320" y="1325880"/>
            <a:ext cx="3429000" cy="8503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371600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C00000"/>
                </a:solidFill>
                <a:latin typeface="Calibri"/>
              </a:rPr>
              <a:t>S/ 552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371600"/>
            <a:ext cx="1600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desembolso del proyecto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2267712"/>
            <a:ext cx="3429000" cy="8503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313432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  <a:latin typeface="Calibri"/>
              </a:rPr>
              <a:t>S/ 19 652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313432"/>
            <a:ext cx="1600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incluyendo aportes del equipo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3209544"/>
            <a:ext cx="3429000" cy="8503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255263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E7B4F"/>
                </a:solidFill>
                <a:latin typeface="Calibri"/>
              </a:rPr>
              <a:t>S/ 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3255263"/>
            <a:ext cx="1600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operación al 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20" y="4151376"/>
            <a:ext cx="3429000" cy="850392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4197096"/>
            <a:ext cx="1737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200" b="1" i="0">
                <a:solidFill>
                  <a:srgbClr val="1E7B4F"/>
                </a:solidFill>
                <a:latin typeface="Calibri"/>
              </a:rPr>
              <a:t>S/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4197096"/>
            <a:ext cx="16002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50" b="0" i="0">
                <a:solidFill>
                  <a:srgbClr val="404040"/>
                </a:solidFill>
                <a:latin typeface="Calibri"/>
              </a:rPr>
              <a:t>costo por factura leída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5166360"/>
          <a:ext cx="749808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463040"/>
                <a:gridCol w="5120640"/>
              </a:tblGrid>
              <a:tr h="310896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Semanas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Siguiente entrega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Contenido</a:t>
                      </a:r>
                    </a:p>
                  </a:txBody>
                  <a:tcPr marL="54864" marR="54864" marT="18288" marB="18288" anchor="ctr">
                    <a:solidFill>
                      <a:srgbClr val="1F4E7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9–10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Incremento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Front-end navegable y motor NRUS probado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11–12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APF3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Room cifrada, modelo convertido en el teléfono, prueba de usabilidad</a:t>
                      </a:r>
                    </a:p>
                  </a:txBody>
                  <a:tcPr marL="54864" marR="54864" marT="18288" marB="18288" anchor="ctr">
                    <a:solidFill>
                      <a:srgbClr val="F6F8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62626"/>
                          </a:solidFill>
                          <a:latin typeface="Calibri"/>
                        </a:rPr>
                        <a:t>13–18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Final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62626"/>
                          </a:solidFill>
                          <a:latin typeface="Calibri"/>
                        </a:rPr>
                        <a:t>Reportes, respaldo, validación en mes simulado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  <a:latin typeface="Calibri"/>
              </a:rPr>
              <a:t>DOCUMENTACIÓN TÉCNICA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69264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  <a:latin typeface="Calibri"/>
              </a:rPr>
              <a:t>Documentación para desarrolladores y próximos pasos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97280"/>
            <a:ext cx="1371600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t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28600"/>
            <a:ext cx="1188720" cy="3163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Damián Valdivia, Diego Aarón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9224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100" b="0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325880"/>
            <a:ext cx="5486400" cy="640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63039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Calibri"/>
              </a:rPr>
              <a:t>entregable2_documentacion_tecnica.md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83080"/>
            <a:ext cx="5212080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Arquitectura por capas y regla de dependencias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Reglas del NRUS con casos de prueba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Contrato del modelo: instrucción y JSON de salida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Esquema local (13 tablas) y del servidor (9)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Pantallas P01–P20, tokens y textos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API REST, seguridad y entornos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Plan de construcción por iteraciones y pruebas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3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486400" cy="6400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463039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E7B4F"/>
                </a:solidFill>
                <a:latin typeface="Calibri"/>
              </a:rPr>
              <a:t>Próximos pasos hacia APF3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52120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Front-end y dominio desde la documentación técnica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Ajuste fino y conversión a .litertlm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Exactitud y tiempo en el teléfono de referencia</a:t>
            </a:r>
          </a:p>
          <a:p>
            <a:pPr marL="182880" indent="-182880">
              <a:spcAft>
                <a:spcPts val="400"/>
              </a:spcAft>
              <a:buChar char="•"/>
            </a:pPr>
            <a:r>
              <a:rPr sz="1300" b="0">
                <a:solidFill>
                  <a:srgbClr val="262626"/>
                </a:solidFill>
                <a:latin typeface="Calibri"/>
              </a:rPr>
              <a:t>Prueba de usabilidad con tres titulares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486400" cy="15087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5120640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Una foto al recibir la factura, la IA la lee en el teléfono y el bodeguero declara el NRUS con el monto exacto.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32120"/>
            <a:ext cx="11201400" cy="777240"/>
          </a:xfrm>
          <a:prstGeom prst="rect">
            <a:avLst/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32120"/>
            <a:ext cx="108813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50" b="0" i="0">
                <a:solidFill>
                  <a:srgbClr val="404040"/>
                </a:solidFill>
                <a:latin typeface="Calibri"/>
              </a:rPr>
              <a:t>Anexos del informe: A–J evidencias del primer avance · K–T evidencias del segundo avance (BPMN, clases, DER, arquitectura, interfaces, prototipo, cobertura, validación y documentación).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APF2 - Sustentación — Facturas S20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