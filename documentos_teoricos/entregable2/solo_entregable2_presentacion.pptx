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Buenos días. Somos el equipo de Facturas S20. En el primer avance analizamos el problema y elegimos la solución; hoy presentamos su diseño: contexto y objetivos, alternativas y análisis, procesos BPMN, arquitectura, clases, base de datos, prototipo, validación, cronograma, presupuesto y resultados. Cada integrante expone una parte.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Recordamos el problema con el enfoque de procesos que pide este avance. La bodega del NRUS recibe facturas que no registra; eso afecta cinco procesos, desde la recepción hasta el pago. En el caso de referencia se perdieron 5 de 14 facturas, el cálculo toma 3 horas y el titular pagó S/ 30 de más en el mes, S/ 360 al año. La solución se organiza en seis módulos que cubren esos procesos.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El objetivo general repite el título del proyecto: desarrollar una aplicación móvil con IA multimodal, Gemma 4, para mejorar la exactitud de la declaración mensual del NRUS en bodegas de San Juan de Lurigancho. Lo desglosamos en siete objetivos específicos directos, cada uno con su indicador de medición; los valores se miden y se reportan al final del proyecto, no en este avance. A la derecha, lo que queda fuera: la app calcula y prepara, pero la declaración se presenta por los canales de la SUNAT.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Profundizamos las tres alternativas con los seis aspectos que pide la consigna. Las tres tienen al menos cinco pantallas y más de 50 % de Java. La diferencia es dónde se lee la factura. Solo la alternativa 1 cubre los 22 requerimientos funcionales y los 19 no funcionales, porque funciona sin conexión y la imagen no sale del teléfono; la 2 no instala el modelo y la 3 usa un modelo cerrado. Obtuvo 4,40 sobre 5 en la matriz ponderada.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El análisis del primer avance se afinó con los procesos BPMN: cada tarea que ejecuta la app corresponde a un caso de uso y a uno o más requerimientos. Hay dos actores persona, el bodeguero y el contador externo, que solo recibe el reporte, y dos actores sistema: el motor de extracción y el motor de reglas. Se retiró el Administrador porque ya no hay servidor. Son 12 casos de uso, 22 requerimientos funcionales y 19 no funcionales según ISO/IEC 25010. Paso la palabra a Paulo.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Paulo: Modelamos los procesos con BPMN 2.0. Uso la notación estándar: pools por participante, eventos de inicio, de temporizador y de fin, tareas y compuertas exclusivas. En el proceso actual, al fin de mes el titular reúne, estima y suma a mano. La compuerta ¿Seguro de la categoría? es donde nace el pago en exceso. Las anotaciones rojas son los tres puntos de error.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Paulo: En el proceso propuesto la bodega tiene dos carriles: el bodeguero y la app. La factura se fotografía al llegar, Gemma 4 la lee en el teléfono, el bodeguero solo verifica y el acumulado y la categoría se recalculan con cada factura. Si se pasa del 80 % del límite, la app avisa. El cierre ya no es manual: un temporizador recuerda el vencimiento y solo se pide el total de ventas.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Paulo: Detallamos el caso de uso principal en cuatro carriles. Tres compuertas cubren las excepciones: foto ilegible, equipo sin memoria o sin modelo, y factura duplicada. Solo después de la revisión del bodeguero se guarda todo en una transacción y se recalcula el mes. Los subprocesos de cierre mensual y de publicación del modelo están en el Anexo K. Paso la palabra a Morán.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Morán: La arquitectura tiene cuatro capas en el teléfono: presentación, dominio, inferencia local y datos. La regla es que el dominio no depende de nadie: la inferencia y los datos implementan sus interfaces. Por eso el motor del NRUS se prueba sin emulador y el modelo se cambia sin tocar el dominio. No hay servidor propio: fuera del teléfono solo están Google Play y el repositorio público del que se descarga una vez el modelo; el entrenamiento ocurre fuera del producto en Colab.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Morán: El diagrama de clases tiene dos vistas. El dominio, con 14 clases y enumeraciones para los estados; agregamos ParametrosNrus, para cambiar la norma sin tocar el código, y Aviso. La vista de diseño muestra cómo se implementa el registro por capas con buenas prácticas: inversión de dependencias, responsabilidad única y encapsulamiento, con BigDecimal para los montos.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Morán: La base de datos es una sola y vive en el teléfono: SQLite con Room, cifrada con SQLCipher. Son 13 tablas en tercera forma normal y es la única fuente de verdad. Respecto del primer avance retiramos el servidor de respaldo: no hay cuentas, respaldos remotos ni tablas de administración. Si el bodeguero quiere revisar sus datos en una PC, la app los exporta a archivos CSV. Aplicamos consultas parametrizadas, PIN con hash y verificación SHA-256 del modelo. Paso la palabra a Fabrizzio.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Fabrizzio: Las interfaces se diseñaron desde el proceso TO-BE: cada tarea del bodeguero tiene una pantalla. El sistema de diseño fija colores con significado, tipografía, componentes y reglas de UX: botones de 48 dp, texto de datos de 16 sp y lenguaje sin términos contables. La navegación usa una barra inferior con un botón central Escanear, así registrar una factura está siempre a un toque.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Fabrizzio: Este es el flujo principal del prototipo. Desde el inicio, que muestra compras, categoría, cuota y vencimiento, el bodeguero toca Escanear, encuadra la factura con indicador de nitidez, revisa los campos —el importe aparece en ámbar porque la confianza fue baja— y guarda. Son tres toques. El total del mes se actualiza y avisa que pasó el 80 % del límite.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Fabrizzio: El prototipo completo tiene 20 pantallas móviles en seis módulos y el reporte PDF. Aquí la determinación: la app explica que decide el mayor monto entre compras y ventas. El vencimiento se calcula con el último dígito del RUC. El reporte PDF es lo que el bodeguero comparte con su contador, y la pantalla Exportar datos genera un ZIP con los CSV, las imágenes y el reporte para revisarlos en una PC; la app no envía nada a ningún servidor.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Fabrizzio: Validamos el diseño con matrices de cobertura. Cada uno de los 22 requerimientos funcionales tiene pantalla, caso de uso, clase y tabla; los 19 no funcionales tienen una decisión de diseño verificable. Hicimos una evaluación heurística con las diez heurísticas de Nielsen y un recorrido de seis tareas, y definimos la prueba con tres titulares para las semanas 11 y 12, en la iteración 4. Devuelvo la palabra a Diego.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Al corte de la semana 8 el análisis y el diseño están completos y no hay desviaciones: adelantamos el front-end una semana. El ajuste fino con conversión inicia la semana 9. El proyecto necesita un desembolso de unos S/ 242; el resto son aportes del equipo. No hay costo de operación mensual: no existe servidor y la lectura se hace en el teléfono.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Los resultados de este avance son los entregables de diseño que pide la consigna, y los nueve están completos. No adelantamos cifras que aún no medimos: la exactitud del modelo convertido y el tiempo de lectura se medirán en APF3, y el total mensual y la categoría en el mes simulado del informe final. El prototipo de la competencia Build with Gemma ya confirmó que el modelo ajustado extrae los campos en 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Cinco conclusiones. El problema es operativo y el proceso propuesto elimina sus tres puntos de error. El diseño cubre el 100 % del alcance. Todo vive en una sola base cifrada en el teléfono y el titular exporta sus datos cuando quiere. El registro toma tres toques y se validará con usuarios en las semanas 11 y 12, en la iteración 4. Y la solución mantiene 85 % de Java sin costo mensual de operación.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Diego: Por último, entregamos la documentación técnica en Markdown, pensada para versionarse con el código: arquitectura, contratos, esquema de datos, reglas del NRUS, pantallas, exportación de datos y plan de pruebas. Con ella empieza la construcción hacia APF3: el front-end y el dominio, el ajuste fino con conversión a .litertlm y la medición en el teléfono de referencia. Gracias,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10.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9080" y="502920"/>
            <a:ext cx="4050791"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tp.png"/>
          <p:cNvPicPr>
            <a:picLocks noChangeAspect="1"/>
          </p:cNvPicPr>
          <p:nvPr/>
        </p:nvPicPr>
        <p:blipFill>
          <a:blip r:embed="rId2"/>
          <a:stretch>
            <a:fillRect/>
          </a:stretch>
        </p:blipFill>
        <p:spPr>
          <a:xfrm>
            <a:off x="4526280" y="731520"/>
            <a:ext cx="3136392" cy="834847"/>
          </a:xfrm>
          <a:prstGeom prst="rect">
            <a:avLst/>
          </a:prstGeom>
        </p:spPr>
      </p:pic>
      <p:sp>
        <p:nvSpPr>
          <p:cNvPr id="5" name="TextBox 4"/>
          <p:cNvSpPr txBox="1"/>
          <p:nvPr/>
        </p:nvSpPr>
        <p:spPr>
          <a:xfrm>
            <a:off x="731520" y="1828800"/>
            <a:ext cx="10725912" cy="548640"/>
          </a:xfrm>
          <a:prstGeom prst="rect">
            <a:avLst/>
          </a:prstGeom>
          <a:noFill/>
        </p:spPr>
        <p:txBody>
          <a:bodyPr wrap="square" lIns="45720" rIns="45720" tIns="18288" bIns="18288" anchor="t">
            <a:spAutoFit/>
          </a:bodyPr>
          <a:lstStyle/>
          <a:p>
            <a:pPr algn="ctr"/>
            <a:r>
              <a:rPr sz="3400" b="1" i="0">
                <a:solidFill>
                  <a:srgbClr val="FFFFFF"/>
                </a:solidFill>
                <a:latin typeface="Calibri"/>
              </a:rPr>
              <a:t>Facturas S20</a:t>
            </a:r>
          </a:p>
        </p:txBody>
      </p:sp>
      <p:sp>
        <p:nvSpPr>
          <p:cNvPr id="6" name="TextBox 5"/>
          <p:cNvSpPr txBox="1"/>
          <p:nvPr/>
        </p:nvSpPr>
        <p:spPr>
          <a:xfrm>
            <a:off x="1097280" y="2423160"/>
            <a:ext cx="9994392" cy="822960"/>
          </a:xfrm>
          <a:prstGeom prst="rect">
            <a:avLst/>
          </a:prstGeom>
          <a:noFill/>
        </p:spPr>
        <p:txBody>
          <a:bodyPr wrap="square" lIns="45720" rIns="45720" tIns="18288" bIns="18288" anchor="t">
            <a:spAutoFit/>
          </a:bodyPr>
          <a:lstStyle/>
          <a:p>
            <a:pPr algn="ctr"/>
            <a:r>
              <a:rPr sz="2000" b="0" i="0">
                <a:solidFill>
                  <a:srgbClr val="FFFFFF"/>
                </a:solidFill>
                <a:latin typeface="Calibri"/>
              </a:rPr>
              <a:t>Aplicación móvil con IA multimodal (Gemma 4) para mejorar la exactitud de la declaración mensual del NRUS en bodegas de S.J.L.</a:t>
            </a:r>
          </a:p>
        </p:txBody>
      </p:sp>
      <p:sp>
        <p:nvSpPr>
          <p:cNvPr id="7" name="Rectangle 6"/>
          <p:cNvSpPr/>
          <p:nvPr/>
        </p:nvSpPr>
        <p:spPr>
          <a:xfrm>
            <a:off x="5550408" y="3383280"/>
            <a:ext cx="109728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66160"/>
            <a:ext cx="10360152" cy="320040"/>
          </a:xfrm>
          <a:prstGeom prst="rect">
            <a:avLst/>
          </a:prstGeom>
          <a:noFill/>
        </p:spPr>
        <p:txBody>
          <a:bodyPr wrap="square" lIns="45720" rIns="45720" tIns="18288" bIns="18288" anchor="t">
            <a:spAutoFit/>
          </a:bodyPr>
          <a:lstStyle/>
          <a:p>
            <a:pPr algn="ctr"/>
            <a:r>
              <a:rPr sz="1500" b="0" i="0">
                <a:solidFill>
                  <a:srgbClr val="FFFFFF"/>
                </a:solidFill>
                <a:latin typeface="Calibri"/>
              </a:rPr>
              <a:t>Avance de Proyecto Final 2  ·  Curso Integrador I: Sistemas Software</a:t>
            </a:r>
          </a:p>
        </p:txBody>
      </p:sp>
      <p:sp>
        <p:nvSpPr>
          <p:cNvPr id="9" name="TextBox 8"/>
          <p:cNvSpPr txBox="1"/>
          <p:nvPr/>
        </p:nvSpPr>
        <p:spPr>
          <a:xfrm>
            <a:off x="914400" y="3931920"/>
            <a:ext cx="10360152" cy="274320"/>
          </a:xfrm>
          <a:prstGeom prst="rect">
            <a:avLst/>
          </a:prstGeom>
          <a:noFill/>
        </p:spPr>
        <p:txBody>
          <a:bodyPr wrap="square" lIns="45720" rIns="45720" tIns="18288" bIns="18288" anchor="t">
            <a:spAutoFit/>
          </a:bodyPr>
          <a:lstStyle/>
          <a:p>
            <a:pPr algn="ctr"/>
            <a:r>
              <a:rPr sz="1200" b="0" i="0">
                <a:solidFill>
                  <a:srgbClr val="FFFFFF"/>
                </a:solidFill>
                <a:latin typeface="Calibri"/>
              </a:rPr>
              <a:t>Sección 48935  ·  Docente: Ing. Carlos Alberto Effio Gonzáles</a:t>
            </a:r>
          </a:p>
        </p:txBody>
      </p:sp>
      <p:sp>
        <p:nvSpPr>
          <p:cNvPr id="10" name="TextBox 9"/>
          <p:cNvSpPr txBox="1"/>
          <p:nvPr/>
        </p:nvSpPr>
        <p:spPr>
          <a:xfrm>
            <a:off x="3200400" y="4434840"/>
            <a:ext cx="5788152" cy="1188720"/>
          </a:xfrm>
          <a:prstGeom prst="rect">
            <a:avLst/>
          </a:prstGeom>
          <a:noFill/>
        </p:spPr>
        <p:txBody>
          <a:bodyPr wrap="square" lIns="45720" rIns="45720" tIns="18288" bIns="18288" anchor="t">
            <a:spAutoFit/>
          </a:bodyPr>
          <a:lstStyle/>
          <a:p>
            <a:pPr algn="ctr"/>
            <a:r>
              <a:rPr sz="1300" b="0" i="0">
                <a:solidFill>
                  <a:srgbClr val="FFFFFF"/>
                </a:solidFill>
                <a:latin typeface="Calibri"/>
              </a:rPr>
              <a:t>Damián Valdivia, Diego Aarón</a:t>
            </a:r>
          </a:p>
          <a:p>
            <a:pPr algn="ctr"/>
            <a:r>
              <a:rPr sz="1300" b="0" i="0">
                <a:solidFill>
                  <a:srgbClr val="FFFFFF"/>
                </a:solidFill>
                <a:latin typeface="Calibri"/>
              </a:rPr>
              <a:t>Coronel Obregón, Paulo</a:t>
            </a:r>
          </a:p>
          <a:p>
            <a:pPr algn="ctr"/>
            <a:r>
              <a:rPr sz="1300" b="0" i="0">
                <a:solidFill>
                  <a:srgbClr val="FFFFFF"/>
                </a:solidFill>
                <a:latin typeface="Calibri"/>
              </a:rPr>
              <a:t>Mateo Velásquez, Morán</a:t>
            </a:r>
          </a:p>
          <a:p>
            <a:pPr algn="ctr"/>
            <a:r>
              <a:rPr sz="1300" b="0" i="0">
                <a:solidFill>
                  <a:srgbClr val="FFFFFF"/>
                </a:solidFill>
                <a:latin typeface="Calibri"/>
              </a:rPr>
              <a:t>Gonzales Maco, Fabrizzio Jhoel</a:t>
            </a:r>
          </a:p>
        </p:txBody>
      </p:sp>
      <p:sp>
        <p:nvSpPr>
          <p:cNvPr id="11" name="TextBox 10"/>
          <p:cNvSpPr txBox="1"/>
          <p:nvPr/>
        </p:nvSpPr>
        <p:spPr>
          <a:xfrm>
            <a:off x="914400" y="6126480"/>
            <a:ext cx="10360152" cy="274320"/>
          </a:xfrm>
          <a:prstGeom prst="rect">
            <a:avLst/>
          </a:prstGeom>
          <a:noFill/>
        </p:spPr>
        <p:txBody>
          <a:bodyPr wrap="square" lIns="45720" rIns="45720" tIns="18288" bIns="18288" anchor="t">
            <a:spAutoFit/>
          </a:bodyPr>
          <a:lstStyle/>
          <a:p>
            <a:pPr algn="ctr"/>
            <a:r>
              <a:rPr sz="1100" b="0" i="0">
                <a:solidFill>
                  <a:srgbClr val="FFFFFF"/>
                </a:solidFill>
                <a:latin typeface="Calibri"/>
              </a:rPr>
              <a:t>Lima – Perú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ANÁLISIS DEL CONTEXTO</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El problema afecta a toda la cadena del proceso</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Damián Valdivia, Diego Aarón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2</a:t>
            </a:r>
          </a:p>
        </p:txBody>
      </p:sp>
      <p:sp>
        <p:nvSpPr>
          <p:cNvPr id="9" name="Rectangle 8"/>
          <p:cNvSpPr/>
          <p:nvPr/>
        </p:nvSpPr>
        <p:spPr>
          <a:xfrm>
            <a:off x="502920" y="1325880"/>
            <a:ext cx="2651760" cy="114300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71600"/>
            <a:ext cx="2651760" cy="640080"/>
          </a:xfrm>
          <a:prstGeom prst="rect">
            <a:avLst/>
          </a:prstGeom>
          <a:noFill/>
        </p:spPr>
        <p:txBody>
          <a:bodyPr wrap="square" lIns="45720" rIns="45720" tIns="18288" bIns="18288" anchor="t">
            <a:spAutoFit/>
          </a:bodyPr>
          <a:lstStyle/>
          <a:p>
            <a:pPr algn="ctr"/>
            <a:r>
              <a:rPr sz="3000" b="1" i="0">
                <a:solidFill>
                  <a:srgbClr val="1F4E79"/>
                </a:solidFill>
                <a:latin typeface="Calibri"/>
              </a:rPr>
              <a:t>14</a:t>
            </a:r>
          </a:p>
        </p:txBody>
      </p:sp>
      <p:sp>
        <p:nvSpPr>
          <p:cNvPr id="11" name="TextBox 10"/>
          <p:cNvSpPr txBox="1"/>
          <p:nvPr/>
        </p:nvSpPr>
        <p:spPr>
          <a:xfrm>
            <a:off x="502920" y="199339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facturas de compra al mes</a:t>
            </a:r>
          </a:p>
        </p:txBody>
      </p:sp>
      <p:sp>
        <p:nvSpPr>
          <p:cNvPr id="12" name="Rectangle 11"/>
          <p:cNvSpPr/>
          <p:nvPr/>
        </p:nvSpPr>
        <p:spPr>
          <a:xfrm>
            <a:off x="3337560" y="1325880"/>
            <a:ext cx="2651760" cy="114300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1371600"/>
            <a:ext cx="2651760" cy="640080"/>
          </a:xfrm>
          <a:prstGeom prst="rect">
            <a:avLst/>
          </a:prstGeom>
          <a:noFill/>
        </p:spPr>
        <p:txBody>
          <a:bodyPr wrap="square" lIns="45720" rIns="45720" tIns="18288" bIns="18288" anchor="t">
            <a:spAutoFit/>
          </a:bodyPr>
          <a:lstStyle/>
          <a:p>
            <a:pPr algn="ctr"/>
            <a:r>
              <a:rPr sz="3000" b="1" i="0">
                <a:solidFill>
                  <a:srgbClr val="C00000"/>
                </a:solidFill>
                <a:latin typeface="Calibri"/>
              </a:rPr>
              <a:t>5 de 14</a:t>
            </a:r>
          </a:p>
        </p:txBody>
      </p:sp>
      <p:sp>
        <p:nvSpPr>
          <p:cNvPr id="14" name="TextBox 13"/>
          <p:cNvSpPr txBox="1"/>
          <p:nvPr/>
        </p:nvSpPr>
        <p:spPr>
          <a:xfrm>
            <a:off x="3337560" y="199339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facturas perdidas al cierre</a:t>
            </a:r>
          </a:p>
        </p:txBody>
      </p:sp>
      <p:sp>
        <p:nvSpPr>
          <p:cNvPr id="15" name="Rectangle 14"/>
          <p:cNvSpPr/>
          <p:nvPr/>
        </p:nvSpPr>
        <p:spPr>
          <a:xfrm>
            <a:off x="6172200" y="1325880"/>
            <a:ext cx="2651760" cy="114300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371600"/>
            <a:ext cx="2651760" cy="640080"/>
          </a:xfrm>
          <a:prstGeom prst="rect">
            <a:avLst/>
          </a:prstGeom>
          <a:noFill/>
        </p:spPr>
        <p:txBody>
          <a:bodyPr wrap="square" lIns="45720" rIns="45720" tIns="18288" bIns="18288" anchor="t">
            <a:spAutoFit/>
          </a:bodyPr>
          <a:lstStyle/>
          <a:p>
            <a:pPr algn="ctr"/>
            <a:r>
              <a:rPr sz="3000" b="1" i="0">
                <a:solidFill>
                  <a:srgbClr val="C00000"/>
                </a:solidFill>
                <a:latin typeface="Calibri"/>
              </a:rPr>
              <a:t>3 h</a:t>
            </a:r>
          </a:p>
        </p:txBody>
      </p:sp>
      <p:sp>
        <p:nvSpPr>
          <p:cNvPr id="17" name="TextBox 16"/>
          <p:cNvSpPr txBox="1"/>
          <p:nvPr/>
        </p:nvSpPr>
        <p:spPr>
          <a:xfrm>
            <a:off x="6172200" y="199339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de cálculo manual al mes</a:t>
            </a:r>
          </a:p>
        </p:txBody>
      </p:sp>
      <p:sp>
        <p:nvSpPr>
          <p:cNvPr id="18" name="Rectangle 17"/>
          <p:cNvSpPr/>
          <p:nvPr/>
        </p:nvSpPr>
        <p:spPr>
          <a:xfrm>
            <a:off x="9006840" y="1325880"/>
            <a:ext cx="2651760" cy="114300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1371600"/>
            <a:ext cx="2651760" cy="640080"/>
          </a:xfrm>
          <a:prstGeom prst="rect">
            <a:avLst/>
          </a:prstGeom>
          <a:noFill/>
        </p:spPr>
        <p:txBody>
          <a:bodyPr wrap="square" lIns="45720" rIns="45720" tIns="18288" bIns="18288" anchor="t">
            <a:spAutoFit/>
          </a:bodyPr>
          <a:lstStyle/>
          <a:p>
            <a:pPr algn="ctr"/>
            <a:r>
              <a:rPr sz="3000" b="1" i="0">
                <a:solidFill>
                  <a:srgbClr val="C00000"/>
                </a:solidFill>
                <a:latin typeface="Calibri"/>
              </a:rPr>
              <a:t>S/ 360</a:t>
            </a:r>
          </a:p>
        </p:txBody>
      </p:sp>
      <p:sp>
        <p:nvSpPr>
          <p:cNvPr id="20" name="TextBox 19"/>
          <p:cNvSpPr txBox="1"/>
          <p:nvPr/>
        </p:nvSpPr>
        <p:spPr>
          <a:xfrm>
            <a:off x="9006840" y="199339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pagados de más al año</a:t>
            </a:r>
          </a:p>
        </p:txBody>
      </p:sp>
      <p:graphicFrame>
        <p:nvGraphicFramePr>
          <p:cNvPr id="21" name="Table 20"/>
          <p:cNvGraphicFramePr>
            <a:graphicFrameLocks noGrp="1"/>
          </p:cNvGraphicFramePr>
          <p:nvPr/>
        </p:nvGraphicFramePr>
        <p:xfrm>
          <a:off x="502920" y="2743200"/>
          <a:ext cx="7589520" cy="2852928"/>
        </p:xfrm>
        <a:graphic>
          <a:graphicData uri="http://schemas.openxmlformats.org/drawingml/2006/table">
            <a:tbl>
              <a:tblPr firstRow="1" bandRow="1">
                <a:tableStyleId>{5C22544A-7EE6-4342-B048-85BDC9FD1C3A}</a:tableStyleId>
              </a:tblPr>
              <a:tblGrid>
                <a:gridCol w="2377440"/>
                <a:gridCol w="2651760"/>
                <a:gridCol w="2560320"/>
              </a:tblGrid>
              <a:tr h="475488">
                <a:tc>
                  <a:txBody>
                    <a:bodyPr/>
                    <a:lstStyle/>
                    <a:p>
                      <a:pPr algn="ctr"/>
                      <a:r>
                        <a:rPr sz="1200" b="1">
                          <a:solidFill>
                            <a:srgbClr val="FFFFFF"/>
                          </a:solidFill>
                          <a:latin typeface="Calibri"/>
                        </a:rPr>
                        <a:t>Proceso de la bodega</a:t>
                      </a:r>
                    </a:p>
                  </a:txBody>
                  <a:tcPr marL="54864" marR="54864" marT="18288" marB="18288" anchor="ctr">
                    <a:solidFill>
                      <a:srgbClr val="1F4E79"/>
                    </a:solidFill>
                  </a:tcPr>
                </a:tc>
                <a:tc>
                  <a:txBody>
                    <a:bodyPr/>
                    <a:lstStyle/>
                    <a:p>
                      <a:pPr algn="ctr"/>
                      <a:r>
                        <a:rPr sz="1200" b="1">
                          <a:solidFill>
                            <a:srgbClr val="FFFFFF"/>
                          </a:solidFill>
                          <a:latin typeface="Calibri"/>
                        </a:rPr>
                        <a:t>Cómo lo afecta el problema</a:t>
                      </a:r>
                    </a:p>
                  </a:txBody>
                  <a:tcPr marL="54864" marR="54864" marT="18288" marB="18288" anchor="ctr">
                    <a:solidFill>
                      <a:srgbClr val="1F4E79"/>
                    </a:solidFill>
                  </a:tcPr>
                </a:tc>
                <a:tc>
                  <a:txBody>
                    <a:bodyPr/>
                    <a:lstStyle/>
                    <a:p>
                      <a:pPr algn="ctr"/>
                      <a:r>
                        <a:rPr sz="1200" b="1">
                          <a:solidFill>
                            <a:srgbClr val="FFFFFF"/>
                          </a:solidFill>
                          <a:latin typeface="Calibri"/>
                        </a:rPr>
                        <a:t>Qué hace Facturas S20</a:t>
                      </a:r>
                    </a:p>
                  </a:txBody>
                  <a:tcPr marL="54864" marR="54864" marT="18288" marB="18288" anchor="ctr">
                    <a:solidFill>
                      <a:srgbClr val="1F4E79"/>
                    </a:solidFill>
                  </a:tcPr>
                </a:tc>
              </a:tr>
              <a:tr h="475488">
                <a:tc>
                  <a:txBody>
                    <a:bodyPr/>
                    <a:lstStyle/>
                    <a:p>
                      <a:r>
                        <a:rPr sz="1200" b="1">
                          <a:solidFill>
                            <a:srgbClr val="262626"/>
                          </a:solidFill>
                          <a:latin typeface="Calibri"/>
                        </a:rPr>
                        <a:t>Recepción de mercadería</a:t>
                      </a:r>
                    </a:p>
                  </a:txBody>
                  <a:tcPr marL="54864" marR="54864" marT="18288" marB="18288" anchor="ctr">
                    <a:solidFill>
                      <a:srgbClr val="FFFFFF"/>
                    </a:solidFill>
                  </a:tcPr>
                </a:tc>
                <a:tc>
                  <a:txBody>
                    <a:bodyPr/>
                    <a:lstStyle/>
                    <a:p>
                      <a:pPr algn="ctr"/>
                      <a:r>
                        <a:rPr sz="1200" b="0">
                          <a:solidFill>
                            <a:srgbClr val="262626"/>
                          </a:solidFill>
                          <a:latin typeface="Calibri"/>
                        </a:rPr>
                        <a:t>La factura se guarda sin registrar</a:t>
                      </a:r>
                    </a:p>
                  </a:txBody>
                  <a:tcPr marL="54864" marR="54864" marT="18288" marB="18288" anchor="ctr">
                    <a:solidFill>
                      <a:srgbClr val="FFFFFF"/>
                    </a:solidFill>
                  </a:tcPr>
                </a:tc>
                <a:tc>
                  <a:txBody>
                    <a:bodyPr/>
                    <a:lstStyle/>
                    <a:p>
                      <a:pPr algn="ctr"/>
                      <a:r>
                        <a:rPr sz="1200" b="0">
                          <a:solidFill>
                            <a:srgbClr val="262626"/>
                          </a:solidFill>
                          <a:latin typeface="Calibri"/>
                        </a:rPr>
                        <a:t>Foto en ≈ 10 s en el mostrador</a:t>
                      </a:r>
                    </a:p>
                  </a:txBody>
                  <a:tcPr marL="54864" marR="54864" marT="18288" marB="18288" anchor="ctr">
                    <a:solidFill>
                      <a:srgbClr val="FFFFFF"/>
                    </a:solidFill>
                  </a:tcPr>
                </a:tc>
              </a:tr>
              <a:tr h="475488">
                <a:tc>
                  <a:txBody>
                    <a:bodyPr/>
                    <a:lstStyle/>
                    <a:p>
                      <a:r>
                        <a:rPr sz="1200" b="1">
                          <a:solidFill>
                            <a:srgbClr val="262626"/>
                          </a:solidFill>
                          <a:latin typeface="Calibri"/>
                        </a:rPr>
                        <a:t>Custodia de comprobantes</a:t>
                      </a:r>
                    </a:p>
                  </a:txBody>
                  <a:tcPr marL="54864" marR="54864" marT="18288" marB="18288" anchor="ctr">
                    <a:solidFill>
                      <a:srgbClr val="F6F8FA"/>
                    </a:solidFill>
                  </a:tcPr>
                </a:tc>
                <a:tc>
                  <a:txBody>
                    <a:bodyPr/>
                    <a:lstStyle/>
                    <a:p>
                      <a:pPr algn="ctr"/>
                      <a:r>
                        <a:rPr sz="1200" b="0">
                          <a:solidFill>
                            <a:srgbClr val="262626"/>
                          </a:solidFill>
                          <a:latin typeface="Calibri"/>
                        </a:rPr>
                        <a:t>Se pierden o deterioran</a:t>
                      </a:r>
                    </a:p>
                  </a:txBody>
                  <a:tcPr marL="54864" marR="54864" marT="18288" marB="18288" anchor="ctr">
                    <a:solidFill>
                      <a:srgbClr val="F6F8FA"/>
                    </a:solidFill>
                  </a:tcPr>
                </a:tc>
                <a:tc>
                  <a:txBody>
                    <a:bodyPr/>
                    <a:lstStyle/>
                    <a:p>
                      <a:pPr algn="ctr"/>
                      <a:r>
                        <a:rPr sz="1200" b="0">
                          <a:solidFill>
                            <a:srgbClr val="262626"/>
                          </a:solidFill>
                          <a:latin typeface="Calibri"/>
                        </a:rPr>
                        <a:t>Imagen cifrada en el teléfono</a:t>
                      </a:r>
                    </a:p>
                  </a:txBody>
                  <a:tcPr marL="54864" marR="54864" marT="18288" marB="18288" anchor="ctr">
                    <a:solidFill>
                      <a:srgbClr val="F6F8FA"/>
                    </a:solidFill>
                  </a:tcPr>
                </a:tc>
              </a:tr>
              <a:tr h="475488">
                <a:tc>
                  <a:txBody>
                    <a:bodyPr/>
                    <a:lstStyle/>
                    <a:p>
                      <a:r>
                        <a:rPr sz="1200" b="1">
                          <a:solidFill>
                            <a:srgbClr val="262626"/>
                          </a:solidFill>
                          <a:latin typeface="Calibri"/>
                        </a:rPr>
                        <a:t>Cálculo mensual</a:t>
                      </a:r>
                    </a:p>
                  </a:txBody>
                  <a:tcPr marL="54864" marR="54864" marT="18288" marB="18288" anchor="ctr">
                    <a:solidFill>
                      <a:srgbClr val="FFFFFF"/>
                    </a:solidFill>
                  </a:tcPr>
                </a:tc>
                <a:tc>
                  <a:txBody>
                    <a:bodyPr/>
                    <a:lstStyle/>
                    <a:p>
                      <a:pPr algn="ctr"/>
                      <a:r>
                        <a:rPr sz="1200" b="0">
                          <a:solidFill>
                            <a:srgbClr val="262626"/>
                          </a:solidFill>
                          <a:latin typeface="Calibri"/>
                        </a:rPr>
                        <a:t>Suma a mano, 3 h y errores</a:t>
                      </a:r>
                    </a:p>
                  </a:txBody>
                  <a:tcPr marL="54864" marR="54864" marT="18288" marB="18288" anchor="ctr">
                    <a:solidFill>
                      <a:srgbClr val="FFFFFF"/>
                    </a:solidFill>
                  </a:tcPr>
                </a:tc>
                <a:tc>
                  <a:txBody>
                    <a:bodyPr/>
                    <a:lstStyle/>
                    <a:p>
                      <a:pPr algn="ctr"/>
                      <a:r>
                        <a:rPr sz="1200" b="0">
                          <a:solidFill>
                            <a:srgbClr val="262626"/>
                          </a:solidFill>
                          <a:latin typeface="Calibri"/>
                        </a:rPr>
                        <a:t>Acumulado automático</a:t>
                      </a:r>
                    </a:p>
                  </a:txBody>
                  <a:tcPr marL="54864" marR="54864" marT="18288" marB="18288" anchor="ctr">
                    <a:solidFill>
                      <a:srgbClr val="FFFFFF"/>
                    </a:solidFill>
                  </a:tcPr>
                </a:tc>
              </a:tr>
              <a:tr h="475488">
                <a:tc>
                  <a:txBody>
                    <a:bodyPr/>
                    <a:lstStyle/>
                    <a:p>
                      <a:r>
                        <a:rPr sz="1200" b="1">
                          <a:solidFill>
                            <a:srgbClr val="262626"/>
                          </a:solidFill>
                          <a:latin typeface="Calibri"/>
                        </a:rPr>
                        <a:t>Determinación de la categoría</a:t>
                      </a:r>
                    </a:p>
                  </a:txBody>
                  <a:tcPr marL="54864" marR="54864" marT="18288" marB="18288" anchor="ctr">
                    <a:solidFill>
                      <a:srgbClr val="F6F8FA"/>
                    </a:solidFill>
                  </a:tcPr>
                </a:tc>
                <a:tc>
                  <a:txBody>
                    <a:bodyPr/>
                    <a:lstStyle/>
                    <a:p>
                      <a:pPr algn="ctr"/>
                      <a:r>
                        <a:rPr sz="1200" b="0">
                          <a:solidFill>
                            <a:srgbClr val="262626"/>
                          </a:solidFill>
                          <a:latin typeface="Calibri"/>
                        </a:rPr>
                        <a:t>Ante la duda, categoría superior</a:t>
                      </a:r>
                    </a:p>
                  </a:txBody>
                  <a:tcPr marL="54864" marR="54864" marT="18288" marB="18288" anchor="ctr">
                    <a:solidFill>
                      <a:srgbClr val="F6F8FA"/>
                    </a:solidFill>
                  </a:tcPr>
                </a:tc>
                <a:tc>
                  <a:txBody>
                    <a:bodyPr/>
                    <a:lstStyle/>
                    <a:p>
                      <a:pPr algn="ctr"/>
                      <a:r>
                        <a:rPr sz="1200" b="0">
                          <a:solidFill>
                            <a:srgbClr val="262626"/>
                          </a:solidFill>
                          <a:latin typeface="Calibri"/>
                        </a:rPr>
                        <a:t>Motor de reglas y avisos al 80 %</a:t>
                      </a:r>
                    </a:p>
                  </a:txBody>
                  <a:tcPr marL="54864" marR="54864" marT="18288" marB="18288" anchor="ctr">
                    <a:solidFill>
                      <a:srgbClr val="F6F8FA"/>
                    </a:solidFill>
                  </a:tcPr>
                </a:tc>
              </a:tr>
              <a:tr h="475488">
                <a:tc>
                  <a:txBody>
                    <a:bodyPr/>
                    <a:lstStyle/>
                    <a:p>
                      <a:r>
                        <a:rPr sz="1200" b="1">
                          <a:solidFill>
                            <a:srgbClr val="262626"/>
                          </a:solidFill>
                          <a:latin typeface="Calibri"/>
                        </a:rPr>
                        <a:t>Declaración y pago</a:t>
                      </a:r>
                    </a:p>
                  </a:txBody>
                  <a:tcPr marL="54864" marR="54864" marT="18288" marB="18288" anchor="ctr">
                    <a:solidFill>
                      <a:srgbClr val="FFFFFF"/>
                    </a:solidFill>
                  </a:tcPr>
                </a:tc>
                <a:tc>
                  <a:txBody>
                    <a:bodyPr/>
                    <a:lstStyle/>
                    <a:p>
                      <a:pPr algn="ctr"/>
                      <a:r>
                        <a:rPr sz="1200" b="0">
                          <a:solidFill>
                            <a:srgbClr val="262626"/>
                          </a:solidFill>
                          <a:latin typeface="Calibri"/>
                        </a:rPr>
                        <a:t>Al último día y sin sustento</a:t>
                      </a:r>
                    </a:p>
                  </a:txBody>
                  <a:tcPr marL="54864" marR="54864" marT="18288" marB="18288" anchor="ctr">
                    <a:solidFill>
                      <a:srgbClr val="FFFFFF"/>
                    </a:solidFill>
                  </a:tcPr>
                </a:tc>
                <a:tc>
                  <a:txBody>
                    <a:bodyPr/>
                    <a:lstStyle/>
                    <a:p>
                      <a:pPr algn="ctr"/>
                      <a:r>
                        <a:rPr sz="1200" b="0">
                          <a:solidFill>
                            <a:srgbClr val="262626"/>
                          </a:solidFill>
                          <a:latin typeface="Calibri"/>
                        </a:rPr>
                        <a:t>Recordatorio y reporte PDF</a:t>
                      </a:r>
                    </a:p>
                  </a:txBody>
                  <a:tcPr marL="54864" marR="54864" marT="18288" marB="18288" anchor="ctr">
                    <a:solidFill>
                      <a:srgbClr val="FFFFFF"/>
                    </a:solidFill>
                  </a:tcPr>
                </a:tc>
              </a:tr>
            </a:tbl>
          </a:graphicData>
        </a:graphic>
      </p:graphicFrame>
      <p:sp>
        <p:nvSpPr>
          <p:cNvPr id="22" name="Rectangle 21"/>
          <p:cNvSpPr/>
          <p:nvPr/>
        </p:nvSpPr>
        <p:spPr>
          <a:xfrm>
            <a:off x="8321040" y="2743200"/>
            <a:ext cx="3383280" cy="2852928"/>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0" y="2743200"/>
            <a:ext cx="338328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58200" y="2880360"/>
            <a:ext cx="3108960" cy="320040"/>
          </a:xfrm>
          <a:prstGeom prst="rect">
            <a:avLst/>
          </a:prstGeom>
          <a:noFill/>
        </p:spPr>
        <p:txBody>
          <a:bodyPr wrap="square" lIns="45720" rIns="45720" tIns="18288" bIns="18288" anchor="t">
            <a:spAutoFit/>
          </a:bodyPr>
          <a:lstStyle/>
          <a:p>
            <a:pPr algn="l"/>
            <a:r>
              <a:rPr sz="1300" b="1" i="0">
                <a:solidFill>
                  <a:srgbClr val="1E7B4F"/>
                </a:solidFill>
                <a:latin typeface="Calibri"/>
              </a:rPr>
              <a:t>Alcance: 6 módulos</a:t>
            </a:r>
          </a:p>
        </p:txBody>
      </p:sp>
      <p:sp>
        <p:nvSpPr>
          <p:cNvPr id="25" name="TextBox 24"/>
          <p:cNvSpPr txBox="1"/>
          <p:nvPr/>
        </p:nvSpPr>
        <p:spPr>
          <a:xfrm>
            <a:off x="8458200" y="3200400"/>
            <a:ext cx="3108960" cy="2304288"/>
          </a:xfrm>
          <a:prstGeom prst="rect">
            <a:avLst/>
          </a:prstGeom>
          <a:noFill/>
        </p:spPr>
        <p:txBody>
          <a:bodyPr wrap="square" lIns="45720" rIns="45720">
            <a:spAutoFit/>
          </a:bodyPr>
          <a:lstStyle/>
          <a:p>
            <a:pPr marL="182880" indent="-182880">
              <a:spcAft>
                <a:spcPts val="400"/>
              </a:spcAft>
              <a:buChar char="•"/>
            </a:pPr>
            <a:r>
              <a:rPr sz="1250" b="0">
                <a:solidFill>
                  <a:srgbClr val="262626"/>
                </a:solidFill>
                <a:latin typeface="Calibri"/>
              </a:rPr>
              <a:t>Acceso y configuración</a:t>
            </a:r>
          </a:p>
          <a:p>
            <a:pPr marL="182880" indent="-182880">
              <a:spcAft>
                <a:spcPts val="400"/>
              </a:spcAft>
              <a:buChar char="•"/>
            </a:pPr>
            <a:r>
              <a:rPr sz="1250" b="0">
                <a:solidFill>
                  <a:srgbClr val="262626"/>
                </a:solidFill>
                <a:latin typeface="Calibri"/>
              </a:rPr>
              <a:t>Registro de facturas</a:t>
            </a:r>
          </a:p>
          <a:p>
            <a:pPr marL="182880" indent="-182880">
              <a:spcAft>
                <a:spcPts val="400"/>
              </a:spcAft>
              <a:buChar char="•"/>
            </a:pPr>
            <a:r>
              <a:rPr sz="1250" b="0">
                <a:solidFill>
                  <a:srgbClr val="262626"/>
                </a:solidFill>
                <a:latin typeface="Calibri"/>
              </a:rPr>
              <a:t>Control de facturas</a:t>
            </a:r>
          </a:p>
          <a:p>
            <a:pPr marL="182880" indent="-182880">
              <a:spcAft>
                <a:spcPts val="400"/>
              </a:spcAft>
              <a:buChar char="•"/>
            </a:pPr>
            <a:r>
              <a:rPr sz="1250" b="0">
                <a:solidFill>
                  <a:srgbClr val="262626"/>
                </a:solidFill>
                <a:latin typeface="Calibri"/>
              </a:rPr>
              <a:t>Determinación del NRUS</a:t>
            </a:r>
          </a:p>
          <a:p>
            <a:pPr marL="182880" indent="-182880">
              <a:spcAft>
                <a:spcPts val="400"/>
              </a:spcAft>
              <a:buChar char="•"/>
            </a:pPr>
            <a:r>
              <a:rPr sz="1250" b="0">
                <a:solidFill>
                  <a:srgbClr val="262626"/>
                </a:solidFill>
                <a:latin typeface="Calibri"/>
              </a:rPr>
              <a:t>Reportes e historial</a:t>
            </a:r>
          </a:p>
          <a:p>
            <a:pPr marL="182880" indent="-182880">
              <a:spcAft>
                <a:spcPts val="400"/>
              </a:spcAft>
              <a:buChar char="•"/>
            </a:pPr>
            <a:r>
              <a:rPr sz="1250" b="0">
                <a:solidFill>
                  <a:srgbClr val="262626"/>
                </a:solidFill>
                <a:latin typeface="Calibri"/>
              </a:rPr>
              <a:t>Exportación y modelo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OBJETIVOS Y ALCANCE</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Objetivo general, siete objetivos específicos y límites</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Damián Valdivia, Diego Aarón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3</a:t>
            </a:r>
          </a:p>
        </p:txBody>
      </p:sp>
      <p:sp>
        <p:nvSpPr>
          <p:cNvPr id="9" name="Rectangle 8"/>
          <p:cNvSpPr/>
          <p:nvPr/>
        </p:nvSpPr>
        <p:spPr>
          <a:xfrm>
            <a:off x="502920" y="1325880"/>
            <a:ext cx="7589520" cy="10058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71600"/>
            <a:ext cx="7223760" cy="914400"/>
          </a:xfrm>
          <a:prstGeom prst="rect">
            <a:avLst/>
          </a:prstGeom>
          <a:noFill/>
        </p:spPr>
        <p:txBody>
          <a:bodyPr wrap="square" lIns="45720" rIns="45720" tIns="18288" bIns="18288" anchor="ctr">
            <a:spAutoFit/>
          </a:bodyPr>
          <a:lstStyle/>
          <a:p>
            <a:pPr algn="l"/>
            <a:r>
              <a:rPr sz="1300" b="1" i="0">
                <a:solidFill>
                  <a:srgbClr val="FFFFFF"/>
                </a:solidFill>
                <a:latin typeface="Calibri"/>
              </a:rPr>
              <a:t>Objetivo general: </a:t>
            </a:r>
            <a:r>
              <a:rPr sz="1300" b="0" i="0">
                <a:solidFill>
                  <a:srgbClr val="FFFFFF"/>
                </a:solidFill>
                <a:latin typeface="Calibri"/>
              </a:rPr>
              <a:t>desarrollar una aplicación móvil con IA multimodal (Gemma 4) para mejorar la exactitud de la declaración mensual del NRUS en bodegas de S.J.L.</a:t>
            </a:r>
          </a:p>
        </p:txBody>
      </p:sp>
      <p:graphicFrame>
        <p:nvGraphicFramePr>
          <p:cNvPr id="11" name="Table 10"/>
          <p:cNvGraphicFramePr>
            <a:graphicFrameLocks noGrp="1"/>
          </p:cNvGraphicFramePr>
          <p:nvPr/>
        </p:nvGraphicFramePr>
        <p:xfrm>
          <a:off x="502920" y="2514600"/>
          <a:ext cx="7589520" cy="3657600"/>
        </p:xfrm>
        <a:graphic>
          <a:graphicData uri="http://schemas.openxmlformats.org/drawingml/2006/table">
            <a:tbl>
              <a:tblPr firstRow="1" bandRow="1">
                <a:tableStyleId>{5C22544A-7EE6-4342-B048-85BDC9FD1C3A}</a:tableStyleId>
              </a:tblPr>
              <a:tblGrid>
                <a:gridCol w="640080"/>
                <a:gridCol w="3566160"/>
                <a:gridCol w="3383280"/>
              </a:tblGrid>
              <a:tr h="457200">
                <a:tc>
                  <a:txBody>
                    <a:bodyPr/>
                    <a:lstStyle/>
                    <a:p>
                      <a:pPr algn="ctr"/>
                      <a:r>
                        <a:rPr sz="1150" b="1">
                          <a:solidFill>
                            <a:srgbClr val="FFFFFF"/>
                          </a:solidFill>
                          <a:latin typeface="Calibri"/>
                        </a:rPr>
                        <a:t>Cód.</a:t>
                      </a:r>
                    </a:p>
                  </a:txBody>
                  <a:tcPr marL="54864" marR="54864" marT="18288" marB="18288" anchor="ctr">
                    <a:solidFill>
                      <a:srgbClr val="1F4E79"/>
                    </a:solidFill>
                  </a:tcPr>
                </a:tc>
                <a:tc>
                  <a:txBody>
                    <a:bodyPr/>
                    <a:lstStyle/>
                    <a:p>
                      <a:pPr algn="ctr"/>
                      <a:r>
                        <a:rPr sz="1150" b="1">
                          <a:solidFill>
                            <a:srgbClr val="FFFFFF"/>
                          </a:solidFill>
                          <a:latin typeface="Calibri"/>
                        </a:rPr>
                        <a:t>Objetivo específico</a:t>
                      </a:r>
                    </a:p>
                  </a:txBody>
                  <a:tcPr marL="54864" marR="54864" marT="18288" marB="18288" anchor="ctr">
                    <a:solidFill>
                      <a:srgbClr val="1F4E79"/>
                    </a:solidFill>
                  </a:tcPr>
                </a:tc>
                <a:tc>
                  <a:txBody>
                    <a:bodyPr/>
                    <a:lstStyle/>
                    <a:p>
                      <a:pPr algn="ctr"/>
                      <a:r>
                        <a:rPr sz="1150" b="1">
                          <a:solidFill>
                            <a:srgbClr val="FFFFFF"/>
                          </a:solidFill>
                          <a:latin typeface="Calibri"/>
                        </a:rPr>
                        <a:t>Indicador de medición</a:t>
                      </a:r>
                    </a:p>
                  </a:txBody>
                  <a:tcPr marL="54864" marR="54864" marT="18288" marB="18288" anchor="ctr">
                    <a:solidFill>
                      <a:srgbClr val="1F4E79"/>
                    </a:solidFill>
                  </a:tcPr>
                </a:tc>
              </a:tr>
              <a:tr h="457200">
                <a:tc>
                  <a:txBody>
                    <a:bodyPr/>
                    <a:lstStyle/>
                    <a:p>
                      <a:r>
                        <a:rPr sz="1150" b="1">
                          <a:solidFill>
                            <a:srgbClr val="262626"/>
                          </a:solidFill>
                          <a:latin typeface="Calibri"/>
                        </a:rPr>
                        <a:t>OE1</a:t>
                      </a:r>
                    </a:p>
                  </a:txBody>
                  <a:tcPr marL="54864" marR="54864" marT="18288" marB="18288" anchor="ctr">
                    <a:solidFill>
                      <a:srgbClr val="FFFFFF"/>
                    </a:solidFill>
                  </a:tcPr>
                </a:tc>
                <a:tc>
                  <a:txBody>
                    <a:bodyPr/>
                    <a:lstStyle/>
                    <a:p>
                      <a:pPr algn="ctr"/>
                      <a:r>
                        <a:rPr sz="1150" b="0">
                          <a:solidFill>
                            <a:srgbClr val="262626"/>
                          </a:solidFill>
                          <a:latin typeface="Calibri"/>
                        </a:rPr>
                        <a:t>Modelar con BPMN el proceso actual y el propuesto</a:t>
                      </a:r>
                    </a:p>
                  </a:txBody>
                  <a:tcPr marL="54864" marR="54864" marT="18288" marB="18288" anchor="ctr">
                    <a:solidFill>
                      <a:srgbClr val="FFFFFF"/>
                    </a:solidFill>
                  </a:tcPr>
                </a:tc>
                <a:tc>
                  <a:txBody>
                    <a:bodyPr/>
                    <a:lstStyle/>
                    <a:p>
                      <a:pPr algn="ctr"/>
                      <a:r>
                        <a:rPr sz="1150" b="0">
                          <a:solidFill>
                            <a:srgbClr val="262626"/>
                          </a:solidFill>
                          <a:latin typeface="Calibri"/>
                        </a:rPr>
                        <a:t>Puntos de error eliminados o automatizados</a:t>
                      </a:r>
                    </a:p>
                  </a:txBody>
                  <a:tcPr marL="54864" marR="54864" marT="18288" marB="18288" anchor="ctr">
                    <a:solidFill>
                      <a:srgbClr val="FFFFFF"/>
                    </a:solidFill>
                  </a:tcPr>
                </a:tc>
              </a:tr>
              <a:tr h="457200">
                <a:tc>
                  <a:txBody>
                    <a:bodyPr/>
                    <a:lstStyle/>
                    <a:p>
                      <a:r>
                        <a:rPr sz="1150" b="1">
                          <a:solidFill>
                            <a:srgbClr val="262626"/>
                          </a:solidFill>
                          <a:latin typeface="Calibri"/>
                        </a:rPr>
                        <a:t>OE2</a:t>
                      </a:r>
                    </a:p>
                  </a:txBody>
                  <a:tcPr marL="54864" marR="54864" marT="18288" marB="18288" anchor="ctr">
                    <a:solidFill>
                      <a:srgbClr val="F6F8FA"/>
                    </a:solidFill>
                  </a:tcPr>
                </a:tc>
                <a:tc>
                  <a:txBody>
                    <a:bodyPr/>
                    <a:lstStyle/>
                    <a:p>
                      <a:pPr algn="ctr"/>
                      <a:r>
                        <a:rPr sz="1150" b="0">
                          <a:solidFill>
                            <a:srgbClr val="262626"/>
                          </a:solidFill>
                          <a:latin typeface="Calibri"/>
                        </a:rPr>
                        <a:t>Construir el conjunto de facturas etiquetadas</a:t>
                      </a:r>
                    </a:p>
                  </a:txBody>
                  <a:tcPr marL="54864" marR="54864" marT="18288" marB="18288" anchor="ctr">
                    <a:solidFill>
                      <a:srgbClr val="F6F8FA"/>
                    </a:solidFill>
                  </a:tcPr>
                </a:tc>
                <a:tc>
                  <a:txBody>
                    <a:bodyPr/>
                    <a:lstStyle/>
                    <a:p>
                      <a:pPr algn="ctr"/>
                      <a:r>
                        <a:rPr sz="1150" b="0">
                          <a:solidFill>
                            <a:srgbClr val="262626"/>
                          </a:solidFill>
                          <a:latin typeface="Calibri"/>
                        </a:rPr>
                        <a:t>Facturas y formatos de emisor etiquetados</a:t>
                      </a:r>
                    </a:p>
                  </a:txBody>
                  <a:tcPr marL="54864" marR="54864" marT="18288" marB="18288" anchor="ctr">
                    <a:solidFill>
                      <a:srgbClr val="F6F8FA"/>
                    </a:solidFill>
                  </a:tcPr>
                </a:tc>
              </a:tr>
              <a:tr h="457200">
                <a:tc>
                  <a:txBody>
                    <a:bodyPr/>
                    <a:lstStyle/>
                    <a:p>
                      <a:r>
                        <a:rPr sz="1150" b="1">
                          <a:solidFill>
                            <a:srgbClr val="262626"/>
                          </a:solidFill>
                          <a:latin typeface="Calibri"/>
                        </a:rPr>
                        <a:t>OE3</a:t>
                      </a:r>
                    </a:p>
                  </a:txBody>
                  <a:tcPr marL="54864" marR="54864" marT="18288" marB="18288" anchor="ctr">
                    <a:solidFill>
                      <a:srgbClr val="FFFFFF"/>
                    </a:solidFill>
                  </a:tcPr>
                </a:tc>
                <a:tc>
                  <a:txBody>
                    <a:bodyPr/>
                    <a:lstStyle/>
                    <a:p>
                      <a:pPr algn="ctr"/>
                      <a:r>
                        <a:rPr sz="1150" b="0">
                          <a:solidFill>
                            <a:srgbClr val="262626"/>
                          </a:solidFill>
                          <a:latin typeface="Calibri"/>
                        </a:rPr>
                        <a:t>Ajustar y convertir Gemma 4 E2B al teléfono</a:t>
                      </a:r>
                    </a:p>
                  </a:txBody>
                  <a:tcPr marL="54864" marR="54864" marT="18288" marB="18288" anchor="ctr">
                    <a:solidFill>
                      <a:srgbClr val="FFFFFF"/>
                    </a:solidFill>
                  </a:tcPr>
                </a:tc>
                <a:tc>
                  <a:txBody>
                    <a:bodyPr/>
                    <a:lstStyle/>
                    <a:p>
                      <a:pPr algn="ctr"/>
                      <a:r>
                        <a:rPr sz="1150" b="0">
                          <a:solidFill>
                            <a:srgbClr val="262626"/>
                          </a:solidFill>
                          <a:latin typeface="Calibri"/>
                        </a:rPr>
                        <a:t>Exactitud por campo frente al modelo base</a:t>
                      </a:r>
                    </a:p>
                  </a:txBody>
                  <a:tcPr marL="54864" marR="54864" marT="18288" marB="18288" anchor="ctr">
                    <a:solidFill>
                      <a:srgbClr val="FFFFFF"/>
                    </a:solidFill>
                  </a:tcPr>
                </a:tc>
              </a:tr>
              <a:tr h="457200">
                <a:tc>
                  <a:txBody>
                    <a:bodyPr/>
                    <a:lstStyle/>
                    <a:p>
                      <a:r>
                        <a:rPr sz="1150" b="1">
                          <a:solidFill>
                            <a:srgbClr val="262626"/>
                          </a:solidFill>
                          <a:latin typeface="Calibri"/>
                        </a:rPr>
                        <a:t>OE4</a:t>
                      </a:r>
                    </a:p>
                  </a:txBody>
                  <a:tcPr marL="54864" marR="54864" marT="18288" marB="18288" anchor="ctr">
                    <a:solidFill>
                      <a:srgbClr val="F6F8FA"/>
                    </a:solidFill>
                  </a:tcPr>
                </a:tc>
                <a:tc>
                  <a:txBody>
                    <a:bodyPr/>
                    <a:lstStyle/>
                    <a:p>
                      <a:pPr algn="ctr"/>
                      <a:r>
                        <a:rPr sz="1150" b="0">
                          <a:solidFill>
                            <a:srgbClr val="262626"/>
                          </a:solidFill>
                          <a:latin typeface="Calibri"/>
                        </a:rPr>
                        <a:t>Implementar el motor de reglas del NRUS</a:t>
                      </a:r>
                    </a:p>
                  </a:txBody>
                  <a:tcPr marL="54864" marR="54864" marT="18288" marB="18288" anchor="ctr">
                    <a:solidFill>
                      <a:srgbClr val="F6F8FA"/>
                    </a:solidFill>
                  </a:tcPr>
                </a:tc>
                <a:tc>
                  <a:txBody>
                    <a:bodyPr/>
                    <a:lstStyle/>
                    <a:p>
                      <a:pPr algn="ctr"/>
                      <a:r>
                        <a:rPr sz="1150" b="0">
                          <a:solidFill>
                            <a:srgbClr val="262626"/>
                          </a:solidFill>
                          <a:latin typeface="Calibri"/>
                        </a:rPr>
                        <a:t>Casos de prueba de la norma resueltos</a:t>
                      </a:r>
                    </a:p>
                  </a:txBody>
                  <a:tcPr marL="54864" marR="54864" marT="18288" marB="18288" anchor="ctr">
                    <a:solidFill>
                      <a:srgbClr val="F6F8FA"/>
                    </a:solidFill>
                  </a:tcPr>
                </a:tc>
              </a:tr>
              <a:tr h="457200">
                <a:tc>
                  <a:txBody>
                    <a:bodyPr/>
                    <a:lstStyle/>
                    <a:p>
                      <a:r>
                        <a:rPr sz="1150" b="1">
                          <a:solidFill>
                            <a:srgbClr val="262626"/>
                          </a:solidFill>
                          <a:latin typeface="Calibri"/>
                        </a:rPr>
                        <a:t>OE5</a:t>
                      </a:r>
                    </a:p>
                  </a:txBody>
                  <a:tcPr marL="54864" marR="54864" marT="18288" marB="18288" anchor="ctr">
                    <a:solidFill>
                      <a:srgbClr val="FFFFFF"/>
                    </a:solidFill>
                  </a:tcPr>
                </a:tc>
                <a:tc>
                  <a:txBody>
                    <a:bodyPr/>
                    <a:lstStyle/>
                    <a:p>
                      <a:pPr algn="ctr"/>
                      <a:r>
                        <a:rPr sz="1150" b="0">
                          <a:solidFill>
                            <a:srgbClr val="262626"/>
                          </a:solidFill>
                          <a:latin typeface="Calibri"/>
                        </a:rPr>
                        <a:t>Desarrollar la app Android en Java sin conexión</a:t>
                      </a:r>
                    </a:p>
                  </a:txBody>
                  <a:tcPr marL="54864" marR="54864" marT="18288" marB="18288" anchor="ctr">
                    <a:solidFill>
                      <a:srgbClr val="FFFFFF"/>
                    </a:solidFill>
                  </a:tcPr>
                </a:tc>
                <a:tc>
                  <a:txBody>
                    <a:bodyPr/>
                    <a:lstStyle/>
                    <a:p>
                      <a:pPr algn="ctr"/>
                      <a:r>
                        <a:rPr sz="1150" b="0">
                          <a:solidFill>
                            <a:srgbClr val="262626"/>
                          </a:solidFill>
                          <a:latin typeface="Calibri"/>
                        </a:rPr>
                        <a:t>Tiempo de lectura y % de código Java</a:t>
                      </a:r>
                    </a:p>
                  </a:txBody>
                  <a:tcPr marL="54864" marR="54864" marT="18288" marB="18288" anchor="ctr">
                    <a:solidFill>
                      <a:srgbClr val="FFFFFF"/>
                    </a:solidFill>
                  </a:tcPr>
                </a:tc>
              </a:tr>
              <a:tr h="457200">
                <a:tc>
                  <a:txBody>
                    <a:bodyPr/>
                    <a:lstStyle/>
                    <a:p>
                      <a:r>
                        <a:rPr sz="1150" b="1">
                          <a:solidFill>
                            <a:srgbClr val="262626"/>
                          </a:solidFill>
                          <a:latin typeface="Calibri"/>
                        </a:rPr>
                        <a:t>OE6</a:t>
                      </a:r>
                    </a:p>
                  </a:txBody>
                  <a:tcPr marL="54864" marR="54864" marT="18288" marB="18288" anchor="ctr">
                    <a:solidFill>
                      <a:srgbClr val="F6F8FA"/>
                    </a:solidFill>
                  </a:tcPr>
                </a:tc>
                <a:tc>
                  <a:txBody>
                    <a:bodyPr/>
                    <a:lstStyle/>
                    <a:p>
                      <a:pPr algn="ctr"/>
                      <a:r>
                        <a:rPr sz="1150" b="0">
                          <a:solidFill>
                            <a:srgbClr val="262626"/>
                          </a:solidFill>
                          <a:latin typeface="Calibri"/>
                        </a:rPr>
                        <a:t>Exportar los datos a CSV y PDF</a:t>
                      </a:r>
                    </a:p>
                  </a:txBody>
                  <a:tcPr marL="54864" marR="54864" marT="18288" marB="18288" anchor="ctr">
                    <a:solidFill>
                      <a:srgbClr val="F6F8FA"/>
                    </a:solidFill>
                  </a:tcPr>
                </a:tc>
                <a:tc>
                  <a:txBody>
                    <a:bodyPr/>
                    <a:lstStyle/>
                    <a:p>
                      <a:pPr algn="ctr"/>
                      <a:r>
                        <a:rPr sz="1150" b="0">
                          <a:solidFill>
                            <a:srgbClr val="262626"/>
                          </a:solidFill>
                          <a:latin typeface="Calibri"/>
                        </a:rPr>
                        <a:t>Archivos abiertos en PC; envíos no autorizados</a:t>
                      </a:r>
                    </a:p>
                  </a:txBody>
                  <a:tcPr marL="54864" marR="54864" marT="18288" marB="18288" anchor="ctr">
                    <a:solidFill>
                      <a:srgbClr val="F6F8FA"/>
                    </a:solidFill>
                  </a:tcPr>
                </a:tc>
              </a:tr>
              <a:tr h="457200">
                <a:tc>
                  <a:txBody>
                    <a:bodyPr/>
                    <a:lstStyle/>
                    <a:p>
                      <a:r>
                        <a:rPr sz="1150" b="1">
                          <a:solidFill>
                            <a:srgbClr val="262626"/>
                          </a:solidFill>
                          <a:latin typeface="Calibri"/>
                        </a:rPr>
                        <a:t>OE7</a:t>
                      </a:r>
                    </a:p>
                  </a:txBody>
                  <a:tcPr marL="54864" marR="54864" marT="18288" marB="18288" anchor="ctr">
                    <a:solidFill>
                      <a:srgbClr val="FFFFFF"/>
                    </a:solidFill>
                  </a:tcPr>
                </a:tc>
                <a:tc>
                  <a:txBody>
                    <a:bodyPr/>
                    <a:lstStyle/>
                    <a:p>
                      <a:pPr algn="ctr"/>
                      <a:r>
                        <a:rPr sz="1150" b="0">
                          <a:solidFill>
                            <a:srgbClr val="262626"/>
                          </a:solidFill>
                          <a:latin typeface="Calibri"/>
                        </a:rPr>
                        <a:t>Evaluar la declaración en un mes simulado</a:t>
                      </a:r>
                    </a:p>
                  </a:txBody>
                  <a:tcPr marL="54864" marR="54864" marT="18288" marB="18288" anchor="ctr">
                    <a:solidFill>
                      <a:srgbClr val="FFFFFF"/>
                    </a:solidFill>
                  </a:tcPr>
                </a:tc>
                <a:tc>
                  <a:txBody>
                    <a:bodyPr/>
                    <a:lstStyle/>
                    <a:p>
                      <a:pPr algn="ctr"/>
                      <a:r>
                        <a:rPr sz="1150" b="0">
                          <a:solidFill>
                            <a:srgbClr val="262626"/>
                          </a:solidFill>
                          <a:latin typeface="Calibri"/>
                        </a:rPr>
                        <a:t>Diferencia con el cálculo manual; categoría</a:t>
                      </a:r>
                    </a:p>
                  </a:txBody>
                  <a:tcPr marL="54864" marR="54864" marT="18288" marB="18288" anchor="ctr">
                    <a:solidFill>
                      <a:srgbClr val="FFFFFF"/>
                    </a:solidFill>
                  </a:tcPr>
                </a:tc>
              </a:tr>
            </a:tbl>
          </a:graphicData>
        </a:graphic>
      </p:graphicFrame>
      <p:sp>
        <p:nvSpPr>
          <p:cNvPr id="12" name="Rectangle 11"/>
          <p:cNvSpPr/>
          <p:nvPr/>
        </p:nvSpPr>
        <p:spPr>
          <a:xfrm>
            <a:off x="8321040" y="1325880"/>
            <a:ext cx="3383280" cy="2743200"/>
          </a:xfrm>
          <a:prstGeom prst="rect">
            <a:avLst/>
          </a:prstGeom>
          <a:solidFill>
            <a:srgbClr val="FBE9E9"/>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0" y="1325880"/>
            <a:ext cx="3383280" cy="640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463039"/>
            <a:ext cx="3108960" cy="320040"/>
          </a:xfrm>
          <a:prstGeom prst="rect">
            <a:avLst/>
          </a:prstGeom>
          <a:noFill/>
        </p:spPr>
        <p:txBody>
          <a:bodyPr wrap="square" lIns="45720" rIns="45720" tIns="18288" bIns="18288" anchor="t">
            <a:spAutoFit/>
          </a:bodyPr>
          <a:lstStyle/>
          <a:p>
            <a:pPr algn="l"/>
            <a:r>
              <a:rPr sz="1300" b="1" i="0">
                <a:solidFill>
                  <a:srgbClr val="C00000"/>
                </a:solidFill>
                <a:latin typeface="Calibri"/>
              </a:rPr>
              <a:t>Fuera del alcance</a:t>
            </a:r>
          </a:p>
        </p:txBody>
      </p:sp>
      <p:sp>
        <p:nvSpPr>
          <p:cNvPr id="15" name="TextBox 14"/>
          <p:cNvSpPr txBox="1"/>
          <p:nvPr/>
        </p:nvSpPr>
        <p:spPr>
          <a:xfrm>
            <a:off x="8458200" y="1783080"/>
            <a:ext cx="3108960" cy="2194560"/>
          </a:xfrm>
          <a:prstGeom prst="rect">
            <a:avLst/>
          </a:prstGeom>
          <a:noFill/>
        </p:spPr>
        <p:txBody>
          <a:bodyPr wrap="square" lIns="45720" rIns="45720">
            <a:spAutoFit/>
          </a:bodyPr>
          <a:lstStyle/>
          <a:p>
            <a:pPr marL="182880" indent="-182880">
              <a:spcAft>
                <a:spcPts val="400"/>
              </a:spcAft>
              <a:buChar char="•"/>
            </a:pPr>
            <a:r>
              <a:rPr sz="1300" b="0">
                <a:solidFill>
                  <a:srgbClr val="262626"/>
                </a:solidFill>
                <a:latin typeface="Calibri"/>
              </a:rPr>
              <a:t>Presentar y pagar ante la SUNAT</a:t>
            </a:r>
          </a:p>
          <a:p>
            <a:pPr marL="182880" indent="-182880">
              <a:spcAft>
                <a:spcPts val="400"/>
              </a:spcAft>
              <a:buChar char="•"/>
            </a:pPr>
            <a:r>
              <a:rPr sz="1300" b="0">
                <a:solidFill>
                  <a:srgbClr val="262626"/>
                </a:solidFill>
                <a:latin typeface="Calibri"/>
              </a:rPr>
              <a:t>Registrar cada venta diaria</a:t>
            </a:r>
          </a:p>
          <a:p>
            <a:pPr marL="182880" indent="-182880">
              <a:spcAft>
                <a:spcPts val="400"/>
              </a:spcAft>
              <a:buChar char="•"/>
            </a:pPr>
            <a:r>
              <a:rPr sz="1300" b="0">
                <a:solidFill>
                  <a:srgbClr val="262626"/>
                </a:solidFill>
                <a:latin typeface="Calibri"/>
              </a:rPr>
              <a:t>Emitir comprobantes electrónicos</a:t>
            </a:r>
          </a:p>
          <a:p>
            <a:pPr marL="182880" indent="-182880">
              <a:spcAft>
                <a:spcPts val="400"/>
              </a:spcAft>
              <a:buChar char="•"/>
            </a:pPr>
            <a:r>
              <a:rPr sz="1300" b="0">
                <a:solidFill>
                  <a:srgbClr val="262626"/>
                </a:solidFill>
                <a:latin typeface="Calibri"/>
              </a:rPr>
              <a:t>Contabilidad, inventario o planillas</a:t>
            </a:r>
          </a:p>
          <a:p>
            <a:pPr marL="182880" indent="-182880">
              <a:spcAft>
                <a:spcPts val="400"/>
              </a:spcAft>
              <a:buChar char="•"/>
            </a:pPr>
            <a:r>
              <a:rPr sz="1300" b="0">
                <a:solidFill>
                  <a:srgbClr val="262626"/>
                </a:solidFill>
                <a:latin typeface="Calibri"/>
              </a:rPr>
              <a:t>Otros regímenes e iOS</a:t>
            </a:r>
          </a:p>
        </p:txBody>
      </p:sp>
      <p:sp>
        <p:nvSpPr>
          <p:cNvPr id="16" name="Rectangle 15"/>
          <p:cNvSpPr/>
          <p:nvPr/>
        </p:nvSpPr>
        <p:spPr>
          <a:xfrm>
            <a:off x="8321040" y="4206240"/>
            <a:ext cx="3383280" cy="196596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4206240"/>
            <a:ext cx="338328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4343400"/>
            <a:ext cx="3108960" cy="320040"/>
          </a:xfrm>
          <a:prstGeom prst="rect">
            <a:avLst/>
          </a:prstGeom>
          <a:noFill/>
        </p:spPr>
        <p:txBody>
          <a:bodyPr wrap="square" lIns="45720" rIns="45720" tIns="18288" bIns="18288" anchor="t">
            <a:spAutoFit/>
          </a:bodyPr>
          <a:lstStyle/>
          <a:p>
            <a:pPr algn="l"/>
            <a:r>
              <a:rPr sz="1300" b="1" i="0">
                <a:solidFill>
                  <a:srgbClr val="1E7B4F"/>
                </a:solidFill>
                <a:latin typeface="Calibri"/>
              </a:rPr>
              <a:t>Delimitación</a:t>
            </a:r>
          </a:p>
        </p:txBody>
      </p:sp>
      <p:sp>
        <p:nvSpPr>
          <p:cNvPr id="19" name="TextBox 18"/>
          <p:cNvSpPr txBox="1"/>
          <p:nvPr/>
        </p:nvSpPr>
        <p:spPr>
          <a:xfrm>
            <a:off x="8458200" y="4663440"/>
            <a:ext cx="3108960" cy="1417319"/>
          </a:xfrm>
          <a:prstGeom prst="rect">
            <a:avLst/>
          </a:prstGeom>
          <a:noFill/>
        </p:spPr>
        <p:txBody>
          <a:bodyPr wrap="square" lIns="45720" rIns="45720">
            <a:spAutoFit/>
          </a:bodyPr>
          <a:lstStyle/>
          <a:p>
            <a:pPr marL="182880" indent="-182880">
              <a:spcAft>
                <a:spcPts val="400"/>
              </a:spcAft>
              <a:buChar char="•"/>
            </a:pPr>
            <a:r>
              <a:rPr sz="1250" b="0">
                <a:solidFill>
                  <a:srgbClr val="262626"/>
                </a:solidFill>
                <a:latin typeface="Calibri"/>
              </a:rPr>
              <a:t>Bodegas del NRUS con un solo local</a:t>
            </a:r>
          </a:p>
          <a:p>
            <a:pPr marL="182880" indent="-182880">
              <a:spcAft>
                <a:spcPts val="400"/>
              </a:spcAft>
              <a:buChar char="•"/>
            </a:pPr>
            <a:r>
              <a:rPr sz="1250" b="0">
                <a:solidFill>
                  <a:srgbClr val="262626"/>
                </a:solidFill>
                <a:latin typeface="Calibri"/>
              </a:rPr>
              <a:t>Validación en San Juan de Lurigancho</a:t>
            </a:r>
          </a:p>
          <a:p>
            <a:pPr marL="182880" indent="-182880">
              <a:spcAft>
                <a:spcPts val="400"/>
              </a:spcAft>
              <a:buChar char="•"/>
            </a:pPr>
            <a:r>
              <a:rPr sz="1250" b="0">
                <a:solidFill>
                  <a:srgbClr val="262626"/>
                </a:solidFill>
                <a:latin typeface="Calibri"/>
              </a:rPr>
              <a:t>Teléfono con &lt; 6 GB: registro manual</a:t>
            </a:r>
          </a:p>
          <a:p>
            <a:pPr marL="182880" indent="-182880">
              <a:spcAft>
                <a:spcPts val="400"/>
              </a:spcAft>
              <a:buChar char="•"/>
            </a:pPr>
            <a:r>
              <a:rPr sz="1250" b="0">
                <a:solidFill>
                  <a:srgbClr val="262626"/>
                </a:solidFill>
                <a:latin typeface="Calibri"/>
              </a:rPr>
              <a:t>Agosto a diciembre de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ALTERNATIVAS DE SOLUCIÓN</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Tres alternativas profundizadas; se mantiene la 1</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Damián Valdivia, Diego Aarón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4</a:t>
            </a:r>
          </a:p>
        </p:txBody>
      </p:sp>
      <p:sp>
        <p:nvSpPr>
          <p:cNvPr id="9" name="Rectangle 8"/>
          <p:cNvSpPr/>
          <p:nvPr/>
        </p:nvSpPr>
        <p:spPr>
          <a:xfrm>
            <a:off x="502920" y="1371600"/>
            <a:ext cx="3611880" cy="868680"/>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17320"/>
            <a:ext cx="3383280" cy="274320"/>
          </a:xfrm>
          <a:prstGeom prst="rect">
            <a:avLst/>
          </a:prstGeom>
          <a:noFill/>
        </p:spPr>
        <p:txBody>
          <a:bodyPr wrap="square" lIns="45720" rIns="45720" tIns="18288" bIns="18288" anchor="t">
            <a:spAutoFit/>
          </a:bodyPr>
          <a:lstStyle/>
          <a:p>
            <a:pPr algn="l"/>
            <a:r>
              <a:rPr sz="1100" b="1" i="0">
                <a:solidFill>
                  <a:srgbClr val="FFFFFF"/>
                </a:solidFill>
                <a:latin typeface="Calibri"/>
              </a:rPr>
              <a:t>ALTERNATIVA 1 · SELECCIONADA</a:t>
            </a:r>
          </a:p>
        </p:txBody>
      </p:sp>
      <p:sp>
        <p:nvSpPr>
          <p:cNvPr id="11" name="TextBox 10"/>
          <p:cNvSpPr txBox="1"/>
          <p:nvPr/>
        </p:nvSpPr>
        <p:spPr>
          <a:xfrm>
            <a:off x="640080" y="1691640"/>
            <a:ext cx="3383280" cy="548640"/>
          </a:xfrm>
          <a:prstGeom prst="rect">
            <a:avLst/>
          </a:prstGeom>
          <a:noFill/>
        </p:spPr>
        <p:txBody>
          <a:bodyPr wrap="square" lIns="45720" rIns="45720" tIns="18288" bIns="18288" anchor="t">
            <a:spAutoFit/>
          </a:bodyPr>
          <a:lstStyle/>
          <a:p>
            <a:pPr algn="l"/>
            <a:r>
              <a:rPr sz="1400" b="1" i="0">
                <a:solidFill>
                  <a:srgbClr val="FFFFFF"/>
                </a:solidFill>
                <a:latin typeface="Calibri"/>
              </a:rPr>
              <a:t>App Android en Java con Gemma 4 embebido</a:t>
            </a:r>
          </a:p>
        </p:txBody>
      </p:sp>
      <p:sp>
        <p:nvSpPr>
          <p:cNvPr id="12" name="Rectangle 11"/>
          <p:cNvSpPr/>
          <p:nvPr/>
        </p:nvSpPr>
        <p:spPr>
          <a:xfrm>
            <a:off x="502920" y="2240280"/>
            <a:ext cx="3611880" cy="301752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377440"/>
            <a:ext cx="3291840" cy="2011680"/>
          </a:xfrm>
          <a:prstGeom prst="rect">
            <a:avLst/>
          </a:prstGeom>
          <a:noFill/>
        </p:spPr>
        <p:txBody>
          <a:bodyPr wrap="square" lIns="45720" rIns="45720">
            <a:spAutoFit/>
          </a:bodyPr>
          <a:lstStyle/>
          <a:p>
            <a:pPr marL="182880" indent="-182880">
              <a:spcAft>
                <a:spcPts val="400"/>
              </a:spcAft>
              <a:buChar char="•"/>
            </a:pPr>
            <a:r>
              <a:rPr sz="1350" b="0">
                <a:solidFill>
                  <a:srgbClr val="262626"/>
                </a:solidFill>
                <a:latin typeface="Calibri"/>
              </a:rPr>
              <a:t>20 pantallas móviles</a:t>
            </a:r>
          </a:p>
          <a:p>
            <a:pPr marL="182880" indent="-182880">
              <a:spcAft>
                <a:spcPts val="400"/>
              </a:spcAft>
              <a:buChar char="•"/>
            </a:pPr>
            <a:r>
              <a:rPr sz="1350" b="0">
                <a:solidFill>
                  <a:srgbClr val="262626"/>
                </a:solidFill>
                <a:latin typeface="Calibri"/>
              </a:rPr>
              <a:t>Java ≈ 85 %</a:t>
            </a:r>
          </a:p>
          <a:p>
            <a:pPr marL="182880" indent="-182880">
              <a:spcAft>
                <a:spcPts val="400"/>
              </a:spcAft>
              <a:buChar char="•"/>
            </a:pPr>
            <a:r>
              <a:rPr sz="1350" b="0">
                <a:solidFill>
                  <a:srgbClr val="262626"/>
                </a:solidFill>
                <a:latin typeface="Calibri"/>
              </a:rPr>
              <a:t>Lee la factura sin internet</a:t>
            </a:r>
          </a:p>
          <a:p>
            <a:pPr marL="182880" indent="-182880">
              <a:spcAft>
                <a:spcPts val="400"/>
              </a:spcAft>
              <a:buChar char="•"/>
            </a:pPr>
            <a:r>
              <a:rPr sz="1350" b="0">
                <a:solidFill>
                  <a:srgbClr val="262626"/>
                </a:solidFill>
                <a:latin typeface="Calibri"/>
              </a:rPr>
              <a:t>La imagen no sale del teléfono</a:t>
            </a:r>
          </a:p>
          <a:p>
            <a:pPr marL="182880" indent="-182880">
              <a:spcAft>
                <a:spcPts val="400"/>
              </a:spcAft>
              <a:buChar char="•"/>
            </a:pPr>
            <a:r>
              <a:rPr sz="1350" b="0">
                <a:solidFill>
                  <a:srgbClr val="262626"/>
                </a:solidFill>
                <a:latin typeface="Calibri"/>
              </a:rPr>
              <a:t>RF 22/22 · RNF 19/19</a:t>
            </a:r>
          </a:p>
        </p:txBody>
      </p:sp>
      <p:sp>
        <p:nvSpPr>
          <p:cNvPr id="14" name="TextBox 13"/>
          <p:cNvSpPr txBox="1"/>
          <p:nvPr/>
        </p:nvSpPr>
        <p:spPr>
          <a:xfrm>
            <a:off x="685800" y="4434840"/>
            <a:ext cx="3291840" cy="731520"/>
          </a:xfrm>
          <a:prstGeom prst="rect">
            <a:avLst/>
          </a:prstGeom>
          <a:noFill/>
        </p:spPr>
        <p:txBody>
          <a:bodyPr wrap="square" lIns="45720" rIns="45720" tIns="18288" bIns="18288" anchor="t">
            <a:spAutoFit/>
          </a:bodyPr>
          <a:lstStyle/>
          <a:p>
            <a:pPr algn="l"/>
            <a:r>
              <a:rPr sz="2000" b="0" i="0">
                <a:solidFill>
                  <a:srgbClr val="1E7B4F"/>
                </a:solidFill>
                <a:latin typeface="Calibri"/>
              </a:rPr>
              <a:t>Puntaje ponderado  </a:t>
            </a:r>
            <a:r>
              <a:rPr sz="2000" b="1" i="0">
                <a:solidFill>
                  <a:srgbClr val="1E7B4F"/>
                </a:solidFill>
                <a:latin typeface="Calibri"/>
              </a:rPr>
              <a:t>4,40</a:t>
            </a:r>
          </a:p>
        </p:txBody>
      </p:sp>
      <p:sp>
        <p:nvSpPr>
          <p:cNvPr id="15" name="Rectangle 14"/>
          <p:cNvSpPr/>
          <p:nvPr/>
        </p:nvSpPr>
        <p:spPr>
          <a:xfrm>
            <a:off x="4297680" y="1371600"/>
            <a:ext cx="3611880" cy="86868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417320"/>
            <a:ext cx="3383280" cy="274320"/>
          </a:xfrm>
          <a:prstGeom prst="rect">
            <a:avLst/>
          </a:prstGeom>
          <a:noFill/>
        </p:spPr>
        <p:txBody>
          <a:bodyPr wrap="square" lIns="45720" rIns="45720" tIns="18288" bIns="18288" anchor="t">
            <a:spAutoFit/>
          </a:bodyPr>
          <a:lstStyle/>
          <a:p>
            <a:pPr algn="l"/>
            <a:r>
              <a:rPr sz="1100" b="1" i="0">
                <a:solidFill>
                  <a:srgbClr val="FFFFFF"/>
                </a:solidFill>
                <a:latin typeface="Calibri"/>
              </a:rPr>
              <a:t>ALTERNATIVA 2</a:t>
            </a:r>
          </a:p>
        </p:txBody>
      </p:sp>
      <p:sp>
        <p:nvSpPr>
          <p:cNvPr id="17" name="TextBox 16"/>
          <p:cNvSpPr txBox="1"/>
          <p:nvPr/>
        </p:nvSpPr>
        <p:spPr>
          <a:xfrm>
            <a:off x="4434840" y="1691640"/>
            <a:ext cx="3383280" cy="548640"/>
          </a:xfrm>
          <a:prstGeom prst="rect">
            <a:avLst/>
          </a:prstGeom>
          <a:noFill/>
        </p:spPr>
        <p:txBody>
          <a:bodyPr wrap="square" lIns="45720" rIns="45720" tIns="18288" bIns="18288" anchor="t">
            <a:spAutoFit/>
          </a:bodyPr>
          <a:lstStyle/>
          <a:p>
            <a:pPr algn="l"/>
            <a:r>
              <a:rPr sz="1400" b="1" i="0">
                <a:solidFill>
                  <a:srgbClr val="FFFFFF"/>
                </a:solidFill>
                <a:latin typeface="Calibri"/>
              </a:rPr>
              <a:t>App Android en Java con inferencia en servidor</a:t>
            </a:r>
          </a:p>
        </p:txBody>
      </p:sp>
      <p:sp>
        <p:nvSpPr>
          <p:cNvPr id="18" name="Rectangle 17"/>
          <p:cNvSpPr/>
          <p:nvPr/>
        </p:nvSpPr>
        <p:spPr>
          <a:xfrm>
            <a:off x="4297680" y="2240280"/>
            <a:ext cx="3611880" cy="301752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2377440"/>
            <a:ext cx="3291840" cy="2011680"/>
          </a:xfrm>
          <a:prstGeom prst="rect">
            <a:avLst/>
          </a:prstGeom>
          <a:noFill/>
        </p:spPr>
        <p:txBody>
          <a:bodyPr wrap="square" lIns="45720" rIns="45720">
            <a:spAutoFit/>
          </a:bodyPr>
          <a:lstStyle/>
          <a:p>
            <a:pPr marL="182880" indent="-182880">
              <a:spcAft>
                <a:spcPts val="400"/>
              </a:spcAft>
              <a:buChar char="•"/>
            </a:pPr>
            <a:r>
              <a:rPr sz="1350" b="0">
                <a:solidFill>
                  <a:srgbClr val="262626"/>
                </a:solidFill>
                <a:latin typeface="Calibri"/>
              </a:rPr>
              <a:t>7 pantallas</a:t>
            </a:r>
          </a:p>
          <a:p>
            <a:pPr marL="182880" indent="-182880">
              <a:spcAft>
                <a:spcPts val="400"/>
              </a:spcAft>
              <a:buChar char="•"/>
            </a:pPr>
            <a:r>
              <a:rPr sz="1350" b="0">
                <a:solidFill>
                  <a:srgbClr val="262626"/>
                </a:solidFill>
                <a:latin typeface="Calibri"/>
              </a:rPr>
              <a:t>Java ≈ 85 %</a:t>
            </a:r>
          </a:p>
          <a:p>
            <a:pPr marL="182880" indent="-182880">
              <a:spcAft>
                <a:spcPts val="400"/>
              </a:spcAft>
              <a:buChar char="•"/>
            </a:pPr>
            <a:r>
              <a:rPr sz="1350" b="0">
                <a:solidFill>
                  <a:srgbClr val="262626"/>
                </a:solidFill>
                <a:latin typeface="Calibri"/>
              </a:rPr>
              <a:t>Sin señal solo encola facturas</a:t>
            </a:r>
          </a:p>
          <a:p>
            <a:pPr marL="182880" indent="-182880">
              <a:spcAft>
                <a:spcPts val="400"/>
              </a:spcAft>
              <a:buChar char="•"/>
            </a:pPr>
            <a:r>
              <a:rPr sz="1350" b="0">
                <a:solidFill>
                  <a:srgbClr val="262626"/>
                </a:solidFill>
                <a:latin typeface="Calibri"/>
              </a:rPr>
              <a:t>Costo mensual de GPU</a:t>
            </a:r>
          </a:p>
          <a:p>
            <a:pPr marL="182880" indent="-182880">
              <a:spcAft>
                <a:spcPts val="400"/>
              </a:spcAft>
              <a:buChar char="•"/>
            </a:pPr>
            <a:r>
              <a:rPr sz="1350" b="0">
                <a:solidFill>
                  <a:srgbClr val="262626"/>
                </a:solidFill>
                <a:latin typeface="Calibri"/>
              </a:rPr>
              <a:t>RF parcial · RNF 16/19</a:t>
            </a:r>
          </a:p>
        </p:txBody>
      </p:sp>
      <p:sp>
        <p:nvSpPr>
          <p:cNvPr id="20" name="TextBox 19"/>
          <p:cNvSpPr txBox="1"/>
          <p:nvPr/>
        </p:nvSpPr>
        <p:spPr>
          <a:xfrm>
            <a:off x="4480560" y="4434840"/>
            <a:ext cx="3291840" cy="731520"/>
          </a:xfrm>
          <a:prstGeom prst="rect">
            <a:avLst/>
          </a:prstGeom>
          <a:noFill/>
        </p:spPr>
        <p:txBody>
          <a:bodyPr wrap="square" lIns="45720" rIns="45720" tIns="18288" bIns="18288" anchor="t">
            <a:spAutoFit/>
          </a:bodyPr>
          <a:lstStyle/>
          <a:p>
            <a:pPr algn="l"/>
            <a:r>
              <a:rPr sz="2000" b="0" i="0">
                <a:solidFill>
                  <a:srgbClr val="C55A11"/>
                </a:solidFill>
                <a:latin typeface="Calibri"/>
              </a:rPr>
              <a:t>Puntaje ponderado  </a:t>
            </a:r>
            <a:r>
              <a:rPr sz="2000" b="1" i="0">
                <a:solidFill>
                  <a:srgbClr val="C55A11"/>
                </a:solidFill>
                <a:latin typeface="Calibri"/>
              </a:rPr>
              <a:t>3,60</a:t>
            </a:r>
          </a:p>
        </p:txBody>
      </p:sp>
      <p:sp>
        <p:nvSpPr>
          <p:cNvPr id="21" name="Rectangle 20"/>
          <p:cNvSpPr/>
          <p:nvPr/>
        </p:nvSpPr>
        <p:spPr>
          <a:xfrm>
            <a:off x="8092440" y="1371600"/>
            <a:ext cx="3611880" cy="86868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1417320"/>
            <a:ext cx="3383280" cy="274320"/>
          </a:xfrm>
          <a:prstGeom prst="rect">
            <a:avLst/>
          </a:prstGeom>
          <a:noFill/>
        </p:spPr>
        <p:txBody>
          <a:bodyPr wrap="square" lIns="45720" rIns="45720" tIns="18288" bIns="18288" anchor="t">
            <a:spAutoFit/>
          </a:bodyPr>
          <a:lstStyle/>
          <a:p>
            <a:pPr algn="l"/>
            <a:r>
              <a:rPr sz="1100" b="1" i="0">
                <a:solidFill>
                  <a:srgbClr val="FFFFFF"/>
                </a:solidFill>
                <a:latin typeface="Calibri"/>
              </a:rPr>
              <a:t>ALTERNATIVA 3</a:t>
            </a:r>
          </a:p>
        </p:txBody>
      </p:sp>
      <p:sp>
        <p:nvSpPr>
          <p:cNvPr id="23" name="TextBox 22"/>
          <p:cNvSpPr txBox="1"/>
          <p:nvPr/>
        </p:nvSpPr>
        <p:spPr>
          <a:xfrm>
            <a:off x="8229600" y="1691640"/>
            <a:ext cx="3383280" cy="548640"/>
          </a:xfrm>
          <a:prstGeom prst="rect">
            <a:avLst/>
          </a:prstGeom>
          <a:noFill/>
        </p:spPr>
        <p:txBody>
          <a:bodyPr wrap="square" lIns="45720" rIns="45720" tIns="18288" bIns="18288" anchor="t">
            <a:spAutoFit/>
          </a:bodyPr>
          <a:lstStyle/>
          <a:p>
            <a:pPr algn="l"/>
            <a:r>
              <a:rPr sz="1400" b="1" i="0">
                <a:solidFill>
                  <a:srgbClr val="FFFFFF"/>
                </a:solidFill>
                <a:latin typeface="Calibri"/>
              </a:rPr>
              <a:t>Aplicación web en Java con servicio de terceros</a:t>
            </a:r>
          </a:p>
        </p:txBody>
      </p:sp>
      <p:sp>
        <p:nvSpPr>
          <p:cNvPr id="24" name="Rectangle 23"/>
          <p:cNvSpPr/>
          <p:nvPr/>
        </p:nvSpPr>
        <p:spPr>
          <a:xfrm>
            <a:off x="8092440" y="2240280"/>
            <a:ext cx="3611880" cy="301752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20" y="2377440"/>
            <a:ext cx="3291840" cy="2011680"/>
          </a:xfrm>
          <a:prstGeom prst="rect">
            <a:avLst/>
          </a:prstGeom>
          <a:noFill/>
        </p:spPr>
        <p:txBody>
          <a:bodyPr wrap="square" lIns="45720" rIns="45720">
            <a:spAutoFit/>
          </a:bodyPr>
          <a:lstStyle/>
          <a:p>
            <a:pPr marL="182880" indent="-182880">
              <a:spcAft>
                <a:spcPts val="400"/>
              </a:spcAft>
              <a:buChar char="•"/>
            </a:pPr>
            <a:r>
              <a:rPr sz="1350" b="0">
                <a:solidFill>
                  <a:srgbClr val="262626"/>
                </a:solidFill>
                <a:latin typeface="Calibri"/>
              </a:rPr>
              <a:t>6 pantallas</a:t>
            </a:r>
          </a:p>
          <a:p>
            <a:pPr marL="182880" indent="-182880">
              <a:spcAft>
                <a:spcPts val="400"/>
              </a:spcAft>
              <a:buChar char="•"/>
            </a:pPr>
            <a:r>
              <a:rPr sz="1350" b="0">
                <a:solidFill>
                  <a:srgbClr val="262626"/>
                </a:solidFill>
                <a:latin typeface="Calibri"/>
              </a:rPr>
              <a:t>Java ≈ 80 %</a:t>
            </a:r>
          </a:p>
          <a:p>
            <a:pPr marL="182880" indent="-182880">
              <a:spcAft>
                <a:spcPts val="400"/>
              </a:spcAft>
              <a:buChar char="•"/>
            </a:pPr>
            <a:r>
              <a:rPr sz="1350" b="0">
                <a:solidFill>
                  <a:srgbClr val="262626"/>
                </a:solidFill>
                <a:latin typeface="Calibri"/>
              </a:rPr>
              <a:t>Modelo cerrado, sin ajuste fino</a:t>
            </a:r>
          </a:p>
          <a:p>
            <a:pPr marL="182880" indent="-182880">
              <a:spcAft>
                <a:spcPts val="400"/>
              </a:spcAft>
              <a:buChar char="•"/>
            </a:pPr>
            <a:r>
              <a:rPr sz="1350" b="0">
                <a:solidFill>
                  <a:srgbClr val="262626"/>
                </a:solidFill>
                <a:latin typeface="Calibri"/>
              </a:rPr>
              <a:t>Cobra por documento</a:t>
            </a:r>
          </a:p>
          <a:p>
            <a:pPr marL="182880" indent="-182880">
              <a:spcAft>
                <a:spcPts val="400"/>
              </a:spcAft>
              <a:buChar char="•"/>
            </a:pPr>
            <a:r>
              <a:rPr sz="1350" b="0">
                <a:solidFill>
                  <a:srgbClr val="262626"/>
                </a:solidFill>
                <a:latin typeface="Calibri"/>
              </a:rPr>
              <a:t>RF parcial · RNF 13/19</a:t>
            </a:r>
          </a:p>
        </p:txBody>
      </p:sp>
      <p:sp>
        <p:nvSpPr>
          <p:cNvPr id="26" name="TextBox 25"/>
          <p:cNvSpPr txBox="1"/>
          <p:nvPr/>
        </p:nvSpPr>
        <p:spPr>
          <a:xfrm>
            <a:off x="8275320" y="4434840"/>
            <a:ext cx="3291840" cy="731520"/>
          </a:xfrm>
          <a:prstGeom prst="rect">
            <a:avLst/>
          </a:prstGeom>
          <a:noFill/>
        </p:spPr>
        <p:txBody>
          <a:bodyPr wrap="square" lIns="45720" rIns="45720" tIns="18288" bIns="18288" anchor="t">
            <a:spAutoFit/>
          </a:bodyPr>
          <a:lstStyle/>
          <a:p>
            <a:pPr algn="l"/>
            <a:r>
              <a:rPr sz="2000" b="0" i="0">
                <a:solidFill>
                  <a:srgbClr val="404040"/>
                </a:solidFill>
                <a:latin typeface="Calibri"/>
              </a:rPr>
              <a:t>Puntaje ponderado  </a:t>
            </a:r>
            <a:r>
              <a:rPr sz="2000" b="1" i="0">
                <a:solidFill>
                  <a:srgbClr val="404040"/>
                </a:solidFill>
                <a:latin typeface="Calibri"/>
              </a:rPr>
              <a:t>2,15</a:t>
            </a:r>
          </a:p>
        </p:txBody>
      </p:sp>
      <p:sp>
        <p:nvSpPr>
          <p:cNvPr id="27" name="Rectangle 26"/>
          <p:cNvSpPr/>
          <p:nvPr/>
        </p:nvSpPr>
        <p:spPr>
          <a:xfrm>
            <a:off x="502920" y="5440680"/>
            <a:ext cx="11201400" cy="86868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486400"/>
            <a:ext cx="10881360" cy="777240"/>
          </a:xfrm>
          <a:prstGeom prst="rect">
            <a:avLst/>
          </a:prstGeom>
          <a:noFill/>
        </p:spPr>
        <p:txBody>
          <a:bodyPr wrap="square" lIns="45720" rIns="45720" tIns="18288" bIns="18288" anchor="ctr">
            <a:spAutoFit/>
          </a:bodyPr>
          <a:lstStyle/>
          <a:p>
            <a:pPr algn="l"/>
            <a:r>
              <a:rPr sz="1300" b="0" i="0">
                <a:solidFill>
                  <a:srgbClr val="1E7B4F"/>
                </a:solidFill>
                <a:latin typeface="Calibri"/>
              </a:rPr>
              <a:t>Criterios de mayor peso: permitir el ajuste fino sobre facturas peruanas (25 %) y funcionar sin conexión (20 %). La única desventaja de la alternativa 1 —requiere un teléfono de gama media— se mitiga con el registro manual (P19).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ANÁLISIS DE LA SOLUCIÓN</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Actores, 12 casos de uso y requerimientos</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Damián Valdivia, Diego Aarón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5</a:t>
            </a:r>
          </a:p>
        </p:txBody>
      </p:sp>
      <p:pic>
        <p:nvPicPr>
          <p:cNvPr id="9" name="Picture 8" descr="casos_uso.png"/>
          <p:cNvPicPr>
            <a:picLocks noChangeAspect="1"/>
          </p:cNvPicPr>
          <p:nvPr/>
        </p:nvPicPr>
        <p:blipFill>
          <a:blip r:embed="rId4"/>
          <a:stretch>
            <a:fillRect/>
          </a:stretch>
        </p:blipFill>
        <p:spPr>
          <a:xfrm>
            <a:off x="411480" y="1722574"/>
            <a:ext cx="5486400" cy="4190090"/>
          </a:xfrm>
          <a:prstGeom prst="rect">
            <a:avLst/>
          </a:prstGeom>
        </p:spPr>
      </p:pic>
      <p:graphicFrame>
        <p:nvGraphicFramePr>
          <p:cNvPr id="10" name="Table 9"/>
          <p:cNvGraphicFramePr>
            <a:graphicFrameLocks noGrp="1"/>
          </p:cNvGraphicFramePr>
          <p:nvPr/>
        </p:nvGraphicFramePr>
        <p:xfrm>
          <a:off x="6172200" y="1325880"/>
          <a:ext cx="5532119" cy="2194560"/>
        </p:xfrm>
        <a:graphic>
          <a:graphicData uri="http://schemas.openxmlformats.org/drawingml/2006/table">
            <a:tbl>
              <a:tblPr firstRow="1" bandRow="1">
                <a:tableStyleId>{5C22544A-7EE6-4342-B048-85BDC9FD1C3A}</a:tableStyleId>
              </a:tblPr>
              <a:tblGrid>
                <a:gridCol w="1737360"/>
                <a:gridCol w="822960"/>
                <a:gridCol w="2971799"/>
              </a:tblGrid>
              <a:tr h="438912">
                <a:tc>
                  <a:txBody>
                    <a:bodyPr/>
                    <a:lstStyle/>
                    <a:p>
                      <a:pPr algn="ctr"/>
                      <a:r>
                        <a:rPr sz="1150" b="1">
                          <a:solidFill>
                            <a:srgbClr val="FFFFFF"/>
                          </a:solidFill>
                          <a:latin typeface="Calibri"/>
                        </a:rPr>
                        <a:t>Actor</a:t>
                      </a:r>
                    </a:p>
                  </a:txBody>
                  <a:tcPr marL="54864" marR="54864" marT="18288" marB="18288" anchor="ctr">
                    <a:solidFill>
                      <a:srgbClr val="1F4E79"/>
                    </a:solidFill>
                  </a:tcPr>
                </a:tc>
                <a:tc>
                  <a:txBody>
                    <a:bodyPr/>
                    <a:lstStyle/>
                    <a:p>
                      <a:pPr algn="ctr"/>
                      <a:r>
                        <a:rPr sz="1150" b="1">
                          <a:solidFill>
                            <a:srgbClr val="FFFFFF"/>
                          </a:solidFill>
                          <a:latin typeface="Calibri"/>
                        </a:rPr>
                        <a:t>Tipo</a:t>
                      </a:r>
                    </a:p>
                  </a:txBody>
                  <a:tcPr marL="54864" marR="54864" marT="18288" marB="18288" anchor="ctr">
                    <a:solidFill>
                      <a:srgbClr val="1F4E79"/>
                    </a:solidFill>
                  </a:tcPr>
                </a:tc>
                <a:tc>
                  <a:txBody>
                    <a:bodyPr/>
                    <a:lstStyle/>
                    <a:p>
                      <a:pPr algn="ctr"/>
                      <a:r>
                        <a:rPr sz="1150" b="1">
                          <a:solidFill>
                            <a:srgbClr val="FFFFFF"/>
                          </a:solidFill>
                          <a:latin typeface="Calibri"/>
                        </a:rPr>
                        <a:t>Rol</a:t>
                      </a:r>
                    </a:p>
                  </a:txBody>
                  <a:tcPr marL="54864" marR="54864" marT="18288" marB="18288" anchor="ctr">
                    <a:solidFill>
                      <a:srgbClr val="1F4E79"/>
                    </a:solidFill>
                  </a:tcPr>
                </a:tc>
              </a:tr>
              <a:tr h="438912">
                <a:tc>
                  <a:txBody>
                    <a:bodyPr/>
                    <a:lstStyle/>
                    <a:p>
                      <a:r>
                        <a:rPr sz="1150" b="1">
                          <a:solidFill>
                            <a:srgbClr val="262626"/>
                          </a:solidFill>
                          <a:latin typeface="Calibri"/>
                        </a:rPr>
                        <a:t>Bodeguero</a:t>
                      </a:r>
                    </a:p>
                  </a:txBody>
                  <a:tcPr marL="54864" marR="54864" marT="18288" marB="18288" anchor="ctr">
                    <a:solidFill>
                      <a:srgbClr val="FFFFFF"/>
                    </a:solidFill>
                  </a:tcPr>
                </a:tc>
                <a:tc>
                  <a:txBody>
                    <a:bodyPr/>
                    <a:lstStyle/>
                    <a:p>
                      <a:pPr algn="ctr"/>
                      <a:r>
                        <a:rPr sz="1150" b="0">
                          <a:solidFill>
                            <a:srgbClr val="262626"/>
                          </a:solidFill>
                          <a:latin typeface="Calibri"/>
                        </a:rPr>
                        <a:t>Persona</a:t>
                      </a:r>
                    </a:p>
                  </a:txBody>
                  <a:tcPr marL="54864" marR="54864" marT="18288" marB="18288" anchor="ctr">
                    <a:solidFill>
                      <a:srgbClr val="FFFFFF"/>
                    </a:solidFill>
                  </a:tcPr>
                </a:tc>
                <a:tc>
                  <a:txBody>
                    <a:bodyPr/>
                    <a:lstStyle/>
                    <a:p>
                      <a:pPr algn="ctr"/>
                      <a:r>
                        <a:rPr sz="1150" b="0">
                          <a:solidFill>
                            <a:srgbClr val="262626"/>
                          </a:solidFill>
                          <a:latin typeface="Calibri"/>
                        </a:rPr>
                        <a:t>Registra facturas y consulta el mes</a:t>
                      </a:r>
                    </a:p>
                  </a:txBody>
                  <a:tcPr marL="54864" marR="54864" marT="18288" marB="18288" anchor="ctr">
                    <a:solidFill>
                      <a:srgbClr val="FFFFFF"/>
                    </a:solidFill>
                  </a:tcPr>
                </a:tc>
              </a:tr>
              <a:tr h="438912">
                <a:tc>
                  <a:txBody>
                    <a:bodyPr/>
                    <a:lstStyle/>
                    <a:p>
                      <a:r>
                        <a:rPr sz="1150" b="1">
                          <a:solidFill>
                            <a:srgbClr val="262626"/>
                          </a:solidFill>
                          <a:latin typeface="Calibri"/>
                        </a:rPr>
                        <a:t>Contador externo</a:t>
                      </a:r>
                    </a:p>
                  </a:txBody>
                  <a:tcPr marL="54864" marR="54864" marT="18288" marB="18288" anchor="ctr">
                    <a:solidFill>
                      <a:srgbClr val="F6F8FA"/>
                    </a:solidFill>
                  </a:tcPr>
                </a:tc>
                <a:tc>
                  <a:txBody>
                    <a:bodyPr/>
                    <a:lstStyle/>
                    <a:p>
                      <a:pPr algn="ctr"/>
                      <a:r>
                        <a:rPr sz="1150" b="0">
                          <a:solidFill>
                            <a:srgbClr val="262626"/>
                          </a:solidFill>
                          <a:latin typeface="Calibri"/>
                        </a:rPr>
                        <a:t>Persona</a:t>
                      </a:r>
                    </a:p>
                  </a:txBody>
                  <a:tcPr marL="54864" marR="54864" marT="18288" marB="18288" anchor="ctr">
                    <a:solidFill>
                      <a:srgbClr val="F6F8FA"/>
                    </a:solidFill>
                  </a:tcPr>
                </a:tc>
                <a:tc>
                  <a:txBody>
                    <a:bodyPr/>
                    <a:lstStyle/>
                    <a:p>
                      <a:pPr algn="ctr"/>
                      <a:r>
                        <a:rPr sz="1150" b="0">
                          <a:solidFill>
                            <a:srgbClr val="262626"/>
                          </a:solidFill>
                          <a:latin typeface="Calibri"/>
                        </a:rPr>
                        <a:t>Recibe el reporte o los datos exportados</a:t>
                      </a:r>
                    </a:p>
                  </a:txBody>
                  <a:tcPr marL="54864" marR="54864" marT="18288" marB="18288" anchor="ctr">
                    <a:solidFill>
                      <a:srgbClr val="F6F8FA"/>
                    </a:solidFill>
                  </a:tcPr>
                </a:tc>
              </a:tr>
              <a:tr h="438912">
                <a:tc>
                  <a:txBody>
                    <a:bodyPr/>
                    <a:lstStyle/>
                    <a:p>
                      <a:r>
                        <a:rPr sz="1150" b="1">
                          <a:solidFill>
                            <a:srgbClr val="262626"/>
                          </a:solidFill>
                          <a:latin typeface="Calibri"/>
                        </a:rPr>
                        <a:t>Motor de extracción</a:t>
                      </a:r>
                    </a:p>
                  </a:txBody>
                  <a:tcPr marL="54864" marR="54864" marT="18288" marB="18288" anchor="ctr">
                    <a:solidFill>
                      <a:srgbClr val="FFFFFF"/>
                    </a:solidFill>
                  </a:tcPr>
                </a:tc>
                <a:tc>
                  <a:txBody>
                    <a:bodyPr/>
                    <a:lstStyle/>
                    <a:p>
                      <a:pPr algn="ctr"/>
                      <a:r>
                        <a:rPr sz="1150" b="0">
                          <a:solidFill>
                            <a:srgbClr val="262626"/>
                          </a:solidFill>
                          <a:latin typeface="Calibri"/>
                        </a:rPr>
                        <a:t>Sistema</a:t>
                      </a:r>
                    </a:p>
                  </a:txBody>
                  <a:tcPr marL="54864" marR="54864" marT="18288" marB="18288" anchor="ctr">
                    <a:solidFill>
                      <a:srgbClr val="FFFFFF"/>
                    </a:solidFill>
                  </a:tcPr>
                </a:tc>
                <a:tc>
                  <a:txBody>
                    <a:bodyPr/>
                    <a:lstStyle/>
                    <a:p>
                      <a:pPr algn="ctr"/>
                      <a:r>
                        <a:rPr sz="1150" b="0">
                          <a:solidFill>
                            <a:srgbClr val="262626"/>
                          </a:solidFill>
                          <a:latin typeface="Calibri"/>
                        </a:rPr>
                        <a:t>Gemma 4 E2B con LiteRT-LM</a:t>
                      </a:r>
                    </a:p>
                  </a:txBody>
                  <a:tcPr marL="54864" marR="54864" marT="18288" marB="18288" anchor="ctr">
                    <a:solidFill>
                      <a:srgbClr val="FFFFFF"/>
                    </a:solidFill>
                  </a:tcPr>
                </a:tc>
              </a:tr>
              <a:tr h="438912">
                <a:tc>
                  <a:txBody>
                    <a:bodyPr/>
                    <a:lstStyle/>
                    <a:p>
                      <a:r>
                        <a:rPr sz="1150" b="1">
                          <a:solidFill>
                            <a:srgbClr val="262626"/>
                          </a:solidFill>
                          <a:latin typeface="Calibri"/>
                        </a:rPr>
                        <a:t>Motor de reglas NRUS</a:t>
                      </a:r>
                    </a:p>
                  </a:txBody>
                  <a:tcPr marL="54864" marR="54864" marT="18288" marB="18288" anchor="ctr">
                    <a:solidFill>
                      <a:srgbClr val="F6F8FA"/>
                    </a:solidFill>
                  </a:tcPr>
                </a:tc>
                <a:tc>
                  <a:txBody>
                    <a:bodyPr/>
                    <a:lstStyle/>
                    <a:p>
                      <a:pPr algn="ctr"/>
                      <a:r>
                        <a:rPr sz="1150" b="0">
                          <a:solidFill>
                            <a:srgbClr val="262626"/>
                          </a:solidFill>
                          <a:latin typeface="Calibri"/>
                        </a:rPr>
                        <a:t>Sistema</a:t>
                      </a:r>
                    </a:p>
                  </a:txBody>
                  <a:tcPr marL="54864" marR="54864" marT="18288" marB="18288" anchor="ctr">
                    <a:solidFill>
                      <a:srgbClr val="F6F8FA"/>
                    </a:solidFill>
                  </a:tcPr>
                </a:tc>
                <a:tc>
                  <a:txBody>
                    <a:bodyPr/>
                    <a:lstStyle/>
                    <a:p>
                      <a:pPr algn="ctr"/>
                      <a:r>
                        <a:rPr sz="1150" b="0">
                          <a:solidFill>
                            <a:srgbClr val="262626"/>
                          </a:solidFill>
                          <a:latin typeface="Calibri"/>
                        </a:rPr>
                        <a:t>Categoría, cuota, topes y vencimiento</a:t>
                      </a:r>
                    </a:p>
                  </a:txBody>
                  <a:tcPr marL="54864" marR="54864" marT="18288" marB="18288" anchor="ctr">
                    <a:solidFill>
                      <a:srgbClr val="F6F8FA"/>
                    </a:solidFill>
                  </a:tcPr>
                </a:tc>
              </a:tr>
            </a:tbl>
          </a:graphicData>
        </a:graphic>
      </p:graphicFrame>
      <p:sp>
        <p:nvSpPr>
          <p:cNvPr id="11" name="Rectangle 10"/>
          <p:cNvSpPr/>
          <p:nvPr/>
        </p:nvSpPr>
        <p:spPr>
          <a:xfrm>
            <a:off x="6172200" y="3703320"/>
            <a:ext cx="1746504" cy="13258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3794760"/>
            <a:ext cx="1746504" cy="640080"/>
          </a:xfrm>
          <a:prstGeom prst="rect">
            <a:avLst/>
          </a:prstGeom>
          <a:noFill/>
        </p:spPr>
        <p:txBody>
          <a:bodyPr wrap="square" lIns="45720" rIns="45720" tIns="18288" bIns="18288" anchor="t">
            <a:spAutoFit/>
          </a:bodyPr>
          <a:lstStyle/>
          <a:p>
            <a:pPr algn="ctr"/>
            <a:r>
              <a:rPr sz="3000" b="1" i="0">
                <a:solidFill>
                  <a:srgbClr val="1F4E79"/>
                </a:solidFill>
                <a:latin typeface="Calibri"/>
              </a:rPr>
              <a:t>12</a:t>
            </a:r>
          </a:p>
        </p:txBody>
      </p:sp>
      <p:sp>
        <p:nvSpPr>
          <p:cNvPr id="13" name="TextBox 12"/>
          <p:cNvSpPr txBox="1"/>
          <p:nvPr/>
        </p:nvSpPr>
        <p:spPr>
          <a:xfrm>
            <a:off x="6172200" y="4416552"/>
            <a:ext cx="1746504" cy="457200"/>
          </a:xfrm>
          <a:prstGeom prst="rect">
            <a:avLst/>
          </a:prstGeom>
          <a:noFill/>
        </p:spPr>
        <p:txBody>
          <a:bodyPr wrap="square" lIns="45720" rIns="45720" tIns="18288" bIns="18288" anchor="t">
            <a:spAutoFit/>
          </a:bodyPr>
          <a:lstStyle/>
          <a:p>
            <a:pPr algn="ctr"/>
            <a:r>
              <a:rPr sz="1150" b="0" i="0">
                <a:solidFill>
                  <a:srgbClr val="404040"/>
                </a:solidFill>
                <a:latin typeface="Calibri"/>
              </a:rPr>
              <a:t>casos de uso</a:t>
            </a:r>
          </a:p>
        </p:txBody>
      </p:sp>
      <p:sp>
        <p:nvSpPr>
          <p:cNvPr id="14" name="Rectangle 13"/>
          <p:cNvSpPr/>
          <p:nvPr/>
        </p:nvSpPr>
        <p:spPr>
          <a:xfrm>
            <a:off x="8065008" y="3703320"/>
            <a:ext cx="1746504" cy="13258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3794760"/>
            <a:ext cx="1746504" cy="640080"/>
          </a:xfrm>
          <a:prstGeom prst="rect">
            <a:avLst/>
          </a:prstGeom>
          <a:noFill/>
        </p:spPr>
        <p:txBody>
          <a:bodyPr wrap="square" lIns="45720" rIns="45720" tIns="18288" bIns="18288" anchor="t">
            <a:spAutoFit/>
          </a:bodyPr>
          <a:lstStyle/>
          <a:p>
            <a:pPr algn="ctr"/>
            <a:r>
              <a:rPr sz="3000" b="1" i="0">
                <a:solidFill>
                  <a:srgbClr val="1F4E79"/>
                </a:solidFill>
                <a:latin typeface="Calibri"/>
              </a:rPr>
              <a:t>22</a:t>
            </a:r>
          </a:p>
        </p:txBody>
      </p:sp>
      <p:sp>
        <p:nvSpPr>
          <p:cNvPr id="16" name="TextBox 15"/>
          <p:cNvSpPr txBox="1"/>
          <p:nvPr/>
        </p:nvSpPr>
        <p:spPr>
          <a:xfrm>
            <a:off x="8065008" y="4416552"/>
            <a:ext cx="1746504" cy="457200"/>
          </a:xfrm>
          <a:prstGeom prst="rect">
            <a:avLst/>
          </a:prstGeom>
          <a:noFill/>
        </p:spPr>
        <p:txBody>
          <a:bodyPr wrap="square" lIns="45720" rIns="45720" tIns="18288" bIns="18288" anchor="t">
            <a:spAutoFit/>
          </a:bodyPr>
          <a:lstStyle/>
          <a:p>
            <a:pPr algn="ctr"/>
            <a:r>
              <a:rPr sz="1150" b="0" i="0">
                <a:solidFill>
                  <a:srgbClr val="404040"/>
                </a:solidFill>
                <a:latin typeface="Calibri"/>
              </a:rPr>
              <a:t>RF: 13 alta, 8 media, 1 baja</a:t>
            </a:r>
          </a:p>
        </p:txBody>
      </p:sp>
      <p:sp>
        <p:nvSpPr>
          <p:cNvPr id="17" name="Rectangle 16"/>
          <p:cNvSpPr/>
          <p:nvPr/>
        </p:nvSpPr>
        <p:spPr>
          <a:xfrm>
            <a:off x="9957816" y="3703320"/>
            <a:ext cx="1746504" cy="13258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57816" y="3794760"/>
            <a:ext cx="1746504" cy="640080"/>
          </a:xfrm>
          <a:prstGeom prst="rect">
            <a:avLst/>
          </a:prstGeom>
          <a:noFill/>
        </p:spPr>
        <p:txBody>
          <a:bodyPr wrap="square" lIns="45720" rIns="45720" tIns="18288" bIns="18288" anchor="t">
            <a:spAutoFit/>
          </a:bodyPr>
          <a:lstStyle/>
          <a:p>
            <a:pPr algn="ctr"/>
            <a:r>
              <a:rPr sz="3000" b="1" i="0">
                <a:solidFill>
                  <a:srgbClr val="1E7B4F"/>
                </a:solidFill>
                <a:latin typeface="Calibri"/>
              </a:rPr>
              <a:t>19</a:t>
            </a:r>
          </a:p>
        </p:txBody>
      </p:sp>
      <p:sp>
        <p:nvSpPr>
          <p:cNvPr id="19" name="TextBox 18"/>
          <p:cNvSpPr txBox="1"/>
          <p:nvPr/>
        </p:nvSpPr>
        <p:spPr>
          <a:xfrm>
            <a:off x="9957816" y="4416552"/>
            <a:ext cx="1746504" cy="457200"/>
          </a:xfrm>
          <a:prstGeom prst="rect">
            <a:avLst/>
          </a:prstGeom>
          <a:noFill/>
        </p:spPr>
        <p:txBody>
          <a:bodyPr wrap="square" lIns="45720" rIns="45720" tIns="18288" bIns="18288" anchor="t">
            <a:spAutoFit/>
          </a:bodyPr>
          <a:lstStyle/>
          <a:p>
            <a:pPr algn="ctr"/>
            <a:r>
              <a:rPr sz="1150" b="0" i="0">
                <a:solidFill>
                  <a:srgbClr val="404040"/>
                </a:solidFill>
                <a:latin typeface="Calibri"/>
              </a:rPr>
              <a:t>RNF con métrica ISO 25010</a:t>
            </a:r>
          </a:p>
        </p:txBody>
      </p:sp>
      <p:sp>
        <p:nvSpPr>
          <p:cNvPr id="20" name="Rectangle 19"/>
          <p:cNvSpPr/>
          <p:nvPr/>
        </p:nvSpPr>
        <p:spPr>
          <a:xfrm>
            <a:off x="6172200" y="5212080"/>
            <a:ext cx="5532120" cy="109728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5257800"/>
            <a:ext cx="5166360" cy="1005840"/>
          </a:xfrm>
          <a:prstGeom prst="rect">
            <a:avLst/>
          </a:prstGeom>
          <a:noFill/>
        </p:spPr>
        <p:txBody>
          <a:bodyPr wrap="square" lIns="45720" rIns="45720" tIns="18288" bIns="18288" anchor="ctr">
            <a:spAutoFit/>
          </a:bodyPr>
          <a:lstStyle/>
          <a:p>
            <a:pPr algn="l"/>
            <a:r>
              <a:rPr sz="1250" b="0" i="0">
                <a:solidFill>
                  <a:srgbClr val="1E7B4F"/>
                </a:solidFill>
                <a:latin typeface="Calibri"/>
              </a:rPr>
              <a:t>Respecto del primer avance se retiró el actor Administrador: sin servidor ni consola no hay nada que administrar fuera del teléfono.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 PROCESOS · BPMN</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Proceso actual (AS-IS): tres puntos de error</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Coronel Obregón, Paulo</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6</a:t>
            </a:r>
          </a:p>
        </p:txBody>
      </p:sp>
      <p:pic>
        <p:nvPicPr>
          <p:cNvPr id="9" name="Picture 8" descr="bpmn_01_asis.png"/>
          <p:cNvPicPr>
            <a:picLocks noChangeAspect="1"/>
          </p:cNvPicPr>
          <p:nvPr/>
        </p:nvPicPr>
        <p:blipFill>
          <a:blip r:embed="rId4"/>
          <a:stretch>
            <a:fillRect/>
          </a:stretch>
        </p:blipFill>
        <p:spPr>
          <a:xfrm>
            <a:off x="411480" y="1280160"/>
            <a:ext cx="8229600" cy="3273136"/>
          </a:xfrm>
          <a:prstGeom prst="rect">
            <a:avLst/>
          </a:prstGeom>
        </p:spPr>
      </p:pic>
      <p:sp>
        <p:nvSpPr>
          <p:cNvPr id="10" name="Rectangle 9"/>
          <p:cNvSpPr/>
          <p:nvPr/>
        </p:nvSpPr>
        <p:spPr>
          <a:xfrm>
            <a:off x="8869680" y="1325880"/>
            <a:ext cx="2834640" cy="233172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869680" y="1325880"/>
            <a:ext cx="2834640" cy="640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6840" y="1463039"/>
            <a:ext cx="2560320" cy="320040"/>
          </a:xfrm>
          <a:prstGeom prst="rect">
            <a:avLst/>
          </a:prstGeom>
          <a:noFill/>
        </p:spPr>
        <p:txBody>
          <a:bodyPr wrap="square" lIns="45720" rIns="45720" tIns="18288" bIns="18288" anchor="t">
            <a:spAutoFit/>
          </a:bodyPr>
          <a:lstStyle/>
          <a:p>
            <a:pPr algn="l"/>
            <a:r>
              <a:rPr sz="1300" b="1" i="0">
                <a:solidFill>
                  <a:srgbClr val="1F4E79"/>
                </a:solidFill>
                <a:latin typeface="Calibri"/>
              </a:rPr>
              <a:t>Notación usada</a:t>
            </a:r>
          </a:p>
        </p:txBody>
      </p:sp>
      <p:sp>
        <p:nvSpPr>
          <p:cNvPr id="13" name="TextBox 12"/>
          <p:cNvSpPr txBox="1"/>
          <p:nvPr/>
        </p:nvSpPr>
        <p:spPr>
          <a:xfrm>
            <a:off x="9006840" y="1783080"/>
            <a:ext cx="2560320" cy="1783079"/>
          </a:xfrm>
          <a:prstGeom prst="rect">
            <a:avLst/>
          </a:prstGeom>
          <a:noFill/>
        </p:spPr>
        <p:txBody>
          <a:bodyPr wrap="square" lIns="45720" rIns="45720">
            <a:spAutoFit/>
          </a:bodyPr>
          <a:lstStyle/>
          <a:p>
            <a:pPr marL="182880" indent="-182880">
              <a:spcAft>
                <a:spcPts val="400"/>
              </a:spcAft>
              <a:buChar char="•"/>
            </a:pPr>
            <a:r>
              <a:rPr sz="1150" b="0">
                <a:solidFill>
                  <a:srgbClr val="262626"/>
                </a:solidFill>
                <a:latin typeface="Calibri"/>
              </a:rPr>
              <a:t>Pools: distribuidor, bodega, SUNAT</a:t>
            </a:r>
          </a:p>
          <a:p>
            <a:pPr marL="182880" indent="-182880">
              <a:spcAft>
                <a:spcPts val="400"/>
              </a:spcAft>
              <a:buChar char="•"/>
            </a:pPr>
            <a:r>
              <a:rPr sz="1150" b="0">
                <a:solidFill>
                  <a:srgbClr val="262626"/>
                </a:solidFill>
                <a:latin typeface="Calibri"/>
              </a:rPr>
              <a:t>Evento de temporizador: fin de mes</a:t>
            </a:r>
          </a:p>
          <a:p>
            <a:pPr marL="182880" indent="-182880">
              <a:spcAft>
                <a:spcPts val="400"/>
              </a:spcAft>
              <a:buChar char="•"/>
            </a:pPr>
            <a:r>
              <a:rPr sz="1150" b="0">
                <a:solidFill>
                  <a:srgbClr val="262626"/>
                </a:solidFill>
                <a:latin typeface="Calibri"/>
              </a:rPr>
              <a:t>Compuertas exclusivas (XOR)</a:t>
            </a:r>
          </a:p>
          <a:p>
            <a:pPr marL="182880" indent="-182880">
              <a:spcAft>
                <a:spcPts val="400"/>
              </a:spcAft>
              <a:buChar char="•"/>
            </a:pPr>
            <a:r>
              <a:rPr sz="1150" b="0">
                <a:solidFill>
                  <a:srgbClr val="262626"/>
                </a:solidFill>
                <a:latin typeface="Calibri"/>
              </a:rPr>
              <a:t>Flujo de mensaje entre pools</a:t>
            </a:r>
          </a:p>
          <a:p>
            <a:pPr marL="182880" indent="-182880">
              <a:spcAft>
                <a:spcPts val="400"/>
              </a:spcAft>
              <a:buChar char="•"/>
            </a:pPr>
            <a:r>
              <a:rPr sz="1150" b="0">
                <a:solidFill>
                  <a:srgbClr val="262626"/>
                </a:solidFill>
                <a:latin typeface="Calibri"/>
              </a:rPr>
              <a:t>Almacén de datos: la caja</a:t>
            </a:r>
          </a:p>
        </p:txBody>
      </p:sp>
      <p:sp>
        <p:nvSpPr>
          <p:cNvPr id="14" name="Rectangle 13"/>
          <p:cNvSpPr/>
          <p:nvPr/>
        </p:nvSpPr>
        <p:spPr>
          <a:xfrm>
            <a:off x="8869680" y="3794760"/>
            <a:ext cx="2834640" cy="2514600"/>
          </a:xfrm>
          <a:prstGeom prst="rect">
            <a:avLst/>
          </a:prstGeom>
          <a:solidFill>
            <a:srgbClr val="FBE9E9"/>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69680" y="3794760"/>
            <a:ext cx="2834640" cy="640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06840" y="3931920"/>
            <a:ext cx="2560320" cy="320040"/>
          </a:xfrm>
          <a:prstGeom prst="rect">
            <a:avLst/>
          </a:prstGeom>
          <a:noFill/>
        </p:spPr>
        <p:txBody>
          <a:bodyPr wrap="square" lIns="45720" rIns="45720" tIns="18288" bIns="18288" anchor="t">
            <a:spAutoFit/>
          </a:bodyPr>
          <a:lstStyle/>
          <a:p>
            <a:pPr algn="l"/>
            <a:r>
              <a:rPr sz="1300" b="1" i="0">
                <a:solidFill>
                  <a:srgbClr val="C00000"/>
                </a:solidFill>
                <a:latin typeface="Calibri"/>
              </a:rPr>
              <a:t>Puntos de error</a:t>
            </a:r>
          </a:p>
        </p:txBody>
      </p:sp>
      <p:sp>
        <p:nvSpPr>
          <p:cNvPr id="17" name="TextBox 16"/>
          <p:cNvSpPr txBox="1"/>
          <p:nvPr/>
        </p:nvSpPr>
        <p:spPr>
          <a:xfrm>
            <a:off x="9006840" y="4251960"/>
            <a:ext cx="2560320" cy="1965960"/>
          </a:xfrm>
          <a:prstGeom prst="rect">
            <a:avLst/>
          </a:prstGeom>
          <a:noFill/>
        </p:spPr>
        <p:txBody>
          <a:bodyPr wrap="square" lIns="45720" rIns="45720">
            <a:spAutoFit/>
          </a:bodyPr>
          <a:lstStyle/>
          <a:p>
            <a:pPr marL="182880" indent="-182880">
              <a:spcAft>
                <a:spcPts val="400"/>
              </a:spcAft>
              <a:buChar char="•"/>
            </a:pPr>
            <a:r>
              <a:rPr sz="1200" b="0">
                <a:solidFill>
                  <a:srgbClr val="262626"/>
                </a:solidFill>
                <a:latin typeface="Calibri"/>
              </a:rPr>
              <a:t>Guardar sin registrar: se pierden 5 de 14</a:t>
            </a:r>
          </a:p>
          <a:p>
            <a:pPr marL="182880" indent="-182880">
              <a:spcAft>
                <a:spcPts val="400"/>
              </a:spcAft>
              <a:buChar char="•"/>
            </a:pPr>
            <a:r>
              <a:rPr sz="1200" b="0">
                <a:solidFill>
                  <a:srgbClr val="262626"/>
                </a:solidFill>
                <a:latin typeface="Calibri"/>
              </a:rPr>
              <a:t>Sumar a mano: 3 h y errores</a:t>
            </a:r>
          </a:p>
          <a:p>
            <a:pPr marL="182880" indent="-182880">
              <a:spcAft>
                <a:spcPts val="400"/>
              </a:spcAft>
              <a:buChar char="•"/>
            </a:pPr>
            <a:r>
              <a:rPr sz="1200" b="0">
                <a:solidFill>
                  <a:srgbClr val="262626"/>
                </a:solidFill>
                <a:latin typeface="Calibri"/>
              </a:rPr>
              <a:t>Estimar ante la duda: paga S/ 50 en vez de S/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 PROCESOS · BPMN</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Proceso propuesto (TO-BE): registrar al recibir</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Coronel Obregón, Paulo</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7</a:t>
            </a:r>
          </a:p>
        </p:txBody>
      </p:sp>
      <p:pic>
        <p:nvPicPr>
          <p:cNvPr id="9" name="Picture 8" descr="bpmn_02_tobe.png"/>
          <p:cNvPicPr>
            <a:picLocks noChangeAspect="1"/>
          </p:cNvPicPr>
          <p:nvPr/>
        </p:nvPicPr>
        <p:blipFill>
          <a:blip r:embed="rId4"/>
          <a:stretch>
            <a:fillRect/>
          </a:stretch>
        </p:blipFill>
        <p:spPr>
          <a:xfrm>
            <a:off x="411480" y="1280160"/>
            <a:ext cx="8229600" cy="4021281"/>
          </a:xfrm>
          <a:prstGeom prst="rect">
            <a:avLst/>
          </a:prstGeom>
        </p:spPr>
      </p:pic>
      <p:graphicFrame>
        <p:nvGraphicFramePr>
          <p:cNvPr id="10" name="Table 9"/>
          <p:cNvGraphicFramePr>
            <a:graphicFrameLocks noGrp="1"/>
          </p:cNvGraphicFramePr>
          <p:nvPr/>
        </p:nvGraphicFramePr>
        <p:xfrm>
          <a:off x="8823960" y="1371600"/>
          <a:ext cx="2926080" cy="3401568"/>
        </p:xfrm>
        <a:graphic>
          <a:graphicData uri="http://schemas.openxmlformats.org/drawingml/2006/table">
            <a:tbl>
              <a:tblPr firstRow="1" bandRow="1">
                <a:tableStyleId>{5C22544A-7EE6-4342-B048-85BDC9FD1C3A}</a:tableStyleId>
              </a:tblPr>
              <a:tblGrid>
                <a:gridCol w="914400"/>
                <a:gridCol w="960120"/>
                <a:gridCol w="1051560"/>
              </a:tblGrid>
              <a:tr h="566928">
                <a:tc>
                  <a:txBody>
                    <a:bodyPr/>
                    <a:lstStyle/>
                    <a:p>
                      <a:pPr algn="ctr"/>
                      <a:r>
                        <a:rPr sz="1050" b="1">
                          <a:solidFill>
                            <a:srgbClr val="FFFFFF"/>
                          </a:solidFill>
                          <a:latin typeface="Calibri"/>
                        </a:rPr>
                        <a:t>Aspecto</a:t>
                      </a:r>
                    </a:p>
                  </a:txBody>
                  <a:tcPr marL="54864" marR="54864" marT="18288" marB="18288" anchor="ctr">
                    <a:solidFill>
                      <a:srgbClr val="1F4E79"/>
                    </a:solidFill>
                  </a:tcPr>
                </a:tc>
                <a:tc>
                  <a:txBody>
                    <a:bodyPr/>
                    <a:lstStyle/>
                    <a:p>
                      <a:pPr algn="ctr"/>
                      <a:r>
                        <a:rPr sz="1050" b="1">
                          <a:solidFill>
                            <a:srgbClr val="FFFFFF"/>
                          </a:solidFill>
                          <a:latin typeface="Calibri"/>
                        </a:rPr>
                        <a:t>AS-IS</a:t>
                      </a:r>
                    </a:p>
                  </a:txBody>
                  <a:tcPr marL="54864" marR="54864" marT="18288" marB="18288" anchor="ctr">
                    <a:solidFill>
                      <a:srgbClr val="1F4E79"/>
                    </a:solidFill>
                  </a:tcPr>
                </a:tc>
                <a:tc>
                  <a:txBody>
                    <a:bodyPr/>
                    <a:lstStyle/>
                    <a:p>
                      <a:pPr algn="ctr"/>
                      <a:r>
                        <a:rPr sz="1050" b="1">
                          <a:solidFill>
                            <a:srgbClr val="FFFFFF"/>
                          </a:solidFill>
                          <a:latin typeface="Calibri"/>
                        </a:rPr>
                        <a:t>TO-BE</a:t>
                      </a:r>
                    </a:p>
                  </a:txBody>
                  <a:tcPr marL="54864" marR="54864" marT="18288" marB="18288" anchor="ctr">
                    <a:solidFill>
                      <a:srgbClr val="1F4E79"/>
                    </a:solidFill>
                  </a:tcPr>
                </a:tc>
              </a:tr>
              <a:tr h="566928">
                <a:tc>
                  <a:txBody>
                    <a:bodyPr/>
                    <a:lstStyle/>
                    <a:p>
                      <a:r>
                        <a:rPr sz="1050" b="1">
                          <a:solidFill>
                            <a:srgbClr val="262626"/>
                          </a:solidFill>
                          <a:latin typeface="Calibri"/>
                        </a:rPr>
                        <a:t>Registro</a:t>
                      </a:r>
                    </a:p>
                  </a:txBody>
                  <a:tcPr marL="54864" marR="54864" marT="18288" marB="18288" anchor="ctr">
                    <a:solidFill>
                      <a:srgbClr val="FFFFFF"/>
                    </a:solidFill>
                  </a:tcPr>
                </a:tc>
                <a:tc>
                  <a:txBody>
                    <a:bodyPr/>
                    <a:lstStyle/>
                    <a:p>
                      <a:pPr algn="ctr"/>
                      <a:r>
                        <a:rPr sz="1050" b="0">
                          <a:solidFill>
                            <a:srgbClr val="262626"/>
                          </a:solidFill>
                          <a:latin typeface="Calibri"/>
                        </a:rPr>
                        <a:t>Fin de mes</a:t>
                      </a:r>
                    </a:p>
                  </a:txBody>
                  <a:tcPr marL="54864" marR="54864" marT="18288" marB="18288" anchor="ctr">
                    <a:solidFill>
                      <a:srgbClr val="FFFFFF"/>
                    </a:solidFill>
                  </a:tcPr>
                </a:tc>
                <a:tc>
                  <a:txBody>
                    <a:bodyPr/>
                    <a:lstStyle/>
                    <a:p>
                      <a:pPr algn="ctr"/>
                      <a:r>
                        <a:rPr sz="1050" b="0">
                          <a:solidFill>
                            <a:srgbClr val="262626"/>
                          </a:solidFill>
                          <a:latin typeface="Calibri"/>
                        </a:rPr>
                        <a:t>Al recibir</a:t>
                      </a:r>
                    </a:p>
                  </a:txBody>
                  <a:tcPr marL="54864" marR="54864" marT="18288" marB="18288" anchor="ctr">
                    <a:solidFill>
                      <a:srgbClr val="FFFFFF"/>
                    </a:solidFill>
                  </a:tcPr>
                </a:tc>
              </a:tr>
              <a:tr h="566928">
                <a:tc>
                  <a:txBody>
                    <a:bodyPr/>
                    <a:lstStyle/>
                    <a:p>
                      <a:r>
                        <a:rPr sz="1050" b="1">
                          <a:solidFill>
                            <a:srgbClr val="262626"/>
                          </a:solidFill>
                          <a:latin typeface="Calibri"/>
                        </a:rPr>
                        <a:t>Tiempo</a:t>
                      </a:r>
                    </a:p>
                  </a:txBody>
                  <a:tcPr marL="54864" marR="54864" marT="18288" marB="18288" anchor="ctr">
                    <a:solidFill>
                      <a:srgbClr val="F6F8FA"/>
                    </a:solidFill>
                  </a:tcPr>
                </a:tc>
                <a:tc>
                  <a:txBody>
                    <a:bodyPr/>
                    <a:lstStyle/>
                    <a:p>
                      <a:pPr algn="ctr"/>
                      <a:r>
                        <a:rPr sz="1050" b="0">
                          <a:solidFill>
                            <a:srgbClr val="262626"/>
                          </a:solidFill>
                          <a:latin typeface="Calibri"/>
                        </a:rPr>
                        <a:t>≈ 3 h</a:t>
                      </a:r>
                    </a:p>
                  </a:txBody>
                  <a:tcPr marL="54864" marR="54864" marT="18288" marB="18288" anchor="ctr">
                    <a:solidFill>
                      <a:srgbClr val="F6F8FA"/>
                    </a:solidFill>
                  </a:tcPr>
                </a:tc>
                <a:tc>
                  <a:txBody>
                    <a:bodyPr/>
                    <a:lstStyle/>
                    <a:p>
                      <a:pPr algn="ctr"/>
                      <a:r>
                        <a:rPr sz="1050" b="0">
                          <a:solidFill>
                            <a:srgbClr val="262626"/>
                          </a:solidFill>
                          <a:latin typeface="Calibri"/>
                        </a:rPr>
                        <a:t>≈ 10 s por factura</a:t>
                      </a:r>
                    </a:p>
                  </a:txBody>
                  <a:tcPr marL="54864" marR="54864" marT="18288" marB="18288" anchor="ctr">
                    <a:solidFill>
                      <a:srgbClr val="F6F8FA"/>
                    </a:solidFill>
                  </a:tcPr>
                </a:tc>
              </a:tr>
              <a:tr h="566928">
                <a:tc>
                  <a:txBody>
                    <a:bodyPr/>
                    <a:lstStyle/>
                    <a:p>
                      <a:r>
                        <a:rPr sz="1050" b="1">
                          <a:solidFill>
                            <a:srgbClr val="262626"/>
                          </a:solidFill>
                          <a:latin typeface="Calibri"/>
                        </a:rPr>
                        <a:t>Categoría</a:t>
                      </a:r>
                    </a:p>
                  </a:txBody>
                  <a:tcPr marL="54864" marR="54864" marT="18288" marB="18288" anchor="ctr">
                    <a:solidFill>
                      <a:srgbClr val="FFFFFF"/>
                    </a:solidFill>
                  </a:tcPr>
                </a:tc>
                <a:tc>
                  <a:txBody>
                    <a:bodyPr/>
                    <a:lstStyle/>
                    <a:p>
                      <a:pPr algn="ctr"/>
                      <a:r>
                        <a:rPr sz="1050" b="0">
                          <a:solidFill>
                            <a:srgbClr val="262626"/>
                          </a:solidFill>
                          <a:latin typeface="Calibri"/>
                        </a:rPr>
                        <a:t>Juicio ante la duda</a:t>
                      </a:r>
                    </a:p>
                  </a:txBody>
                  <a:tcPr marL="54864" marR="54864" marT="18288" marB="18288" anchor="ctr">
                    <a:solidFill>
                      <a:srgbClr val="FFFFFF"/>
                    </a:solidFill>
                  </a:tcPr>
                </a:tc>
                <a:tc>
                  <a:txBody>
                    <a:bodyPr/>
                    <a:lstStyle/>
                    <a:p>
                      <a:pPr algn="ctr"/>
                      <a:r>
                        <a:rPr sz="1050" b="0">
                          <a:solidFill>
                            <a:srgbClr val="262626"/>
                          </a:solidFill>
                          <a:latin typeface="Calibri"/>
                        </a:rPr>
                        <a:t>Motor de reglas</a:t>
                      </a:r>
                    </a:p>
                  </a:txBody>
                  <a:tcPr marL="54864" marR="54864" marT="18288" marB="18288" anchor="ctr">
                    <a:solidFill>
                      <a:srgbClr val="FFFFFF"/>
                    </a:solidFill>
                  </a:tcPr>
                </a:tc>
              </a:tr>
              <a:tr h="566928">
                <a:tc>
                  <a:txBody>
                    <a:bodyPr/>
                    <a:lstStyle/>
                    <a:p>
                      <a:r>
                        <a:rPr sz="1050" b="1">
                          <a:solidFill>
                            <a:srgbClr val="262626"/>
                          </a:solidFill>
                          <a:latin typeface="Calibri"/>
                        </a:rPr>
                        <a:t>Sustento</a:t>
                      </a:r>
                    </a:p>
                  </a:txBody>
                  <a:tcPr marL="54864" marR="54864" marT="18288" marB="18288" anchor="ctr">
                    <a:solidFill>
                      <a:srgbClr val="F6F8FA"/>
                    </a:solidFill>
                  </a:tcPr>
                </a:tc>
                <a:tc>
                  <a:txBody>
                    <a:bodyPr/>
                    <a:lstStyle/>
                    <a:p>
                      <a:pPr algn="ctr"/>
                      <a:r>
                        <a:rPr sz="1050" b="0">
                          <a:solidFill>
                            <a:srgbClr val="262626"/>
                          </a:solidFill>
                          <a:latin typeface="Calibri"/>
                        </a:rPr>
                        <a:t>64 % conservadas</a:t>
                      </a:r>
                    </a:p>
                  </a:txBody>
                  <a:tcPr marL="54864" marR="54864" marT="18288" marB="18288" anchor="ctr">
                    <a:solidFill>
                      <a:srgbClr val="F6F8FA"/>
                    </a:solidFill>
                  </a:tcPr>
                </a:tc>
                <a:tc>
                  <a:txBody>
                    <a:bodyPr/>
                    <a:lstStyle/>
                    <a:p>
                      <a:pPr algn="ctr"/>
                      <a:r>
                        <a:rPr sz="1050" b="0">
                          <a:solidFill>
                            <a:srgbClr val="262626"/>
                          </a:solidFill>
                          <a:latin typeface="Calibri"/>
                        </a:rPr>
                        <a:t>100 % con imagen</a:t>
                      </a:r>
                    </a:p>
                  </a:txBody>
                  <a:tcPr marL="54864" marR="54864" marT="18288" marB="18288" anchor="ctr">
                    <a:solidFill>
                      <a:srgbClr val="F6F8FA"/>
                    </a:solidFill>
                  </a:tcPr>
                </a:tc>
              </a:tr>
              <a:tr h="566928">
                <a:tc>
                  <a:txBody>
                    <a:bodyPr/>
                    <a:lstStyle/>
                    <a:p>
                      <a:r>
                        <a:rPr sz="1050" b="1">
                          <a:solidFill>
                            <a:srgbClr val="262626"/>
                          </a:solidFill>
                          <a:latin typeface="Calibri"/>
                        </a:rPr>
                        <a:t>Avisos</a:t>
                      </a:r>
                    </a:p>
                  </a:txBody>
                  <a:tcPr marL="54864" marR="54864" marT="18288" marB="18288" anchor="ctr">
                    <a:solidFill>
                      <a:srgbClr val="FFFFFF"/>
                    </a:solidFill>
                  </a:tcPr>
                </a:tc>
                <a:tc>
                  <a:txBody>
                    <a:bodyPr/>
                    <a:lstStyle/>
                    <a:p>
                      <a:pPr algn="ctr"/>
                      <a:r>
                        <a:rPr sz="1050" b="0">
                          <a:solidFill>
                            <a:srgbClr val="262626"/>
                          </a:solidFill>
                          <a:latin typeface="Calibri"/>
                        </a:rPr>
                        <a:t>Ninguno</a:t>
                      </a:r>
                    </a:p>
                  </a:txBody>
                  <a:tcPr marL="54864" marR="54864" marT="18288" marB="18288" anchor="ctr">
                    <a:solidFill>
                      <a:srgbClr val="FFFFFF"/>
                    </a:solidFill>
                  </a:tcPr>
                </a:tc>
                <a:tc>
                  <a:txBody>
                    <a:bodyPr/>
                    <a:lstStyle/>
                    <a:p>
                      <a:pPr algn="ctr"/>
                      <a:r>
                        <a:rPr sz="1050" b="0">
                          <a:solidFill>
                            <a:srgbClr val="262626"/>
                          </a:solidFill>
                          <a:latin typeface="Calibri"/>
                        </a:rPr>
                        <a:t>80 %, 100 % y vencimiento</a:t>
                      </a:r>
                    </a:p>
                  </a:txBody>
                  <a:tcPr marL="54864" marR="54864" marT="18288" marB="18288"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 PROCESOS · BPMN</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Subproceso «Registrar factura con IA» y sus excepciones</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Coronel Obregón, Paulo</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8</a:t>
            </a:r>
          </a:p>
        </p:txBody>
      </p:sp>
      <p:pic>
        <p:nvPicPr>
          <p:cNvPr id="9" name="Picture 8" descr="bpmn_03_registro.png"/>
          <p:cNvPicPr>
            <a:picLocks noChangeAspect="1"/>
          </p:cNvPicPr>
          <p:nvPr/>
        </p:nvPicPr>
        <p:blipFill>
          <a:blip r:embed="rId4"/>
          <a:stretch>
            <a:fillRect/>
          </a:stretch>
        </p:blipFill>
        <p:spPr>
          <a:xfrm>
            <a:off x="411480" y="1280160"/>
            <a:ext cx="8138160" cy="4069080"/>
          </a:xfrm>
          <a:prstGeom prst="rect">
            <a:avLst/>
          </a:prstGeom>
        </p:spPr>
      </p:pic>
      <p:sp>
        <p:nvSpPr>
          <p:cNvPr id="10" name="Rectangle 9"/>
          <p:cNvSpPr/>
          <p:nvPr/>
        </p:nvSpPr>
        <p:spPr>
          <a:xfrm>
            <a:off x="8778240" y="1325880"/>
            <a:ext cx="2926080" cy="278892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778240" y="1325880"/>
            <a:ext cx="2926080" cy="640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15400" y="1463039"/>
            <a:ext cx="2651760" cy="320040"/>
          </a:xfrm>
          <a:prstGeom prst="rect">
            <a:avLst/>
          </a:prstGeom>
          <a:noFill/>
        </p:spPr>
        <p:txBody>
          <a:bodyPr wrap="square" lIns="45720" rIns="45720" tIns="18288" bIns="18288" anchor="t">
            <a:spAutoFit/>
          </a:bodyPr>
          <a:lstStyle/>
          <a:p>
            <a:pPr algn="l"/>
            <a:r>
              <a:rPr sz="1300" b="1" i="0">
                <a:solidFill>
                  <a:srgbClr val="1F4E79"/>
                </a:solidFill>
                <a:latin typeface="Calibri"/>
              </a:rPr>
              <a:t>Excepciones diseñadas</a:t>
            </a:r>
          </a:p>
        </p:txBody>
      </p:sp>
      <p:sp>
        <p:nvSpPr>
          <p:cNvPr id="13" name="TextBox 12"/>
          <p:cNvSpPr txBox="1"/>
          <p:nvPr/>
        </p:nvSpPr>
        <p:spPr>
          <a:xfrm>
            <a:off x="8915400" y="1783080"/>
            <a:ext cx="2651760" cy="2240279"/>
          </a:xfrm>
          <a:prstGeom prst="rect">
            <a:avLst/>
          </a:prstGeom>
          <a:noFill/>
        </p:spPr>
        <p:txBody>
          <a:bodyPr wrap="square" lIns="45720" rIns="45720">
            <a:spAutoFit/>
          </a:bodyPr>
          <a:lstStyle/>
          <a:p>
            <a:pPr marL="182880" indent="-182880">
              <a:spcAft>
                <a:spcPts val="400"/>
              </a:spcAft>
              <a:buChar char="•"/>
            </a:pPr>
            <a:r>
              <a:rPr sz="1200" b="1">
                <a:solidFill>
                  <a:srgbClr val="262626"/>
                </a:solidFill>
                <a:latin typeface="Calibri"/>
              </a:rPr>
              <a:t>¿Legible? </a:t>
            </a:r>
            <a:r>
              <a:rPr sz="1200" b="0">
                <a:solidFill>
                  <a:srgbClr val="262626"/>
                </a:solidFill>
                <a:latin typeface="Calibri"/>
              </a:rPr>
              <a:t>no → otra toma</a:t>
            </a:r>
          </a:p>
          <a:p>
            <a:pPr marL="182880" indent="-182880">
              <a:spcAft>
                <a:spcPts val="400"/>
              </a:spcAft>
              <a:buChar char="•"/>
            </a:pPr>
            <a:r>
              <a:rPr sz="1200" b="1">
                <a:solidFill>
                  <a:srgbClr val="262626"/>
                </a:solidFill>
                <a:latin typeface="Calibri"/>
              </a:rPr>
              <a:t>¿Modelo y memoria? </a:t>
            </a:r>
            <a:r>
              <a:rPr sz="1200" b="0">
                <a:solidFill>
                  <a:srgbClr val="262626"/>
                </a:solidFill>
                <a:latin typeface="Calibri"/>
              </a:rPr>
              <a:t>no → registro manual</a:t>
            </a:r>
          </a:p>
          <a:p>
            <a:pPr marL="182880" indent="-182880">
              <a:spcAft>
                <a:spcPts val="400"/>
              </a:spcAft>
              <a:buChar char="•"/>
            </a:pPr>
            <a:r>
              <a:rPr sz="1200" b="1">
                <a:solidFill>
                  <a:srgbClr val="262626"/>
                </a:solidFill>
                <a:latin typeface="Calibri"/>
              </a:rPr>
              <a:t>¿Duplicada? </a:t>
            </a:r>
            <a:r>
              <a:rPr sz="1200" b="0">
                <a:solidFill>
                  <a:srgbClr val="262626"/>
                </a:solidFill>
                <a:latin typeface="Calibri"/>
              </a:rPr>
              <a:t>sí → aviso, no se registra</a:t>
            </a:r>
          </a:p>
          <a:p>
            <a:pPr marL="182880" indent="-182880">
              <a:spcAft>
                <a:spcPts val="400"/>
              </a:spcAft>
              <a:buChar char="•"/>
            </a:pPr>
            <a:r>
              <a:rPr sz="1200" b="1">
                <a:solidFill>
                  <a:srgbClr val="262626"/>
                </a:solidFill>
                <a:latin typeface="Calibri"/>
              </a:rPr>
              <a:t>¿Corrige? </a:t>
            </a:r>
            <a:r>
              <a:rPr sz="1200" b="0">
                <a:solidFill>
                  <a:srgbClr val="262626"/>
                </a:solidFill>
                <a:latin typeface="Calibri"/>
              </a:rPr>
              <a:t>sí → editar campo</a:t>
            </a:r>
          </a:p>
        </p:txBody>
      </p:sp>
      <p:sp>
        <p:nvSpPr>
          <p:cNvPr id="14" name="Rectangle 13"/>
          <p:cNvSpPr/>
          <p:nvPr/>
        </p:nvSpPr>
        <p:spPr>
          <a:xfrm>
            <a:off x="8778240" y="4251960"/>
            <a:ext cx="2926080" cy="205740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78240" y="4251960"/>
            <a:ext cx="292608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15400" y="4389120"/>
            <a:ext cx="2651760" cy="320040"/>
          </a:xfrm>
          <a:prstGeom prst="rect">
            <a:avLst/>
          </a:prstGeom>
          <a:noFill/>
        </p:spPr>
        <p:txBody>
          <a:bodyPr wrap="square" lIns="45720" rIns="45720" tIns="18288" bIns="18288" anchor="t">
            <a:spAutoFit/>
          </a:bodyPr>
          <a:lstStyle/>
          <a:p>
            <a:pPr algn="l"/>
            <a:r>
              <a:rPr sz="1300" b="1" i="0">
                <a:solidFill>
                  <a:srgbClr val="1E7B4F"/>
                </a:solidFill>
                <a:latin typeface="Calibri"/>
              </a:rPr>
              <a:t>Requerimientos</a:t>
            </a:r>
          </a:p>
        </p:txBody>
      </p:sp>
      <p:sp>
        <p:nvSpPr>
          <p:cNvPr id="17" name="TextBox 16"/>
          <p:cNvSpPr txBox="1"/>
          <p:nvPr/>
        </p:nvSpPr>
        <p:spPr>
          <a:xfrm>
            <a:off x="8915400" y="4709160"/>
            <a:ext cx="2651760" cy="1508760"/>
          </a:xfrm>
          <a:prstGeom prst="rect">
            <a:avLst/>
          </a:prstGeom>
          <a:noFill/>
        </p:spPr>
        <p:txBody>
          <a:bodyPr wrap="square" lIns="45720" rIns="45720">
            <a:spAutoFit/>
          </a:bodyPr>
          <a:lstStyle/>
          <a:p>
            <a:pPr marL="182880" indent="-182880">
              <a:spcAft>
                <a:spcPts val="400"/>
              </a:spcAft>
              <a:buChar char="•"/>
            </a:pPr>
            <a:r>
              <a:rPr sz="1200" b="0">
                <a:solidFill>
                  <a:srgbClr val="262626"/>
                </a:solidFill>
                <a:latin typeface="Calibri"/>
              </a:rPr>
              <a:t>RF-01 a RF-08</a:t>
            </a:r>
          </a:p>
          <a:p>
            <a:pPr marL="182880" indent="-182880">
              <a:spcAft>
                <a:spcPts val="400"/>
              </a:spcAft>
              <a:buChar char="•"/>
            </a:pPr>
            <a:r>
              <a:rPr sz="1200" b="0">
                <a:solidFill>
                  <a:srgbClr val="262626"/>
                </a:solidFill>
                <a:latin typeface="Calibri"/>
              </a:rPr>
              <a:t>RNF-04: lectura ≤ 20 s</a:t>
            </a:r>
          </a:p>
          <a:p>
            <a:pPr marL="182880" indent="-182880">
              <a:spcAft>
                <a:spcPts val="400"/>
              </a:spcAft>
              <a:buChar char="•"/>
            </a:pPr>
            <a:r>
              <a:rPr sz="1200" b="0">
                <a:solidFill>
                  <a:srgbClr val="262626"/>
                </a:solidFill>
                <a:latin typeface="Calibri"/>
              </a:rPr>
              <a:t>RNF-12: sin conexión</a:t>
            </a:r>
          </a:p>
          <a:p>
            <a:pPr marL="182880" indent="-182880">
              <a:spcAft>
                <a:spcPts val="400"/>
              </a:spcAft>
              <a:buChar char="•"/>
            </a:pPr>
            <a:r>
              <a:rPr sz="1200" b="0">
                <a:solidFill>
                  <a:srgbClr val="262626"/>
                </a:solidFill>
                <a:latin typeface="Calibri"/>
              </a:rPr>
              <a:t>RNF-14: la foto no sale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DETALLADO</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Arquitectura: cuatro capas dentro del teléfono</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Mateo Velásquez, Morán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9</a:t>
            </a:r>
          </a:p>
        </p:txBody>
      </p:sp>
      <p:pic>
        <p:nvPicPr>
          <p:cNvPr id="9" name="Picture 8" descr="arquitectura_capas.png"/>
          <p:cNvPicPr>
            <a:picLocks noChangeAspect="1"/>
          </p:cNvPicPr>
          <p:nvPr/>
        </p:nvPicPr>
        <p:blipFill>
          <a:blip r:embed="rId4"/>
          <a:stretch>
            <a:fillRect/>
          </a:stretch>
        </p:blipFill>
        <p:spPr>
          <a:xfrm>
            <a:off x="411480" y="1280160"/>
            <a:ext cx="7680960" cy="4427847"/>
          </a:xfrm>
          <a:prstGeom prst="rect">
            <a:avLst/>
          </a:prstGeom>
        </p:spPr>
      </p:pic>
      <p:sp>
        <p:nvSpPr>
          <p:cNvPr id="10" name="Rectangle 9"/>
          <p:cNvSpPr/>
          <p:nvPr/>
        </p:nvSpPr>
        <p:spPr>
          <a:xfrm>
            <a:off x="8321040" y="1325880"/>
            <a:ext cx="3383280" cy="246888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0" y="1325880"/>
            <a:ext cx="3383280" cy="640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1463039"/>
            <a:ext cx="3108960" cy="320040"/>
          </a:xfrm>
          <a:prstGeom prst="rect">
            <a:avLst/>
          </a:prstGeom>
          <a:noFill/>
        </p:spPr>
        <p:txBody>
          <a:bodyPr wrap="square" lIns="45720" rIns="45720" tIns="18288" bIns="18288" anchor="t">
            <a:spAutoFit/>
          </a:bodyPr>
          <a:lstStyle/>
          <a:p>
            <a:pPr algn="l"/>
            <a:r>
              <a:rPr sz="1300" b="1" i="0">
                <a:solidFill>
                  <a:srgbClr val="1F4E79"/>
                </a:solidFill>
                <a:latin typeface="Calibri"/>
              </a:rPr>
              <a:t>Decisiones clave</a:t>
            </a:r>
          </a:p>
        </p:txBody>
      </p:sp>
      <p:sp>
        <p:nvSpPr>
          <p:cNvPr id="13" name="TextBox 12"/>
          <p:cNvSpPr txBox="1"/>
          <p:nvPr/>
        </p:nvSpPr>
        <p:spPr>
          <a:xfrm>
            <a:off x="8458200" y="1783080"/>
            <a:ext cx="3108960" cy="1920240"/>
          </a:xfrm>
          <a:prstGeom prst="rect">
            <a:avLst/>
          </a:prstGeom>
          <a:noFill/>
        </p:spPr>
        <p:txBody>
          <a:bodyPr wrap="square" lIns="45720" rIns="45720">
            <a:spAutoFit/>
          </a:bodyPr>
          <a:lstStyle/>
          <a:p>
            <a:pPr marL="182880" indent="-182880">
              <a:spcAft>
                <a:spcPts val="400"/>
              </a:spcAft>
              <a:buChar char="•"/>
            </a:pPr>
            <a:r>
              <a:rPr sz="1200" b="0">
                <a:solidFill>
                  <a:srgbClr val="262626"/>
                </a:solidFill>
                <a:latin typeface="Calibri"/>
              </a:rPr>
              <a:t>Dominio en Java puro, sin Android</a:t>
            </a:r>
          </a:p>
          <a:p>
            <a:pPr marL="182880" indent="-182880">
              <a:spcAft>
                <a:spcPts val="400"/>
              </a:spcAft>
              <a:buChar char="•"/>
            </a:pPr>
            <a:r>
              <a:rPr sz="1200" b="0">
                <a:solidFill>
                  <a:srgbClr val="262626"/>
                </a:solidFill>
                <a:latin typeface="Calibri"/>
              </a:rPr>
              <a:t>Kotlin solo en el puente con LiteRT-LM</a:t>
            </a:r>
          </a:p>
          <a:p>
            <a:pPr marL="182880" indent="-182880">
              <a:spcAft>
                <a:spcPts val="400"/>
              </a:spcAft>
              <a:buChar char="•"/>
            </a:pPr>
            <a:r>
              <a:rPr sz="1200" b="0">
                <a:solidFill>
                  <a:srgbClr val="262626"/>
                </a:solidFill>
                <a:latin typeface="Calibri"/>
              </a:rPr>
              <a:t>Room + SQLCipher con clave en el Keystore</a:t>
            </a:r>
          </a:p>
          <a:p>
            <a:pPr marL="182880" indent="-182880">
              <a:spcAft>
                <a:spcPts val="400"/>
              </a:spcAft>
              <a:buChar char="•"/>
            </a:pPr>
            <a:r>
              <a:rPr sz="1200" b="0">
                <a:solidFill>
                  <a:srgbClr val="262626"/>
                </a:solidFill>
                <a:latin typeface="Calibri"/>
              </a:rPr>
              <a:t>Modelo como descarga separada verificada</a:t>
            </a:r>
          </a:p>
        </p:txBody>
      </p:sp>
      <p:sp>
        <p:nvSpPr>
          <p:cNvPr id="14" name="Rectangle 13"/>
          <p:cNvSpPr/>
          <p:nvPr/>
        </p:nvSpPr>
        <p:spPr>
          <a:xfrm>
            <a:off x="8321040" y="3931920"/>
            <a:ext cx="3383280" cy="237744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3931920"/>
            <a:ext cx="338328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4069080"/>
            <a:ext cx="3108960" cy="320040"/>
          </a:xfrm>
          <a:prstGeom prst="rect">
            <a:avLst/>
          </a:prstGeom>
          <a:noFill/>
        </p:spPr>
        <p:txBody>
          <a:bodyPr wrap="square" lIns="45720" rIns="45720" tIns="18288" bIns="18288" anchor="t">
            <a:spAutoFit/>
          </a:bodyPr>
          <a:lstStyle/>
          <a:p>
            <a:pPr algn="l"/>
            <a:r>
              <a:rPr sz="1300" b="1" i="0">
                <a:solidFill>
                  <a:srgbClr val="1E7B4F"/>
                </a:solidFill>
                <a:latin typeface="Calibri"/>
              </a:rPr>
              <a:t>Tecnologías</a:t>
            </a:r>
          </a:p>
        </p:txBody>
      </p:sp>
      <p:sp>
        <p:nvSpPr>
          <p:cNvPr id="17" name="TextBox 16"/>
          <p:cNvSpPr txBox="1"/>
          <p:nvPr/>
        </p:nvSpPr>
        <p:spPr>
          <a:xfrm>
            <a:off x="8458200" y="4389120"/>
            <a:ext cx="3108960" cy="1828800"/>
          </a:xfrm>
          <a:prstGeom prst="rect">
            <a:avLst/>
          </a:prstGeom>
          <a:noFill/>
        </p:spPr>
        <p:txBody>
          <a:bodyPr wrap="square" lIns="45720" rIns="45720">
            <a:spAutoFit/>
          </a:bodyPr>
          <a:lstStyle/>
          <a:p>
            <a:pPr marL="182880" indent="-182880">
              <a:spcAft>
                <a:spcPts val="400"/>
              </a:spcAft>
              <a:buChar char="•"/>
            </a:pPr>
            <a:r>
              <a:rPr sz="1200" b="0">
                <a:solidFill>
                  <a:srgbClr val="262626"/>
                </a:solidFill>
                <a:latin typeface="Calibri"/>
              </a:rPr>
              <a:t>Java 17 · Android 8.0+ · CameraX</a:t>
            </a:r>
          </a:p>
          <a:p>
            <a:pPr marL="182880" indent="-182880">
              <a:spcAft>
                <a:spcPts val="400"/>
              </a:spcAft>
              <a:buChar char="•"/>
            </a:pPr>
            <a:r>
              <a:rPr sz="1200" b="0">
                <a:solidFill>
                  <a:srgbClr val="262626"/>
                </a:solidFill>
                <a:latin typeface="Calibri"/>
              </a:rPr>
              <a:t>LiteRT-LM · Gemma 4 E2B (.litertlm)</a:t>
            </a:r>
          </a:p>
          <a:p>
            <a:pPr marL="182880" indent="-182880">
              <a:spcAft>
                <a:spcPts val="400"/>
              </a:spcAft>
              <a:buChar char="•"/>
            </a:pPr>
            <a:r>
              <a:rPr sz="1200" b="0">
                <a:solidFill>
                  <a:srgbClr val="262626"/>
                </a:solidFill>
                <a:latin typeface="Calibri"/>
              </a:rPr>
              <a:t>Room + SQLCipher (SQLite)</a:t>
            </a:r>
          </a:p>
          <a:p>
            <a:pPr marL="182880" indent="-182880">
              <a:spcAft>
                <a:spcPts val="400"/>
              </a:spcAft>
              <a:buChar char="•"/>
            </a:pPr>
            <a:r>
              <a:rPr sz="1200" b="0">
                <a:solidFill>
                  <a:srgbClr val="262626"/>
                </a:solidFill>
                <a:latin typeface="Calibri"/>
              </a:rPr>
              <a:t>Exportación CSV/ZIP · sin servidor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DETALLADO</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Diagrama de clases: dominio y diseño</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Mateo Velásquez, Morán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10</a:t>
            </a:r>
          </a:p>
        </p:txBody>
      </p:sp>
      <p:pic>
        <p:nvPicPr>
          <p:cNvPr id="9" name="Picture 8" descr="clases_dominio.png"/>
          <p:cNvPicPr>
            <a:picLocks noChangeAspect="1"/>
          </p:cNvPicPr>
          <p:nvPr/>
        </p:nvPicPr>
        <p:blipFill>
          <a:blip r:embed="rId4"/>
          <a:stretch>
            <a:fillRect/>
          </a:stretch>
        </p:blipFill>
        <p:spPr>
          <a:xfrm>
            <a:off x="411480" y="1280160"/>
            <a:ext cx="5669280" cy="3800994"/>
          </a:xfrm>
          <a:prstGeom prst="rect">
            <a:avLst/>
          </a:prstGeom>
        </p:spPr>
      </p:pic>
      <p:pic>
        <p:nvPicPr>
          <p:cNvPr id="10" name="Picture 9" descr="clases_diseno.png"/>
          <p:cNvPicPr>
            <a:picLocks noChangeAspect="1"/>
          </p:cNvPicPr>
          <p:nvPr/>
        </p:nvPicPr>
        <p:blipFill>
          <a:blip r:embed="rId5"/>
          <a:stretch>
            <a:fillRect/>
          </a:stretch>
        </p:blipFill>
        <p:spPr>
          <a:xfrm>
            <a:off x="6172200" y="1280160"/>
            <a:ext cx="5577840" cy="3169227"/>
          </a:xfrm>
          <a:prstGeom prst="rect">
            <a:avLst/>
          </a:prstGeom>
        </p:spPr>
      </p:pic>
      <p:sp>
        <p:nvSpPr>
          <p:cNvPr id="11" name="Rectangle 10"/>
          <p:cNvSpPr/>
          <p:nvPr/>
        </p:nvSpPr>
        <p:spPr>
          <a:xfrm>
            <a:off x="502920" y="5440680"/>
            <a:ext cx="11201400" cy="8686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486400"/>
            <a:ext cx="10881360" cy="777240"/>
          </a:xfrm>
          <a:prstGeom prst="rect">
            <a:avLst/>
          </a:prstGeom>
          <a:noFill/>
        </p:spPr>
        <p:txBody>
          <a:bodyPr wrap="square" lIns="45720" rIns="45720" tIns="18288" bIns="18288" anchor="ctr">
            <a:spAutoFit/>
          </a:bodyPr>
          <a:lstStyle/>
          <a:p>
            <a:pPr algn="l"/>
            <a:r>
              <a:rPr sz="1300" b="1" i="0">
                <a:solidFill>
                  <a:srgbClr val="1F4E79"/>
                </a:solidFill>
                <a:latin typeface="Calibri"/>
              </a:rPr>
              <a:t>Buenas prácticas: </a:t>
            </a:r>
            <a:r>
              <a:rPr sz="1300" b="0" i="0">
                <a:solidFill>
                  <a:srgbClr val="1F4E79"/>
                </a:solidFill>
                <a:latin typeface="Calibri"/>
              </a:rPr>
              <a:t>inversión de dependencias (el caso de uso depende de interfaces), responsabilidad única (ViewModel solo estado), encapsulamiento (atributos privados, BigDecimal y enumeraciones).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DETALLADO</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Base de datos: una sola base SQLite cifrada en el teléfono</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Mateo Velásquez, Morán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11</a:t>
            </a:r>
          </a:p>
        </p:txBody>
      </p:sp>
      <p:pic>
        <p:nvPicPr>
          <p:cNvPr id="9" name="Picture 8" descr="der_local.png"/>
          <p:cNvPicPr>
            <a:picLocks noChangeAspect="1"/>
          </p:cNvPicPr>
          <p:nvPr/>
        </p:nvPicPr>
        <p:blipFill>
          <a:blip r:embed="rId4"/>
          <a:stretch>
            <a:fillRect/>
          </a:stretch>
        </p:blipFill>
        <p:spPr>
          <a:xfrm>
            <a:off x="1223404" y="1280160"/>
            <a:ext cx="5965671" cy="3931920"/>
          </a:xfrm>
          <a:prstGeom prst="rect">
            <a:avLst/>
          </a:prstGeom>
        </p:spPr>
      </p:pic>
      <p:sp>
        <p:nvSpPr>
          <p:cNvPr id="10" name="TextBox 9"/>
          <p:cNvSpPr txBox="1"/>
          <p:nvPr/>
        </p:nvSpPr>
        <p:spPr>
          <a:xfrm>
            <a:off x="411480" y="5230368"/>
            <a:ext cx="7589520" cy="274320"/>
          </a:xfrm>
          <a:prstGeom prst="rect">
            <a:avLst/>
          </a:prstGeom>
          <a:noFill/>
        </p:spPr>
        <p:txBody>
          <a:bodyPr wrap="square" lIns="45720" rIns="45720" tIns="18288" bIns="18288" anchor="t">
            <a:spAutoFit/>
          </a:bodyPr>
          <a:lstStyle/>
          <a:p>
            <a:pPr algn="ctr"/>
            <a:r>
              <a:rPr sz="1200" b="1" i="0">
                <a:solidFill>
                  <a:srgbClr val="1F4E79"/>
                </a:solidFill>
                <a:latin typeface="Calibri"/>
              </a:rPr>
              <a:t>SQLite · Room + SQLCipher · 13 tablas · 3FN</a:t>
            </a:r>
          </a:p>
        </p:txBody>
      </p:sp>
      <p:sp>
        <p:nvSpPr>
          <p:cNvPr id="11" name="Rectangle 10"/>
          <p:cNvSpPr/>
          <p:nvPr/>
        </p:nvSpPr>
        <p:spPr>
          <a:xfrm>
            <a:off x="8229600" y="1325880"/>
            <a:ext cx="3474720" cy="411480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1325880"/>
            <a:ext cx="347472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463039"/>
            <a:ext cx="3200400" cy="320040"/>
          </a:xfrm>
          <a:prstGeom prst="rect">
            <a:avLst/>
          </a:prstGeom>
          <a:noFill/>
        </p:spPr>
        <p:txBody>
          <a:bodyPr wrap="square" lIns="45720" rIns="45720" tIns="18288" bIns="18288" anchor="t">
            <a:spAutoFit/>
          </a:bodyPr>
          <a:lstStyle/>
          <a:p>
            <a:pPr algn="l"/>
            <a:r>
              <a:rPr sz="1300" b="1" i="0">
                <a:solidFill>
                  <a:srgbClr val="1E7B4F"/>
                </a:solidFill>
                <a:latin typeface="Calibri"/>
              </a:rPr>
              <a:t>Exportación para PC</a:t>
            </a:r>
          </a:p>
        </p:txBody>
      </p:sp>
      <p:sp>
        <p:nvSpPr>
          <p:cNvPr id="14" name="TextBox 13"/>
          <p:cNvSpPr txBox="1"/>
          <p:nvPr/>
        </p:nvSpPr>
        <p:spPr>
          <a:xfrm>
            <a:off x="8366760" y="1783080"/>
            <a:ext cx="3200400" cy="3566160"/>
          </a:xfrm>
          <a:prstGeom prst="rect">
            <a:avLst/>
          </a:prstGeom>
          <a:noFill/>
        </p:spPr>
        <p:txBody>
          <a:bodyPr wrap="square" lIns="45720" rIns="45720">
            <a:spAutoFit/>
          </a:bodyPr>
          <a:lstStyle/>
          <a:p>
            <a:pPr marL="182880" indent="-182880">
              <a:spcAft>
                <a:spcPts val="400"/>
              </a:spcAft>
              <a:buChar char="•"/>
            </a:pPr>
            <a:r>
              <a:rPr sz="1200" b="0">
                <a:solidFill>
                  <a:srgbClr val="262626"/>
                </a:solidFill>
                <a:latin typeface="Calibri"/>
              </a:rPr>
              <a:t>ZIP generado a pedido del titular</a:t>
            </a:r>
          </a:p>
          <a:p>
            <a:pPr marL="182880" indent="-182880">
              <a:spcAft>
                <a:spcPts val="400"/>
              </a:spcAft>
              <a:buChar char="•"/>
            </a:pPr>
            <a:r>
              <a:rPr sz="1200" b="0">
                <a:solidFill>
                  <a:srgbClr val="262626"/>
                </a:solidFill>
                <a:latin typeface="Calibri"/>
              </a:rPr>
              <a:t>facturas.csv y periodos.csv</a:t>
            </a:r>
          </a:p>
          <a:p>
            <a:pPr marL="182880" indent="-182880">
              <a:spcAft>
                <a:spcPts val="400"/>
              </a:spcAft>
              <a:buChar char="•"/>
            </a:pPr>
            <a:r>
              <a:rPr sz="1200" b="0">
                <a:solidFill>
                  <a:srgbClr val="262626"/>
                </a:solidFill>
                <a:latin typeface="Calibri"/>
              </a:rPr>
              <a:t>determinaciones.csv</a:t>
            </a:r>
          </a:p>
          <a:p>
            <a:pPr marL="182880" indent="-182880">
              <a:spcAft>
                <a:spcPts val="400"/>
              </a:spcAft>
              <a:buChar char="•"/>
            </a:pPr>
            <a:r>
              <a:rPr sz="1200" b="0">
                <a:solidFill>
                  <a:srgbClr val="262626"/>
                </a:solidFill>
                <a:latin typeface="Calibri"/>
              </a:rPr>
              <a:t>Imágenes y reporte PDF (opcional)</a:t>
            </a:r>
          </a:p>
          <a:p>
            <a:pPr marL="182880" indent="-182880">
              <a:spcAft>
                <a:spcPts val="400"/>
              </a:spcAft>
              <a:buChar char="•"/>
            </a:pPr>
            <a:r>
              <a:rPr sz="1200" b="0">
                <a:solidFill>
                  <a:srgbClr val="262626"/>
                </a:solidFill>
                <a:latin typeface="Calibri"/>
              </a:rPr>
              <a:t>Se abre en Excel o LibreOffice</a:t>
            </a:r>
          </a:p>
          <a:p>
            <a:pPr marL="182880" indent="-182880">
              <a:spcAft>
                <a:spcPts val="400"/>
              </a:spcAft>
              <a:buChar char="•"/>
            </a:pPr>
            <a:r>
              <a:rPr sz="1200" b="0">
                <a:solidFill>
                  <a:srgbClr val="262626"/>
                </a:solidFill>
                <a:latin typeface="Calibri"/>
              </a:rPr>
              <a:t>La app no lo envía a ningún servidor</a:t>
            </a:r>
          </a:p>
        </p:txBody>
      </p:sp>
      <p:sp>
        <p:nvSpPr>
          <p:cNvPr id="15" name="Rectangle 14"/>
          <p:cNvSpPr/>
          <p:nvPr/>
        </p:nvSpPr>
        <p:spPr>
          <a:xfrm>
            <a:off x="502920" y="5623560"/>
            <a:ext cx="1783080" cy="68580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623560"/>
            <a:ext cx="1691640" cy="685800"/>
          </a:xfrm>
          <a:prstGeom prst="rect">
            <a:avLst/>
          </a:prstGeom>
          <a:noFill/>
        </p:spPr>
        <p:txBody>
          <a:bodyPr wrap="square" lIns="45720" rIns="45720" tIns="18288" bIns="18288" anchor="ctr">
            <a:spAutoFit/>
          </a:bodyPr>
          <a:lstStyle/>
          <a:p>
            <a:pPr algn="ctr"/>
            <a:r>
              <a:rPr sz="1150" b="1" i="0">
                <a:solidFill>
                  <a:srgbClr val="1E7B4F"/>
                </a:solidFill>
                <a:latin typeface="Calibri"/>
              </a:rPr>
              <a:t>SQLCipher (AES-256)</a:t>
            </a:r>
          </a:p>
        </p:txBody>
      </p:sp>
      <p:sp>
        <p:nvSpPr>
          <p:cNvPr id="17" name="Rectangle 16"/>
          <p:cNvSpPr/>
          <p:nvPr/>
        </p:nvSpPr>
        <p:spPr>
          <a:xfrm>
            <a:off x="2386584" y="5623560"/>
            <a:ext cx="1783080" cy="68580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32304" y="5623560"/>
            <a:ext cx="1691640" cy="685800"/>
          </a:xfrm>
          <a:prstGeom prst="rect">
            <a:avLst/>
          </a:prstGeom>
          <a:noFill/>
        </p:spPr>
        <p:txBody>
          <a:bodyPr wrap="square" lIns="45720" rIns="45720" tIns="18288" bIns="18288" anchor="ctr">
            <a:spAutoFit/>
          </a:bodyPr>
          <a:lstStyle/>
          <a:p>
            <a:pPr algn="ctr"/>
            <a:r>
              <a:rPr sz="1150" b="1" i="0">
                <a:solidFill>
                  <a:srgbClr val="1E7B4F"/>
                </a:solidFill>
                <a:latin typeface="Calibri"/>
              </a:rPr>
              <a:t>Clave en el Keystore</a:t>
            </a:r>
          </a:p>
        </p:txBody>
      </p:sp>
      <p:sp>
        <p:nvSpPr>
          <p:cNvPr id="19" name="Rectangle 18"/>
          <p:cNvSpPr/>
          <p:nvPr/>
        </p:nvSpPr>
        <p:spPr>
          <a:xfrm>
            <a:off x="4270248" y="5623560"/>
            <a:ext cx="1783080" cy="68580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15968" y="5623560"/>
            <a:ext cx="1691640" cy="685800"/>
          </a:xfrm>
          <a:prstGeom prst="rect">
            <a:avLst/>
          </a:prstGeom>
          <a:noFill/>
        </p:spPr>
        <p:txBody>
          <a:bodyPr wrap="square" lIns="45720" rIns="45720" tIns="18288" bIns="18288" anchor="ctr">
            <a:spAutoFit/>
          </a:bodyPr>
          <a:lstStyle/>
          <a:p>
            <a:pPr algn="ctr"/>
            <a:r>
              <a:rPr sz="1150" b="1" i="0">
                <a:solidFill>
                  <a:srgbClr val="1E7B4F"/>
                </a:solidFill>
                <a:latin typeface="Calibri"/>
              </a:rPr>
              <a:t>PIN con hash y sal</a:t>
            </a:r>
          </a:p>
        </p:txBody>
      </p:sp>
      <p:sp>
        <p:nvSpPr>
          <p:cNvPr id="21" name="Rectangle 20"/>
          <p:cNvSpPr/>
          <p:nvPr/>
        </p:nvSpPr>
        <p:spPr>
          <a:xfrm>
            <a:off x="6153912" y="5623560"/>
            <a:ext cx="1783080" cy="68580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9631" y="5623560"/>
            <a:ext cx="1691640" cy="685800"/>
          </a:xfrm>
          <a:prstGeom prst="rect">
            <a:avLst/>
          </a:prstGeom>
          <a:noFill/>
        </p:spPr>
        <p:txBody>
          <a:bodyPr wrap="square" lIns="45720" rIns="45720" tIns="18288" bIns="18288" anchor="ctr">
            <a:spAutoFit/>
          </a:bodyPr>
          <a:lstStyle/>
          <a:p>
            <a:pPr algn="ctr"/>
            <a:r>
              <a:rPr sz="1150" b="1" i="0">
                <a:solidFill>
                  <a:srgbClr val="1E7B4F"/>
                </a:solidFill>
                <a:latin typeface="Calibri"/>
              </a:rPr>
              <a:t>Consultas parametrizadas</a:t>
            </a:r>
          </a:p>
        </p:txBody>
      </p:sp>
      <p:sp>
        <p:nvSpPr>
          <p:cNvPr id="23" name="Rectangle 22"/>
          <p:cNvSpPr/>
          <p:nvPr/>
        </p:nvSpPr>
        <p:spPr>
          <a:xfrm>
            <a:off x="8037576" y="5623560"/>
            <a:ext cx="1783080" cy="68580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83296" y="5623560"/>
            <a:ext cx="1691640" cy="685800"/>
          </a:xfrm>
          <a:prstGeom prst="rect">
            <a:avLst/>
          </a:prstGeom>
          <a:noFill/>
        </p:spPr>
        <p:txBody>
          <a:bodyPr wrap="square" lIns="45720" rIns="45720" tIns="18288" bIns="18288" anchor="ctr">
            <a:spAutoFit/>
          </a:bodyPr>
          <a:lstStyle/>
          <a:p>
            <a:pPr algn="ctr"/>
            <a:r>
              <a:rPr sz="1150" b="1" i="0">
                <a:solidFill>
                  <a:srgbClr val="1E7B4F"/>
                </a:solidFill>
                <a:latin typeface="Calibri"/>
              </a:rPr>
              <a:t>Sin servidor ni cuentas</a:t>
            </a:r>
          </a:p>
        </p:txBody>
      </p:sp>
      <p:sp>
        <p:nvSpPr>
          <p:cNvPr id="25" name="Rectangle 24"/>
          <p:cNvSpPr/>
          <p:nvPr/>
        </p:nvSpPr>
        <p:spPr>
          <a:xfrm>
            <a:off x="9921240" y="5623560"/>
            <a:ext cx="1783080" cy="68580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66960" y="5623560"/>
            <a:ext cx="1691640" cy="685800"/>
          </a:xfrm>
          <a:prstGeom prst="rect">
            <a:avLst/>
          </a:prstGeom>
          <a:noFill/>
        </p:spPr>
        <p:txBody>
          <a:bodyPr wrap="square" lIns="45720" rIns="45720" tIns="18288" bIns="18288" anchor="ctr">
            <a:spAutoFit/>
          </a:bodyPr>
          <a:lstStyle/>
          <a:p>
            <a:pPr algn="ctr"/>
            <a:r>
              <a:rPr sz="1150" b="1" i="0">
                <a:solidFill>
                  <a:srgbClr val="1E7B4F"/>
                </a:solidFill>
                <a:latin typeface="Calibri"/>
              </a:rPr>
              <a:t>SHA-256 del modelo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 INTERFACES · UX/UI</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Sistema de diseño y navegación</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Gonzales Maco, Fabrizzio Jhoel</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12</a:t>
            </a:r>
          </a:p>
        </p:txBody>
      </p:sp>
      <p:pic>
        <p:nvPicPr>
          <p:cNvPr id="9" name="Picture 8" descr="ui_sistema_diseno.png"/>
          <p:cNvPicPr>
            <a:picLocks noChangeAspect="1"/>
          </p:cNvPicPr>
          <p:nvPr/>
        </p:nvPicPr>
        <p:blipFill>
          <a:blip r:embed="rId4"/>
          <a:stretch>
            <a:fillRect/>
          </a:stretch>
        </p:blipFill>
        <p:spPr>
          <a:xfrm>
            <a:off x="411480" y="1280160"/>
            <a:ext cx="5760720" cy="3240405"/>
          </a:xfrm>
          <a:prstGeom prst="rect">
            <a:avLst/>
          </a:prstGeom>
        </p:spPr>
      </p:pic>
      <p:pic>
        <p:nvPicPr>
          <p:cNvPr id="10" name="Picture 9" descr="ui_mapa_navegacion.png"/>
          <p:cNvPicPr>
            <a:picLocks noChangeAspect="1"/>
          </p:cNvPicPr>
          <p:nvPr/>
        </p:nvPicPr>
        <p:blipFill>
          <a:blip r:embed="rId5"/>
          <a:stretch>
            <a:fillRect/>
          </a:stretch>
        </p:blipFill>
        <p:spPr>
          <a:xfrm>
            <a:off x="6263640" y="1280160"/>
            <a:ext cx="5486400" cy="2904564"/>
          </a:xfrm>
          <a:prstGeom prst="rect">
            <a:avLst/>
          </a:prstGeom>
        </p:spPr>
      </p:pic>
      <p:sp>
        <p:nvSpPr>
          <p:cNvPr id="11" name="Rectangle 10"/>
          <p:cNvSpPr/>
          <p:nvPr/>
        </p:nvSpPr>
        <p:spPr>
          <a:xfrm>
            <a:off x="502920" y="4937760"/>
            <a:ext cx="2651760" cy="137160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029200"/>
            <a:ext cx="2651760" cy="640080"/>
          </a:xfrm>
          <a:prstGeom prst="rect">
            <a:avLst/>
          </a:prstGeom>
          <a:noFill/>
        </p:spPr>
        <p:txBody>
          <a:bodyPr wrap="square" lIns="45720" rIns="45720" tIns="18288" bIns="18288" anchor="t">
            <a:spAutoFit/>
          </a:bodyPr>
          <a:lstStyle/>
          <a:p>
            <a:pPr algn="ctr"/>
            <a:r>
              <a:rPr sz="2800" b="1" i="0">
                <a:solidFill>
                  <a:srgbClr val="1E7B4F"/>
                </a:solidFill>
                <a:latin typeface="Calibri"/>
              </a:rPr>
              <a:t>≥ 48 dp</a:t>
            </a:r>
          </a:p>
        </p:txBody>
      </p:sp>
      <p:sp>
        <p:nvSpPr>
          <p:cNvPr id="13" name="TextBox 12"/>
          <p:cNvSpPr txBox="1"/>
          <p:nvPr/>
        </p:nvSpPr>
        <p:spPr>
          <a:xfrm>
            <a:off x="502920" y="565099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objetivos táctiles</a:t>
            </a:r>
          </a:p>
        </p:txBody>
      </p:sp>
      <p:sp>
        <p:nvSpPr>
          <p:cNvPr id="14" name="Rectangle 13"/>
          <p:cNvSpPr/>
          <p:nvPr/>
        </p:nvSpPr>
        <p:spPr>
          <a:xfrm>
            <a:off x="3337560" y="4937760"/>
            <a:ext cx="2651760" cy="137160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5029200"/>
            <a:ext cx="2651760" cy="640080"/>
          </a:xfrm>
          <a:prstGeom prst="rect">
            <a:avLst/>
          </a:prstGeom>
          <a:noFill/>
        </p:spPr>
        <p:txBody>
          <a:bodyPr wrap="square" lIns="45720" rIns="45720" tIns="18288" bIns="18288" anchor="t">
            <a:spAutoFit/>
          </a:bodyPr>
          <a:lstStyle/>
          <a:p>
            <a:pPr algn="ctr"/>
            <a:r>
              <a:rPr sz="2800" b="1" i="0">
                <a:solidFill>
                  <a:srgbClr val="1E7B4F"/>
                </a:solidFill>
                <a:latin typeface="Calibri"/>
              </a:rPr>
              <a:t>≥ 16 sp</a:t>
            </a:r>
          </a:p>
        </p:txBody>
      </p:sp>
      <p:sp>
        <p:nvSpPr>
          <p:cNvPr id="16" name="TextBox 15"/>
          <p:cNvSpPr txBox="1"/>
          <p:nvPr/>
        </p:nvSpPr>
        <p:spPr>
          <a:xfrm>
            <a:off x="3337560" y="565099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texto de datos</a:t>
            </a:r>
          </a:p>
        </p:txBody>
      </p:sp>
      <p:sp>
        <p:nvSpPr>
          <p:cNvPr id="17" name="Rectangle 16"/>
          <p:cNvSpPr/>
          <p:nvPr/>
        </p:nvSpPr>
        <p:spPr>
          <a:xfrm>
            <a:off x="6172200" y="4937760"/>
            <a:ext cx="2651760" cy="137160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5029200"/>
            <a:ext cx="2651760" cy="640080"/>
          </a:xfrm>
          <a:prstGeom prst="rect">
            <a:avLst/>
          </a:prstGeom>
          <a:noFill/>
        </p:spPr>
        <p:txBody>
          <a:bodyPr wrap="square" lIns="45720" rIns="45720" tIns="18288" bIns="18288" anchor="t">
            <a:spAutoFit/>
          </a:bodyPr>
          <a:lstStyle/>
          <a:p>
            <a:pPr algn="ctr"/>
            <a:r>
              <a:rPr sz="2800" b="1" i="0">
                <a:solidFill>
                  <a:srgbClr val="1E7B4F"/>
                </a:solidFill>
                <a:latin typeface="Calibri"/>
              </a:rPr>
              <a:t>≤ 3</a:t>
            </a:r>
          </a:p>
        </p:txBody>
      </p:sp>
      <p:sp>
        <p:nvSpPr>
          <p:cNvPr id="19" name="TextBox 18"/>
          <p:cNvSpPr txBox="1"/>
          <p:nvPr/>
        </p:nvSpPr>
        <p:spPr>
          <a:xfrm>
            <a:off x="6172200" y="565099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toques para registrar</a:t>
            </a:r>
          </a:p>
        </p:txBody>
      </p:sp>
      <p:sp>
        <p:nvSpPr>
          <p:cNvPr id="20" name="Rectangle 19"/>
          <p:cNvSpPr/>
          <p:nvPr/>
        </p:nvSpPr>
        <p:spPr>
          <a:xfrm>
            <a:off x="9006840" y="4937760"/>
            <a:ext cx="2651760" cy="137160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06840" y="5029200"/>
            <a:ext cx="2651760" cy="640080"/>
          </a:xfrm>
          <a:prstGeom prst="rect">
            <a:avLst/>
          </a:prstGeom>
          <a:noFill/>
        </p:spPr>
        <p:txBody>
          <a:bodyPr wrap="square" lIns="45720" rIns="45720" tIns="18288" bIns="18288" anchor="t">
            <a:spAutoFit/>
          </a:bodyPr>
          <a:lstStyle/>
          <a:p>
            <a:pPr algn="ctr"/>
            <a:r>
              <a:rPr sz="2800" b="1" i="0">
                <a:solidFill>
                  <a:srgbClr val="1E7B4F"/>
                </a:solidFill>
                <a:latin typeface="Calibri"/>
              </a:rPr>
              <a:t>4,5:1</a:t>
            </a:r>
          </a:p>
        </p:txBody>
      </p:sp>
      <p:sp>
        <p:nvSpPr>
          <p:cNvPr id="22" name="TextBox 21"/>
          <p:cNvSpPr txBox="1"/>
          <p:nvPr/>
        </p:nvSpPr>
        <p:spPr>
          <a:xfrm>
            <a:off x="9006840" y="565099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contraste mínimo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DEL PROTOTIPO</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Flujo principal: una factura en tres toques</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Gonzales Maco, Fabrizzio Jhoel</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13</a:t>
            </a:r>
          </a:p>
        </p:txBody>
      </p:sp>
      <p:pic>
        <p:nvPicPr>
          <p:cNvPr id="9" name="Picture 8" descr="pantalla_04_inicio_resumen_del.png"/>
          <p:cNvPicPr>
            <a:picLocks noChangeAspect="1"/>
          </p:cNvPicPr>
          <p:nvPr/>
        </p:nvPicPr>
        <p:blipFill>
          <a:blip r:embed="rId4"/>
          <a:stretch>
            <a:fillRect/>
          </a:stretch>
        </p:blipFill>
        <p:spPr>
          <a:xfrm>
            <a:off x="709126" y="1280160"/>
            <a:ext cx="2239346" cy="4572000"/>
          </a:xfrm>
          <a:prstGeom prst="rect">
            <a:avLst/>
          </a:prstGeom>
        </p:spPr>
      </p:pic>
      <p:sp>
        <p:nvSpPr>
          <p:cNvPr id="10" name="TextBox 9"/>
          <p:cNvSpPr txBox="1"/>
          <p:nvPr/>
        </p:nvSpPr>
        <p:spPr>
          <a:xfrm>
            <a:off x="640080" y="5897880"/>
            <a:ext cx="2377440" cy="320040"/>
          </a:xfrm>
          <a:prstGeom prst="rect">
            <a:avLst/>
          </a:prstGeom>
          <a:noFill/>
        </p:spPr>
        <p:txBody>
          <a:bodyPr wrap="square" lIns="45720" rIns="45720" tIns="18288" bIns="18288" anchor="t">
            <a:spAutoFit/>
          </a:bodyPr>
          <a:lstStyle/>
          <a:p>
            <a:pPr algn="ctr"/>
            <a:r>
              <a:rPr sz="1300" b="1" i="0">
                <a:solidFill>
                  <a:srgbClr val="1F4E79"/>
                </a:solidFill>
                <a:latin typeface="Calibri"/>
              </a:rPr>
              <a:t>P04 Inicio</a:t>
            </a:r>
          </a:p>
        </p:txBody>
      </p:sp>
      <p:sp>
        <p:nvSpPr>
          <p:cNvPr id="11" name="Right Arrow 10"/>
          <p:cNvSpPr/>
          <p:nvPr/>
        </p:nvSpPr>
        <p:spPr>
          <a:xfrm>
            <a:off x="3090672" y="3429000"/>
            <a:ext cx="320040" cy="320040"/>
          </a:xfrm>
          <a:prstGeom prst="rightArrow">
            <a:avLst/>
          </a:prstGeom>
          <a:solidFill>
            <a:srgbClr val="1E7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antalla_06_camara_con_encuadre.png"/>
          <p:cNvPicPr>
            <a:picLocks noChangeAspect="1"/>
          </p:cNvPicPr>
          <p:nvPr/>
        </p:nvPicPr>
        <p:blipFill>
          <a:blip r:embed="rId5"/>
          <a:stretch>
            <a:fillRect/>
          </a:stretch>
        </p:blipFill>
        <p:spPr>
          <a:xfrm>
            <a:off x="3543766" y="1280160"/>
            <a:ext cx="2239346" cy="4572000"/>
          </a:xfrm>
          <a:prstGeom prst="rect">
            <a:avLst/>
          </a:prstGeom>
        </p:spPr>
      </p:pic>
      <p:sp>
        <p:nvSpPr>
          <p:cNvPr id="13" name="TextBox 12"/>
          <p:cNvSpPr txBox="1"/>
          <p:nvPr/>
        </p:nvSpPr>
        <p:spPr>
          <a:xfrm>
            <a:off x="3474720" y="5897880"/>
            <a:ext cx="2377440" cy="320040"/>
          </a:xfrm>
          <a:prstGeom prst="rect">
            <a:avLst/>
          </a:prstGeom>
          <a:noFill/>
        </p:spPr>
        <p:txBody>
          <a:bodyPr wrap="square" lIns="45720" rIns="45720" tIns="18288" bIns="18288" anchor="t">
            <a:spAutoFit/>
          </a:bodyPr>
          <a:lstStyle/>
          <a:p>
            <a:pPr algn="ctr"/>
            <a:r>
              <a:rPr sz="1300" b="1" i="0">
                <a:solidFill>
                  <a:srgbClr val="1F4E79"/>
                </a:solidFill>
                <a:latin typeface="Calibri"/>
              </a:rPr>
              <a:t>P06 Cámara</a:t>
            </a:r>
          </a:p>
        </p:txBody>
      </p:sp>
      <p:sp>
        <p:nvSpPr>
          <p:cNvPr id="14" name="Right Arrow 13"/>
          <p:cNvSpPr/>
          <p:nvPr/>
        </p:nvSpPr>
        <p:spPr>
          <a:xfrm>
            <a:off x="5925312" y="3429000"/>
            <a:ext cx="320040" cy="320040"/>
          </a:xfrm>
          <a:prstGeom prst="rightArrow">
            <a:avLst/>
          </a:prstGeom>
          <a:solidFill>
            <a:srgbClr val="1E7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antalla_08_verificacion_de_datos.png"/>
          <p:cNvPicPr>
            <a:picLocks noChangeAspect="1"/>
          </p:cNvPicPr>
          <p:nvPr/>
        </p:nvPicPr>
        <p:blipFill>
          <a:blip r:embed="rId6"/>
          <a:stretch>
            <a:fillRect/>
          </a:stretch>
        </p:blipFill>
        <p:spPr>
          <a:xfrm>
            <a:off x="6378406" y="1280160"/>
            <a:ext cx="2239346" cy="4572000"/>
          </a:xfrm>
          <a:prstGeom prst="rect">
            <a:avLst/>
          </a:prstGeom>
        </p:spPr>
      </p:pic>
      <p:sp>
        <p:nvSpPr>
          <p:cNvPr id="16" name="TextBox 15"/>
          <p:cNvSpPr txBox="1"/>
          <p:nvPr/>
        </p:nvSpPr>
        <p:spPr>
          <a:xfrm>
            <a:off x="6309360" y="5897880"/>
            <a:ext cx="2377440" cy="320040"/>
          </a:xfrm>
          <a:prstGeom prst="rect">
            <a:avLst/>
          </a:prstGeom>
          <a:noFill/>
        </p:spPr>
        <p:txBody>
          <a:bodyPr wrap="square" lIns="45720" rIns="45720" tIns="18288" bIns="18288" anchor="t">
            <a:spAutoFit/>
          </a:bodyPr>
          <a:lstStyle/>
          <a:p>
            <a:pPr algn="ctr"/>
            <a:r>
              <a:rPr sz="1300" b="1" i="0">
                <a:solidFill>
                  <a:srgbClr val="1F4E79"/>
                </a:solidFill>
                <a:latin typeface="Calibri"/>
              </a:rPr>
              <a:t>P08 Verificación</a:t>
            </a:r>
          </a:p>
        </p:txBody>
      </p:sp>
      <p:sp>
        <p:nvSpPr>
          <p:cNvPr id="17" name="Right Arrow 16"/>
          <p:cNvSpPr/>
          <p:nvPr/>
        </p:nvSpPr>
        <p:spPr>
          <a:xfrm>
            <a:off x="8759952" y="3429000"/>
            <a:ext cx="320040" cy="320040"/>
          </a:xfrm>
          <a:prstGeom prst="rightArrow">
            <a:avLst/>
          </a:prstGeom>
          <a:solidFill>
            <a:srgbClr val="1E7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antalla_10_factura_guardada.png"/>
          <p:cNvPicPr>
            <a:picLocks noChangeAspect="1"/>
          </p:cNvPicPr>
          <p:nvPr/>
        </p:nvPicPr>
        <p:blipFill>
          <a:blip r:embed="rId7"/>
          <a:stretch>
            <a:fillRect/>
          </a:stretch>
        </p:blipFill>
        <p:spPr>
          <a:xfrm>
            <a:off x="9213046" y="1280160"/>
            <a:ext cx="2239346" cy="4572000"/>
          </a:xfrm>
          <a:prstGeom prst="rect">
            <a:avLst/>
          </a:prstGeom>
        </p:spPr>
      </p:pic>
      <p:sp>
        <p:nvSpPr>
          <p:cNvPr id="19" name="TextBox 18"/>
          <p:cNvSpPr txBox="1"/>
          <p:nvPr/>
        </p:nvSpPr>
        <p:spPr>
          <a:xfrm>
            <a:off x="9144000" y="5897880"/>
            <a:ext cx="2377440" cy="320040"/>
          </a:xfrm>
          <a:prstGeom prst="rect">
            <a:avLst/>
          </a:prstGeom>
          <a:noFill/>
        </p:spPr>
        <p:txBody>
          <a:bodyPr wrap="square" lIns="45720" rIns="45720" tIns="18288" bIns="18288" anchor="t">
            <a:spAutoFit/>
          </a:bodyPr>
          <a:lstStyle/>
          <a:p>
            <a:pPr algn="ctr"/>
            <a:r>
              <a:rPr sz="1300" b="1" i="0">
                <a:solidFill>
                  <a:srgbClr val="1F4E79"/>
                </a:solidFill>
                <a:latin typeface="Calibri"/>
              </a:rPr>
              <a:t>P10 Guardada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DISEÑO DEL PROTOTIPO</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Módulos del NRUS, reportes y exportación</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Gonzales Maco, Fabrizzio Jhoel</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14</a:t>
            </a:r>
          </a:p>
        </p:txBody>
      </p:sp>
      <p:pic>
        <p:nvPicPr>
          <p:cNvPr id="9" name="Picture 8" descr="pantalla_14_categoria_y_cuota.png"/>
          <p:cNvPicPr>
            <a:picLocks noChangeAspect="1"/>
          </p:cNvPicPr>
          <p:nvPr/>
        </p:nvPicPr>
        <p:blipFill>
          <a:blip r:embed="rId4"/>
          <a:stretch>
            <a:fillRect/>
          </a:stretch>
        </p:blipFill>
        <p:spPr>
          <a:xfrm>
            <a:off x="501520" y="1280160"/>
            <a:ext cx="2060199" cy="4206240"/>
          </a:xfrm>
          <a:prstGeom prst="rect">
            <a:avLst/>
          </a:prstGeom>
        </p:spPr>
      </p:pic>
      <p:pic>
        <p:nvPicPr>
          <p:cNvPr id="10" name="Picture 9" descr="pantalla_15_vencimiento_y_recordatorio.png"/>
          <p:cNvPicPr>
            <a:picLocks noChangeAspect="1"/>
          </p:cNvPicPr>
          <p:nvPr/>
        </p:nvPicPr>
        <p:blipFill>
          <a:blip r:embed="rId5"/>
          <a:stretch>
            <a:fillRect/>
          </a:stretch>
        </p:blipFill>
        <p:spPr>
          <a:xfrm>
            <a:off x="2741800" y="1280160"/>
            <a:ext cx="2060199" cy="4206240"/>
          </a:xfrm>
          <a:prstGeom prst="rect">
            <a:avLst/>
          </a:prstGeom>
        </p:spPr>
      </p:pic>
      <p:pic>
        <p:nvPicPr>
          <p:cNvPr id="11" name="Picture 10" descr="reporte_mensual_pdf.png"/>
          <p:cNvPicPr>
            <a:picLocks noChangeAspect="1"/>
          </p:cNvPicPr>
          <p:nvPr/>
        </p:nvPicPr>
        <p:blipFill>
          <a:blip r:embed="rId6"/>
          <a:stretch>
            <a:fillRect/>
          </a:stretch>
        </p:blipFill>
        <p:spPr>
          <a:xfrm>
            <a:off x="4983480" y="1280160"/>
            <a:ext cx="2834640" cy="3779519"/>
          </a:xfrm>
          <a:prstGeom prst="rect">
            <a:avLst/>
          </a:prstGeom>
        </p:spPr>
      </p:pic>
      <p:pic>
        <p:nvPicPr>
          <p:cNvPr id="12" name="Picture 11" descr="pantalla_20_exportar_datos.png"/>
          <p:cNvPicPr>
            <a:picLocks noChangeAspect="1"/>
          </p:cNvPicPr>
          <p:nvPr/>
        </p:nvPicPr>
        <p:blipFill>
          <a:blip r:embed="rId7"/>
          <a:stretch>
            <a:fillRect/>
          </a:stretch>
        </p:blipFill>
        <p:spPr>
          <a:xfrm>
            <a:off x="8548240" y="1280160"/>
            <a:ext cx="2060199" cy="4206240"/>
          </a:xfrm>
          <a:prstGeom prst="rect">
            <a:avLst/>
          </a:prstGeom>
        </p:spPr>
      </p:pic>
      <p:sp>
        <p:nvSpPr>
          <p:cNvPr id="13" name="TextBox 12"/>
          <p:cNvSpPr txBox="1"/>
          <p:nvPr/>
        </p:nvSpPr>
        <p:spPr>
          <a:xfrm>
            <a:off x="457200" y="5532120"/>
            <a:ext cx="2148840" cy="274320"/>
          </a:xfrm>
          <a:prstGeom prst="rect">
            <a:avLst/>
          </a:prstGeom>
          <a:noFill/>
        </p:spPr>
        <p:txBody>
          <a:bodyPr wrap="square" lIns="45720" rIns="45720" tIns="18288" bIns="18288" anchor="t">
            <a:spAutoFit/>
          </a:bodyPr>
          <a:lstStyle/>
          <a:p>
            <a:pPr algn="ctr"/>
            <a:r>
              <a:rPr sz="1200" b="1" i="0">
                <a:solidFill>
                  <a:srgbClr val="1F4E79"/>
                </a:solidFill>
                <a:latin typeface="Calibri"/>
              </a:rPr>
              <a:t>P14 Categoría y cuota</a:t>
            </a:r>
          </a:p>
        </p:txBody>
      </p:sp>
      <p:sp>
        <p:nvSpPr>
          <p:cNvPr id="14" name="TextBox 13"/>
          <p:cNvSpPr txBox="1"/>
          <p:nvPr/>
        </p:nvSpPr>
        <p:spPr>
          <a:xfrm>
            <a:off x="2697480" y="5532120"/>
            <a:ext cx="2148840" cy="274320"/>
          </a:xfrm>
          <a:prstGeom prst="rect">
            <a:avLst/>
          </a:prstGeom>
          <a:noFill/>
        </p:spPr>
        <p:txBody>
          <a:bodyPr wrap="square" lIns="45720" rIns="45720" tIns="18288" bIns="18288" anchor="t">
            <a:spAutoFit/>
          </a:bodyPr>
          <a:lstStyle/>
          <a:p>
            <a:pPr algn="ctr"/>
            <a:r>
              <a:rPr sz="1200" b="1" i="0">
                <a:solidFill>
                  <a:srgbClr val="1F4E79"/>
                </a:solidFill>
                <a:latin typeface="Calibri"/>
              </a:rPr>
              <a:t>P15 Vencimiento</a:t>
            </a:r>
          </a:p>
        </p:txBody>
      </p:sp>
      <p:sp>
        <p:nvSpPr>
          <p:cNvPr id="15" name="TextBox 14"/>
          <p:cNvSpPr txBox="1"/>
          <p:nvPr/>
        </p:nvSpPr>
        <p:spPr>
          <a:xfrm>
            <a:off x="4983480" y="5532120"/>
            <a:ext cx="2834640" cy="274320"/>
          </a:xfrm>
          <a:prstGeom prst="rect">
            <a:avLst/>
          </a:prstGeom>
          <a:noFill/>
        </p:spPr>
        <p:txBody>
          <a:bodyPr wrap="square" lIns="45720" rIns="45720" tIns="18288" bIns="18288" anchor="t">
            <a:spAutoFit/>
          </a:bodyPr>
          <a:lstStyle/>
          <a:p>
            <a:pPr algn="ctr"/>
            <a:r>
              <a:rPr sz="1200" b="1" i="0">
                <a:solidFill>
                  <a:srgbClr val="1F4E79"/>
                </a:solidFill>
                <a:latin typeface="Calibri"/>
              </a:rPr>
              <a:t>Reporte mensual PDF</a:t>
            </a:r>
          </a:p>
        </p:txBody>
      </p:sp>
      <p:sp>
        <p:nvSpPr>
          <p:cNvPr id="16" name="TextBox 15"/>
          <p:cNvSpPr txBox="1"/>
          <p:nvPr/>
        </p:nvSpPr>
        <p:spPr>
          <a:xfrm>
            <a:off x="8503920" y="5532120"/>
            <a:ext cx="2148840" cy="274320"/>
          </a:xfrm>
          <a:prstGeom prst="rect">
            <a:avLst/>
          </a:prstGeom>
          <a:noFill/>
        </p:spPr>
        <p:txBody>
          <a:bodyPr wrap="square" lIns="45720" rIns="45720" tIns="18288" bIns="18288" anchor="t">
            <a:spAutoFit/>
          </a:bodyPr>
          <a:lstStyle/>
          <a:p>
            <a:pPr algn="ctr"/>
            <a:r>
              <a:rPr sz="1200" b="1" i="0">
                <a:solidFill>
                  <a:srgbClr val="1F4E79"/>
                </a:solidFill>
                <a:latin typeface="Calibri"/>
              </a:rPr>
              <a:t>P20 Exportar datos</a:t>
            </a:r>
          </a:p>
        </p:txBody>
      </p:sp>
      <p:sp>
        <p:nvSpPr>
          <p:cNvPr id="17" name="Rectangle 16"/>
          <p:cNvSpPr/>
          <p:nvPr/>
        </p:nvSpPr>
        <p:spPr>
          <a:xfrm>
            <a:off x="502920" y="5897880"/>
            <a:ext cx="11201400" cy="457200"/>
          </a:xfrm>
          <a:prstGeom prst="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97880"/>
            <a:ext cx="10881360" cy="457200"/>
          </a:xfrm>
          <a:prstGeom prst="rect">
            <a:avLst/>
          </a:prstGeom>
          <a:noFill/>
        </p:spPr>
        <p:txBody>
          <a:bodyPr wrap="square" lIns="45720" rIns="45720" tIns="18288" bIns="18288" anchor="ctr">
            <a:spAutoFit/>
          </a:bodyPr>
          <a:lstStyle/>
          <a:p>
            <a:pPr algn="l"/>
            <a:r>
              <a:rPr sz="1250" b="1" i="0">
                <a:solidFill>
                  <a:srgbClr val="1E7B4F"/>
                </a:solidFill>
                <a:latin typeface="Calibri"/>
              </a:rPr>
              <a:t>Herramienta: mockups vectoriales SVG editables en Figma o Penpot · 20 pantallas móviles + reporte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VALIDACIÓN DE LA SOLUCIÓN</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El diseño cubre el 100 % del alcance</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Gonzales Maco, Fabrizzio Jhoel</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15</a:t>
            </a:r>
          </a:p>
        </p:txBody>
      </p:sp>
      <p:sp>
        <p:nvSpPr>
          <p:cNvPr id="9" name="Rectangle 8"/>
          <p:cNvSpPr/>
          <p:nvPr/>
        </p:nvSpPr>
        <p:spPr>
          <a:xfrm>
            <a:off x="502920" y="1325880"/>
            <a:ext cx="2651760" cy="13258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17320"/>
            <a:ext cx="2651760" cy="640080"/>
          </a:xfrm>
          <a:prstGeom prst="rect">
            <a:avLst/>
          </a:prstGeom>
          <a:noFill/>
        </p:spPr>
        <p:txBody>
          <a:bodyPr wrap="square" lIns="45720" rIns="45720" tIns="18288" bIns="18288" anchor="t">
            <a:spAutoFit/>
          </a:bodyPr>
          <a:lstStyle/>
          <a:p>
            <a:pPr algn="ctr"/>
            <a:r>
              <a:rPr sz="3200" b="1" i="0">
                <a:solidFill>
                  <a:srgbClr val="1E7B4F"/>
                </a:solidFill>
                <a:latin typeface="Calibri"/>
              </a:rPr>
              <a:t>22 / 22</a:t>
            </a:r>
          </a:p>
        </p:txBody>
      </p:sp>
      <p:sp>
        <p:nvSpPr>
          <p:cNvPr id="11" name="TextBox 10"/>
          <p:cNvSpPr txBox="1"/>
          <p:nvPr/>
        </p:nvSpPr>
        <p:spPr>
          <a:xfrm>
            <a:off x="502920" y="203911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requerimientos funcionales cubiertos</a:t>
            </a:r>
          </a:p>
        </p:txBody>
      </p:sp>
      <p:sp>
        <p:nvSpPr>
          <p:cNvPr id="12" name="Rectangle 11"/>
          <p:cNvSpPr/>
          <p:nvPr/>
        </p:nvSpPr>
        <p:spPr>
          <a:xfrm>
            <a:off x="3337560" y="1325880"/>
            <a:ext cx="2651760" cy="13258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1417320"/>
            <a:ext cx="2651760" cy="640080"/>
          </a:xfrm>
          <a:prstGeom prst="rect">
            <a:avLst/>
          </a:prstGeom>
          <a:noFill/>
        </p:spPr>
        <p:txBody>
          <a:bodyPr wrap="square" lIns="45720" rIns="45720" tIns="18288" bIns="18288" anchor="t">
            <a:spAutoFit/>
          </a:bodyPr>
          <a:lstStyle/>
          <a:p>
            <a:pPr algn="ctr"/>
            <a:r>
              <a:rPr sz="3200" b="1" i="0">
                <a:solidFill>
                  <a:srgbClr val="1E7B4F"/>
                </a:solidFill>
                <a:latin typeface="Calibri"/>
              </a:rPr>
              <a:t>19 / 19</a:t>
            </a:r>
          </a:p>
        </p:txBody>
      </p:sp>
      <p:sp>
        <p:nvSpPr>
          <p:cNvPr id="14" name="TextBox 13"/>
          <p:cNvSpPr txBox="1"/>
          <p:nvPr/>
        </p:nvSpPr>
        <p:spPr>
          <a:xfrm>
            <a:off x="3337560" y="203911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no funcionales con decisión de diseño</a:t>
            </a:r>
          </a:p>
        </p:txBody>
      </p:sp>
      <p:sp>
        <p:nvSpPr>
          <p:cNvPr id="15" name="Rectangle 14"/>
          <p:cNvSpPr/>
          <p:nvPr/>
        </p:nvSpPr>
        <p:spPr>
          <a:xfrm>
            <a:off x="6172200" y="1325880"/>
            <a:ext cx="2651760" cy="13258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417320"/>
            <a:ext cx="2651760" cy="640080"/>
          </a:xfrm>
          <a:prstGeom prst="rect">
            <a:avLst/>
          </a:prstGeom>
          <a:noFill/>
        </p:spPr>
        <p:txBody>
          <a:bodyPr wrap="square" lIns="45720" rIns="45720" tIns="18288" bIns="18288" anchor="t">
            <a:spAutoFit/>
          </a:bodyPr>
          <a:lstStyle/>
          <a:p>
            <a:pPr algn="ctr"/>
            <a:r>
              <a:rPr sz="3200" b="1" i="0">
                <a:solidFill>
                  <a:srgbClr val="1F4E79"/>
                </a:solidFill>
                <a:latin typeface="Calibri"/>
              </a:rPr>
              <a:t>10 / 10</a:t>
            </a:r>
          </a:p>
        </p:txBody>
      </p:sp>
      <p:sp>
        <p:nvSpPr>
          <p:cNvPr id="17" name="TextBox 16"/>
          <p:cNvSpPr txBox="1"/>
          <p:nvPr/>
        </p:nvSpPr>
        <p:spPr>
          <a:xfrm>
            <a:off x="6172200" y="203911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heurísticas de Nielsen revisadas</a:t>
            </a:r>
          </a:p>
        </p:txBody>
      </p:sp>
      <p:sp>
        <p:nvSpPr>
          <p:cNvPr id="18" name="Rectangle 17"/>
          <p:cNvSpPr/>
          <p:nvPr/>
        </p:nvSpPr>
        <p:spPr>
          <a:xfrm>
            <a:off x="9006840" y="1325880"/>
            <a:ext cx="2651760" cy="13258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1417320"/>
            <a:ext cx="2651760" cy="640080"/>
          </a:xfrm>
          <a:prstGeom prst="rect">
            <a:avLst/>
          </a:prstGeom>
          <a:noFill/>
        </p:spPr>
        <p:txBody>
          <a:bodyPr wrap="square" lIns="45720" rIns="45720" tIns="18288" bIns="18288" anchor="t">
            <a:spAutoFit/>
          </a:bodyPr>
          <a:lstStyle/>
          <a:p>
            <a:pPr algn="ctr"/>
            <a:r>
              <a:rPr sz="3200" b="1" i="0">
                <a:solidFill>
                  <a:srgbClr val="1F4E79"/>
                </a:solidFill>
                <a:latin typeface="Calibri"/>
              </a:rPr>
              <a:t>6</a:t>
            </a:r>
          </a:p>
        </p:txBody>
      </p:sp>
      <p:sp>
        <p:nvSpPr>
          <p:cNvPr id="20" name="TextBox 19"/>
          <p:cNvSpPr txBox="1"/>
          <p:nvPr/>
        </p:nvSpPr>
        <p:spPr>
          <a:xfrm>
            <a:off x="9006840" y="2039112"/>
            <a:ext cx="2651760" cy="457200"/>
          </a:xfrm>
          <a:prstGeom prst="rect">
            <a:avLst/>
          </a:prstGeom>
          <a:noFill/>
        </p:spPr>
        <p:txBody>
          <a:bodyPr wrap="square" lIns="45720" rIns="45720" tIns="18288" bIns="18288" anchor="t">
            <a:spAutoFit/>
          </a:bodyPr>
          <a:lstStyle/>
          <a:p>
            <a:pPr algn="ctr"/>
            <a:r>
              <a:rPr sz="1150" b="0" i="0">
                <a:solidFill>
                  <a:srgbClr val="404040"/>
                </a:solidFill>
                <a:latin typeface="Calibri"/>
              </a:rPr>
              <a:t>tareas en la prueba con 3 titulares</a:t>
            </a:r>
          </a:p>
        </p:txBody>
      </p:sp>
      <p:graphicFrame>
        <p:nvGraphicFramePr>
          <p:cNvPr id="21" name="Table 20"/>
          <p:cNvGraphicFramePr>
            <a:graphicFrameLocks noGrp="1"/>
          </p:cNvGraphicFramePr>
          <p:nvPr/>
        </p:nvGraphicFramePr>
        <p:xfrm>
          <a:off x="502920" y="2880360"/>
          <a:ext cx="7498079" cy="3008376"/>
        </p:xfrm>
        <a:graphic>
          <a:graphicData uri="http://schemas.openxmlformats.org/drawingml/2006/table">
            <a:tbl>
              <a:tblPr firstRow="1" bandRow="1">
                <a:tableStyleId>{5C22544A-7EE6-4342-B048-85BDC9FD1C3A}</a:tableStyleId>
              </a:tblPr>
              <a:tblGrid>
                <a:gridCol w="2811779"/>
                <a:gridCol w="2999232"/>
                <a:gridCol w="1687068"/>
              </a:tblGrid>
              <a:tr h="429768">
                <a:tc>
                  <a:txBody>
                    <a:bodyPr/>
                    <a:lstStyle/>
                    <a:p>
                      <a:pPr algn="ctr"/>
                      <a:r>
                        <a:rPr sz="1200" b="1">
                          <a:solidFill>
                            <a:srgbClr val="FFFFFF"/>
                          </a:solidFill>
                          <a:latin typeface="Calibri"/>
                        </a:rPr>
                        <a:t>Escenario verificado en el prototipo</a:t>
                      </a:r>
                    </a:p>
                  </a:txBody>
                  <a:tcPr marL="54864" marR="54864" marT="18288" marB="18288" anchor="ctr">
                    <a:solidFill>
                      <a:srgbClr val="1F4E79"/>
                    </a:solidFill>
                  </a:tcPr>
                </a:tc>
                <a:tc>
                  <a:txBody>
                    <a:bodyPr/>
                    <a:lstStyle/>
                    <a:p>
                      <a:pPr algn="ctr"/>
                      <a:r>
                        <a:rPr sz="1200" b="1">
                          <a:solidFill>
                            <a:srgbClr val="FFFFFF"/>
                          </a:solidFill>
                          <a:latin typeface="Calibri"/>
                        </a:rPr>
                        <a:t>Resultado esperado</a:t>
                      </a:r>
                    </a:p>
                  </a:txBody>
                  <a:tcPr marL="54864" marR="54864" marT="18288" marB="18288" anchor="ctr">
                    <a:solidFill>
                      <a:srgbClr val="1F4E79"/>
                    </a:solidFill>
                  </a:tcPr>
                </a:tc>
                <a:tc>
                  <a:txBody>
                    <a:bodyPr/>
                    <a:lstStyle/>
                    <a:p>
                      <a:pPr algn="ctr"/>
                      <a:r>
                        <a:rPr sz="1200" b="1">
                          <a:solidFill>
                            <a:srgbClr val="FFFFFF"/>
                          </a:solidFill>
                          <a:latin typeface="Calibri"/>
                        </a:rPr>
                        <a:t>Pantallas</a:t>
                      </a:r>
                    </a:p>
                  </a:txBody>
                  <a:tcPr marL="54864" marR="54864" marT="18288" marB="18288" anchor="ctr">
                    <a:solidFill>
                      <a:srgbClr val="1F4E79"/>
                    </a:solidFill>
                  </a:tcPr>
                </a:tc>
              </a:tr>
              <a:tr h="429768">
                <a:tc>
                  <a:txBody>
                    <a:bodyPr/>
                    <a:lstStyle/>
                    <a:p>
                      <a:r>
                        <a:rPr sz="1200" b="1">
                          <a:solidFill>
                            <a:srgbClr val="262626"/>
                          </a:solidFill>
                          <a:latin typeface="Calibri"/>
                        </a:rPr>
                        <a:t>Factura legible</a:t>
                      </a:r>
                    </a:p>
                  </a:txBody>
                  <a:tcPr marL="54864" marR="54864" marT="18288" marB="18288" anchor="ctr">
                    <a:solidFill>
                      <a:srgbClr val="FFFFFF"/>
                    </a:solidFill>
                  </a:tcPr>
                </a:tc>
                <a:tc>
                  <a:txBody>
                    <a:bodyPr/>
                    <a:lstStyle/>
                    <a:p>
                      <a:pPr algn="ctr"/>
                      <a:r>
                        <a:rPr sz="1200" b="0">
                          <a:solidFill>
                            <a:srgbClr val="262626"/>
                          </a:solidFill>
                          <a:latin typeface="Calibri"/>
                        </a:rPr>
                        <a:t>Campos leídos; total S/ 4 120,50</a:t>
                      </a:r>
                    </a:p>
                  </a:txBody>
                  <a:tcPr marL="54864" marR="54864" marT="18288" marB="18288" anchor="ctr">
                    <a:solidFill>
                      <a:srgbClr val="FFFFFF"/>
                    </a:solidFill>
                  </a:tcPr>
                </a:tc>
                <a:tc>
                  <a:txBody>
                    <a:bodyPr/>
                    <a:lstStyle/>
                    <a:p>
                      <a:pPr algn="ctr"/>
                      <a:r>
                        <a:rPr sz="1200" b="0">
                          <a:solidFill>
                            <a:srgbClr val="262626"/>
                          </a:solidFill>
                          <a:latin typeface="Calibri"/>
                        </a:rPr>
                        <a:t>P06–P10</a:t>
                      </a:r>
                    </a:p>
                  </a:txBody>
                  <a:tcPr marL="54864" marR="54864" marT="18288" marB="18288" anchor="ctr">
                    <a:solidFill>
                      <a:srgbClr val="FFFFFF"/>
                    </a:solidFill>
                  </a:tcPr>
                </a:tc>
              </a:tr>
              <a:tr h="429768">
                <a:tc>
                  <a:txBody>
                    <a:bodyPr/>
                    <a:lstStyle/>
                    <a:p>
                      <a:r>
                        <a:rPr sz="1200" b="1">
                          <a:solidFill>
                            <a:srgbClr val="262626"/>
                          </a:solidFill>
                          <a:latin typeface="Calibri"/>
                        </a:rPr>
                        <a:t>Importe con baja confianza</a:t>
                      </a:r>
                    </a:p>
                  </a:txBody>
                  <a:tcPr marL="54864" marR="54864" marT="18288" marB="18288" anchor="ctr">
                    <a:solidFill>
                      <a:srgbClr val="F6F8FA"/>
                    </a:solidFill>
                  </a:tcPr>
                </a:tc>
                <a:tc>
                  <a:txBody>
                    <a:bodyPr/>
                    <a:lstStyle/>
                    <a:p>
                      <a:pPr algn="ctr"/>
                      <a:r>
                        <a:rPr sz="1200" b="0">
                          <a:solidFill>
                            <a:srgbClr val="262626"/>
                          </a:solidFill>
                          <a:latin typeface="Calibri"/>
                        </a:rPr>
                        <a:t>Campo en ámbar para revisar</a:t>
                      </a:r>
                    </a:p>
                  </a:txBody>
                  <a:tcPr marL="54864" marR="54864" marT="18288" marB="18288" anchor="ctr">
                    <a:solidFill>
                      <a:srgbClr val="F6F8FA"/>
                    </a:solidFill>
                  </a:tcPr>
                </a:tc>
                <a:tc>
                  <a:txBody>
                    <a:bodyPr/>
                    <a:lstStyle/>
                    <a:p>
                      <a:pPr algn="ctr"/>
                      <a:r>
                        <a:rPr sz="1200" b="0">
                          <a:solidFill>
                            <a:srgbClr val="262626"/>
                          </a:solidFill>
                          <a:latin typeface="Calibri"/>
                        </a:rPr>
                        <a:t>P08</a:t>
                      </a:r>
                    </a:p>
                  </a:txBody>
                  <a:tcPr marL="54864" marR="54864" marT="18288" marB="18288" anchor="ctr">
                    <a:solidFill>
                      <a:srgbClr val="F6F8FA"/>
                    </a:solidFill>
                  </a:tcPr>
                </a:tc>
              </a:tr>
              <a:tr h="429768">
                <a:tc>
                  <a:txBody>
                    <a:bodyPr/>
                    <a:lstStyle/>
                    <a:p>
                      <a:r>
                        <a:rPr sz="1200" b="1">
                          <a:solidFill>
                            <a:srgbClr val="262626"/>
                          </a:solidFill>
                          <a:latin typeface="Calibri"/>
                        </a:rPr>
                        <a:t>Factura duplicada</a:t>
                      </a:r>
                    </a:p>
                  </a:txBody>
                  <a:tcPr marL="54864" marR="54864" marT="18288" marB="18288" anchor="ctr">
                    <a:solidFill>
                      <a:srgbClr val="FFFFFF"/>
                    </a:solidFill>
                  </a:tcPr>
                </a:tc>
                <a:tc>
                  <a:txBody>
                    <a:bodyPr/>
                    <a:lstStyle/>
                    <a:p>
                      <a:pPr algn="ctr"/>
                      <a:r>
                        <a:rPr sz="1200" b="0">
                          <a:solidFill>
                            <a:srgbClr val="262626"/>
                          </a:solidFill>
                          <a:latin typeface="Calibri"/>
                        </a:rPr>
                        <a:t>Aviso; no se registra</a:t>
                      </a:r>
                    </a:p>
                  </a:txBody>
                  <a:tcPr marL="54864" marR="54864" marT="18288" marB="18288" anchor="ctr">
                    <a:solidFill>
                      <a:srgbClr val="FFFFFF"/>
                    </a:solidFill>
                  </a:tcPr>
                </a:tc>
                <a:tc>
                  <a:txBody>
                    <a:bodyPr/>
                    <a:lstStyle/>
                    <a:p>
                      <a:pPr algn="ctr"/>
                      <a:r>
                        <a:rPr sz="1200" b="0">
                          <a:solidFill>
                            <a:srgbClr val="262626"/>
                          </a:solidFill>
                          <a:latin typeface="Calibri"/>
                        </a:rPr>
                        <a:t>P09</a:t>
                      </a:r>
                    </a:p>
                  </a:txBody>
                  <a:tcPr marL="54864" marR="54864" marT="18288" marB="18288" anchor="ctr">
                    <a:solidFill>
                      <a:srgbClr val="FFFFFF"/>
                    </a:solidFill>
                  </a:tcPr>
                </a:tc>
              </a:tr>
              <a:tr h="429768">
                <a:tc>
                  <a:txBody>
                    <a:bodyPr/>
                    <a:lstStyle/>
                    <a:p>
                      <a:r>
                        <a:rPr sz="1200" b="1">
                          <a:solidFill>
                            <a:srgbClr val="262626"/>
                          </a:solidFill>
                          <a:latin typeface="Calibri"/>
                        </a:rPr>
                        <a:t>Equipo de 4 GB</a:t>
                      </a:r>
                    </a:p>
                  </a:txBody>
                  <a:tcPr marL="54864" marR="54864" marT="18288" marB="18288" anchor="ctr">
                    <a:solidFill>
                      <a:srgbClr val="F6F8FA"/>
                    </a:solidFill>
                  </a:tcPr>
                </a:tc>
                <a:tc>
                  <a:txBody>
                    <a:bodyPr/>
                    <a:lstStyle/>
                    <a:p>
                      <a:pPr algn="ctr"/>
                      <a:r>
                        <a:rPr sz="1200" b="0">
                          <a:solidFill>
                            <a:srgbClr val="262626"/>
                          </a:solidFill>
                          <a:latin typeface="Calibri"/>
                        </a:rPr>
                        <a:t>Registro manual validado</a:t>
                      </a:r>
                    </a:p>
                  </a:txBody>
                  <a:tcPr marL="54864" marR="54864" marT="18288" marB="18288" anchor="ctr">
                    <a:solidFill>
                      <a:srgbClr val="F6F8FA"/>
                    </a:solidFill>
                  </a:tcPr>
                </a:tc>
                <a:tc>
                  <a:txBody>
                    <a:bodyPr/>
                    <a:lstStyle/>
                    <a:p>
                      <a:pPr algn="ctr"/>
                      <a:r>
                        <a:rPr sz="1200" b="0">
                          <a:solidFill>
                            <a:srgbClr val="262626"/>
                          </a:solidFill>
                          <a:latin typeface="Calibri"/>
                        </a:rPr>
                        <a:t>P03, P19</a:t>
                      </a:r>
                    </a:p>
                  </a:txBody>
                  <a:tcPr marL="54864" marR="54864" marT="18288" marB="18288" anchor="ctr">
                    <a:solidFill>
                      <a:srgbClr val="F6F8FA"/>
                    </a:solidFill>
                  </a:tcPr>
                </a:tc>
              </a:tr>
              <a:tr h="429768">
                <a:tc>
                  <a:txBody>
                    <a:bodyPr/>
                    <a:lstStyle/>
                    <a:p>
                      <a:r>
                        <a:rPr sz="1200" b="1">
                          <a:solidFill>
                            <a:srgbClr val="262626"/>
                          </a:solidFill>
                          <a:latin typeface="Calibri"/>
                        </a:rPr>
                        <a:t>Más del 80 % del límite</a:t>
                      </a:r>
                    </a:p>
                  </a:txBody>
                  <a:tcPr marL="54864" marR="54864" marT="18288" marB="18288" anchor="ctr">
                    <a:solidFill>
                      <a:srgbClr val="FFFFFF"/>
                    </a:solidFill>
                  </a:tcPr>
                </a:tc>
                <a:tc>
                  <a:txBody>
                    <a:bodyPr/>
                    <a:lstStyle/>
                    <a:p>
                      <a:pPr algn="ctr"/>
                      <a:r>
                        <a:rPr sz="1200" b="0">
                          <a:solidFill>
                            <a:srgbClr val="262626"/>
                          </a:solidFill>
                          <a:latin typeface="Calibri"/>
                        </a:rPr>
                        <a:t>Barra y aviso en ámbar</a:t>
                      </a:r>
                    </a:p>
                  </a:txBody>
                  <a:tcPr marL="54864" marR="54864" marT="18288" marB="18288" anchor="ctr">
                    <a:solidFill>
                      <a:srgbClr val="FFFFFF"/>
                    </a:solidFill>
                  </a:tcPr>
                </a:tc>
                <a:tc>
                  <a:txBody>
                    <a:bodyPr/>
                    <a:lstStyle/>
                    <a:p>
                      <a:pPr algn="ctr"/>
                      <a:r>
                        <a:rPr sz="1200" b="0">
                          <a:solidFill>
                            <a:srgbClr val="262626"/>
                          </a:solidFill>
                          <a:latin typeface="Calibri"/>
                        </a:rPr>
                        <a:t>P04, P10, P14</a:t>
                      </a:r>
                    </a:p>
                  </a:txBody>
                  <a:tcPr marL="54864" marR="54864" marT="18288" marB="18288" anchor="ctr">
                    <a:solidFill>
                      <a:srgbClr val="FFFFFF"/>
                    </a:solidFill>
                  </a:tcPr>
                </a:tc>
              </a:tr>
              <a:tr h="429768">
                <a:tc>
                  <a:txBody>
                    <a:bodyPr/>
                    <a:lstStyle/>
                    <a:p>
                      <a:r>
                        <a:rPr sz="1200" b="1">
                          <a:solidFill>
                            <a:srgbClr val="262626"/>
                          </a:solidFill>
                          <a:latin typeface="Calibri"/>
                        </a:rPr>
                        <a:t>Anular por error</a:t>
                      </a:r>
                    </a:p>
                  </a:txBody>
                  <a:tcPr marL="54864" marR="54864" marT="18288" marB="18288" anchor="ctr">
                    <a:solidFill>
                      <a:srgbClr val="F6F8FA"/>
                    </a:solidFill>
                  </a:tcPr>
                </a:tc>
                <a:tc>
                  <a:txBody>
                    <a:bodyPr/>
                    <a:lstStyle/>
                    <a:p>
                      <a:pPr algn="ctr"/>
                      <a:r>
                        <a:rPr sz="1200" b="0">
                          <a:solidFill>
                            <a:srgbClr val="262626"/>
                          </a:solidFill>
                          <a:latin typeface="Calibri"/>
                        </a:rPr>
                        <a:t>Se descuenta y recalcula</a:t>
                      </a:r>
                    </a:p>
                  </a:txBody>
                  <a:tcPr marL="54864" marR="54864" marT="18288" marB="18288" anchor="ctr">
                    <a:solidFill>
                      <a:srgbClr val="F6F8FA"/>
                    </a:solidFill>
                  </a:tcPr>
                </a:tc>
                <a:tc>
                  <a:txBody>
                    <a:bodyPr/>
                    <a:lstStyle/>
                    <a:p>
                      <a:pPr algn="ctr"/>
                      <a:r>
                        <a:rPr sz="1200" b="0">
                          <a:solidFill>
                            <a:srgbClr val="262626"/>
                          </a:solidFill>
                          <a:latin typeface="Calibri"/>
                        </a:rPr>
                        <a:t>P12</a:t>
                      </a:r>
                    </a:p>
                  </a:txBody>
                  <a:tcPr marL="54864" marR="54864" marT="18288" marB="18288" anchor="ctr">
                    <a:solidFill>
                      <a:srgbClr val="F6F8FA"/>
                    </a:solidFill>
                  </a:tcPr>
                </a:tc>
              </a:tr>
            </a:tbl>
          </a:graphicData>
        </a:graphic>
      </p:graphicFrame>
      <p:sp>
        <p:nvSpPr>
          <p:cNvPr id="22" name="Rectangle 21"/>
          <p:cNvSpPr/>
          <p:nvPr/>
        </p:nvSpPr>
        <p:spPr>
          <a:xfrm>
            <a:off x="8229600" y="2880360"/>
            <a:ext cx="3474720" cy="301752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2880360"/>
            <a:ext cx="347472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3017520"/>
            <a:ext cx="3200400" cy="320040"/>
          </a:xfrm>
          <a:prstGeom prst="rect">
            <a:avLst/>
          </a:prstGeom>
          <a:noFill/>
        </p:spPr>
        <p:txBody>
          <a:bodyPr wrap="square" lIns="45720" rIns="45720" tIns="18288" bIns="18288" anchor="t">
            <a:spAutoFit/>
          </a:bodyPr>
          <a:lstStyle/>
          <a:p>
            <a:pPr algn="l"/>
            <a:r>
              <a:rPr sz="1300" b="1" i="0">
                <a:solidFill>
                  <a:srgbClr val="1E7B4F"/>
                </a:solidFill>
                <a:latin typeface="Calibri"/>
              </a:rPr>
              <a:t>Metas de usabilidad (I4, sem. 11–12)</a:t>
            </a:r>
          </a:p>
        </p:txBody>
      </p:sp>
      <p:sp>
        <p:nvSpPr>
          <p:cNvPr id="25" name="TextBox 24"/>
          <p:cNvSpPr txBox="1"/>
          <p:nvPr/>
        </p:nvSpPr>
        <p:spPr>
          <a:xfrm>
            <a:off x="8366760" y="3337560"/>
            <a:ext cx="3200400" cy="2468879"/>
          </a:xfrm>
          <a:prstGeom prst="rect">
            <a:avLst/>
          </a:prstGeom>
          <a:noFill/>
        </p:spPr>
        <p:txBody>
          <a:bodyPr wrap="square" lIns="45720" rIns="45720">
            <a:spAutoFit/>
          </a:bodyPr>
          <a:lstStyle/>
          <a:p>
            <a:pPr marL="182880" indent="-182880">
              <a:spcAft>
                <a:spcPts val="400"/>
              </a:spcAft>
              <a:buChar char="•"/>
            </a:pPr>
            <a:r>
              <a:rPr sz="1250" b="0">
                <a:solidFill>
                  <a:srgbClr val="262626"/>
                </a:solidFill>
                <a:latin typeface="Calibri"/>
              </a:rPr>
              <a:t>≥ 5 de 6 tareas sin ayuda</a:t>
            </a:r>
          </a:p>
          <a:p>
            <a:pPr marL="182880" indent="-182880">
              <a:spcAft>
                <a:spcPts val="400"/>
              </a:spcAft>
              <a:buChar char="•"/>
            </a:pPr>
            <a:r>
              <a:rPr sz="1250" b="0">
                <a:solidFill>
                  <a:srgbClr val="262626"/>
                </a:solidFill>
                <a:latin typeface="Calibri"/>
              </a:rPr>
              <a:t>≤ 3 toques para registrar</a:t>
            </a:r>
          </a:p>
          <a:p>
            <a:pPr marL="182880" indent="-182880">
              <a:spcAft>
                <a:spcPts val="400"/>
              </a:spcAft>
              <a:buChar char="•"/>
            </a:pPr>
            <a:r>
              <a:rPr sz="1250" b="0">
                <a:solidFill>
                  <a:srgbClr val="262626"/>
                </a:solidFill>
                <a:latin typeface="Calibri"/>
              </a:rPr>
              <a:t>≤ 30 s por factura</a:t>
            </a:r>
          </a:p>
          <a:p>
            <a:pPr marL="182880" indent="-182880">
              <a:spcAft>
                <a:spcPts val="400"/>
              </a:spcAft>
              <a:buChar char="•"/>
            </a:pPr>
            <a:r>
              <a:rPr sz="1250" b="0">
                <a:solidFill>
                  <a:srgbClr val="262626"/>
                </a:solidFill>
                <a:latin typeface="Calibri"/>
              </a:rPr>
              <a:t>SUS ≥ 70 puntos</a:t>
            </a:r>
          </a:p>
          <a:p>
            <a:pPr marL="182880" indent="-182880">
              <a:spcAft>
                <a:spcPts val="400"/>
              </a:spcAft>
              <a:buChar char="•"/>
            </a:pPr>
            <a:r>
              <a:rPr sz="1250" b="0">
                <a:solidFill>
                  <a:srgbClr val="262626"/>
                </a:solidFill>
                <a:latin typeface="Calibri"/>
              </a:rPr>
              <a:t>0 errores al leer la categoría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CRONOGRAMA Y PRESUPUESTO</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Cronograma al corte de la semana 8 y presupuesto</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Damián Valdivia, Diego Aarón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16</a:t>
            </a:r>
          </a:p>
        </p:txBody>
      </p:sp>
      <p:pic>
        <p:nvPicPr>
          <p:cNvPr id="9" name="Picture 8" descr="gantt_actualizado.png"/>
          <p:cNvPicPr>
            <a:picLocks noChangeAspect="1"/>
          </p:cNvPicPr>
          <p:nvPr/>
        </p:nvPicPr>
        <p:blipFill>
          <a:blip r:embed="rId4"/>
          <a:stretch>
            <a:fillRect/>
          </a:stretch>
        </p:blipFill>
        <p:spPr>
          <a:xfrm>
            <a:off x="411480" y="1280160"/>
            <a:ext cx="7589520" cy="3536026"/>
          </a:xfrm>
          <a:prstGeom prst="rect">
            <a:avLst/>
          </a:prstGeom>
        </p:spPr>
      </p:pic>
      <p:sp>
        <p:nvSpPr>
          <p:cNvPr id="10" name="Rectangle 9"/>
          <p:cNvSpPr/>
          <p:nvPr/>
        </p:nvSpPr>
        <p:spPr>
          <a:xfrm>
            <a:off x="8275320" y="1325880"/>
            <a:ext cx="3429000" cy="850392"/>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371600"/>
            <a:ext cx="1737360" cy="731520"/>
          </a:xfrm>
          <a:prstGeom prst="rect">
            <a:avLst/>
          </a:prstGeom>
          <a:noFill/>
        </p:spPr>
        <p:txBody>
          <a:bodyPr wrap="square" lIns="45720" rIns="45720" tIns="18288" bIns="18288" anchor="ctr">
            <a:spAutoFit/>
          </a:bodyPr>
          <a:lstStyle/>
          <a:p>
            <a:pPr algn="l"/>
            <a:r>
              <a:rPr sz="2200" b="1" i="0">
                <a:solidFill>
                  <a:srgbClr val="C00000"/>
                </a:solidFill>
                <a:latin typeface="Calibri"/>
              </a:rPr>
              <a:t>S/ 242</a:t>
            </a:r>
          </a:p>
        </p:txBody>
      </p:sp>
      <p:sp>
        <p:nvSpPr>
          <p:cNvPr id="12" name="TextBox 11"/>
          <p:cNvSpPr txBox="1"/>
          <p:nvPr/>
        </p:nvSpPr>
        <p:spPr>
          <a:xfrm>
            <a:off x="10058400" y="1371600"/>
            <a:ext cx="1600200" cy="731520"/>
          </a:xfrm>
          <a:prstGeom prst="rect">
            <a:avLst/>
          </a:prstGeom>
          <a:noFill/>
        </p:spPr>
        <p:txBody>
          <a:bodyPr wrap="square" lIns="45720" rIns="45720" tIns="18288" bIns="18288" anchor="ctr">
            <a:spAutoFit/>
          </a:bodyPr>
          <a:lstStyle/>
          <a:p>
            <a:pPr algn="l"/>
            <a:r>
              <a:rPr sz="1150" b="0" i="0">
                <a:solidFill>
                  <a:srgbClr val="404040"/>
                </a:solidFill>
                <a:latin typeface="Calibri"/>
              </a:rPr>
              <a:t>desembolso del proyecto</a:t>
            </a:r>
          </a:p>
        </p:txBody>
      </p:sp>
      <p:sp>
        <p:nvSpPr>
          <p:cNvPr id="13" name="Rectangle 12"/>
          <p:cNvSpPr/>
          <p:nvPr/>
        </p:nvSpPr>
        <p:spPr>
          <a:xfrm>
            <a:off x="8275320" y="2267712"/>
            <a:ext cx="3429000" cy="850392"/>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2313432"/>
            <a:ext cx="1737360" cy="731520"/>
          </a:xfrm>
          <a:prstGeom prst="rect">
            <a:avLst/>
          </a:prstGeom>
          <a:noFill/>
        </p:spPr>
        <p:txBody>
          <a:bodyPr wrap="square" lIns="45720" rIns="45720" tIns="18288" bIns="18288" anchor="ctr">
            <a:spAutoFit/>
          </a:bodyPr>
          <a:lstStyle/>
          <a:p>
            <a:pPr algn="l"/>
            <a:r>
              <a:rPr sz="2200" b="1" i="0">
                <a:solidFill>
                  <a:srgbClr val="1F4E79"/>
                </a:solidFill>
                <a:latin typeface="Calibri"/>
              </a:rPr>
              <a:t>S/ 19 342</a:t>
            </a:r>
          </a:p>
        </p:txBody>
      </p:sp>
      <p:sp>
        <p:nvSpPr>
          <p:cNvPr id="15" name="TextBox 14"/>
          <p:cNvSpPr txBox="1"/>
          <p:nvPr/>
        </p:nvSpPr>
        <p:spPr>
          <a:xfrm>
            <a:off x="10058400" y="2313432"/>
            <a:ext cx="1600200" cy="731520"/>
          </a:xfrm>
          <a:prstGeom prst="rect">
            <a:avLst/>
          </a:prstGeom>
          <a:noFill/>
        </p:spPr>
        <p:txBody>
          <a:bodyPr wrap="square" lIns="45720" rIns="45720" tIns="18288" bIns="18288" anchor="ctr">
            <a:spAutoFit/>
          </a:bodyPr>
          <a:lstStyle/>
          <a:p>
            <a:pPr algn="l"/>
            <a:r>
              <a:rPr sz="1150" b="0" i="0">
                <a:solidFill>
                  <a:srgbClr val="404040"/>
                </a:solidFill>
                <a:latin typeface="Calibri"/>
              </a:rPr>
              <a:t>incluyendo aportes del equipo</a:t>
            </a:r>
          </a:p>
        </p:txBody>
      </p:sp>
      <p:sp>
        <p:nvSpPr>
          <p:cNvPr id="16" name="Rectangle 15"/>
          <p:cNvSpPr/>
          <p:nvPr/>
        </p:nvSpPr>
        <p:spPr>
          <a:xfrm>
            <a:off x="8275320" y="3209544"/>
            <a:ext cx="3429000" cy="850392"/>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3255263"/>
            <a:ext cx="1737360" cy="731520"/>
          </a:xfrm>
          <a:prstGeom prst="rect">
            <a:avLst/>
          </a:prstGeom>
          <a:noFill/>
        </p:spPr>
        <p:txBody>
          <a:bodyPr wrap="square" lIns="45720" rIns="45720" tIns="18288" bIns="18288" anchor="ctr">
            <a:spAutoFit/>
          </a:bodyPr>
          <a:lstStyle/>
          <a:p>
            <a:pPr algn="l"/>
            <a:r>
              <a:rPr sz="2200" b="1" i="0">
                <a:solidFill>
                  <a:srgbClr val="1E7B4F"/>
                </a:solidFill>
                <a:latin typeface="Calibri"/>
              </a:rPr>
              <a:t>S/ 0</a:t>
            </a:r>
          </a:p>
        </p:txBody>
      </p:sp>
      <p:sp>
        <p:nvSpPr>
          <p:cNvPr id="18" name="TextBox 17"/>
          <p:cNvSpPr txBox="1"/>
          <p:nvPr/>
        </p:nvSpPr>
        <p:spPr>
          <a:xfrm>
            <a:off x="10058400" y="3255263"/>
            <a:ext cx="1600200" cy="731520"/>
          </a:xfrm>
          <a:prstGeom prst="rect">
            <a:avLst/>
          </a:prstGeom>
          <a:noFill/>
        </p:spPr>
        <p:txBody>
          <a:bodyPr wrap="square" lIns="45720" rIns="45720" tIns="18288" bIns="18288" anchor="ctr">
            <a:spAutoFit/>
          </a:bodyPr>
          <a:lstStyle/>
          <a:p>
            <a:pPr algn="l"/>
            <a:r>
              <a:rPr sz="1150" b="0" i="0">
                <a:solidFill>
                  <a:srgbClr val="404040"/>
                </a:solidFill>
                <a:latin typeface="Calibri"/>
              </a:rPr>
              <a:t>operación al mes</a:t>
            </a:r>
          </a:p>
        </p:txBody>
      </p:sp>
      <p:sp>
        <p:nvSpPr>
          <p:cNvPr id="19" name="Rectangle 18"/>
          <p:cNvSpPr/>
          <p:nvPr/>
        </p:nvSpPr>
        <p:spPr>
          <a:xfrm>
            <a:off x="8275320" y="4151376"/>
            <a:ext cx="3429000" cy="850392"/>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4197096"/>
            <a:ext cx="1737360" cy="731520"/>
          </a:xfrm>
          <a:prstGeom prst="rect">
            <a:avLst/>
          </a:prstGeom>
          <a:noFill/>
        </p:spPr>
        <p:txBody>
          <a:bodyPr wrap="square" lIns="45720" rIns="45720" tIns="18288" bIns="18288" anchor="ctr">
            <a:spAutoFit/>
          </a:bodyPr>
          <a:lstStyle/>
          <a:p>
            <a:pPr algn="l"/>
            <a:r>
              <a:rPr sz="2200" b="1" i="0">
                <a:solidFill>
                  <a:srgbClr val="1E7B4F"/>
                </a:solidFill>
                <a:latin typeface="Calibri"/>
              </a:rPr>
              <a:t>S/ 0</a:t>
            </a:r>
          </a:p>
        </p:txBody>
      </p:sp>
      <p:sp>
        <p:nvSpPr>
          <p:cNvPr id="21" name="TextBox 20"/>
          <p:cNvSpPr txBox="1"/>
          <p:nvPr/>
        </p:nvSpPr>
        <p:spPr>
          <a:xfrm>
            <a:off x="10058400" y="4197096"/>
            <a:ext cx="1600200" cy="731520"/>
          </a:xfrm>
          <a:prstGeom prst="rect">
            <a:avLst/>
          </a:prstGeom>
          <a:noFill/>
        </p:spPr>
        <p:txBody>
          <a:bodyPr wrap="square" lIns="45720" rIns="45720" tIns="18288" bIns="18288" anchor="ctr">
            <a:spAutoFit/>
          </a:bodyPr>
          <a:lstStyle/>
          <a:p>
            <a:pPr algn="l"/>
            <a:r>
              <a:rPr sz="1150" b="0" i="0">
                <a:solidFill>
                  <a:srgbClr val="404040"/>
                </a:solidFill>
                <a:latin typeface="Calibri"/>
              </a:rPr>
              <a:t>costo por factura leída</a:t>
            </a:r>
          </a:p>
        </p:txBody>
      </p:sp>
      <p:graphicFrame>
        <p:nvGraphicFramePr>
          <p:cNvPr id="22" name="Table 21"/>
          <p:cNvGraphicFramePr>
            <a:graphicFrameLocks noGrp="1"/>
          </p:cNvGraphicFramePr>
          <p:nvPr/>
        </p:nvGraphicFramePr>
        <p:xfrm>
          <a:off x="502920" y="5166360"/>
          <a:ext cx="7498080" cy="1243584"/>
        </p:xfrm>
        <a:graphic>
          <a:graphicData uri="http://schemas.openxmlformats.org/drawingml/2006/table">
            <a:tbl>
              <a:tblPr firstRow="1" bandRow="1">
                <a:tableStyleId>{5C22544A-7EE6-4342-B048-85BDC9FD1C3A}</a:tableStyleId>
              </a:tblPr>
              <a:tblGrid>
                <a:gridCol w="914400"/>
                <a:gridCol w="1463040"/>
                <a:gridCol w="5120640"/>
              </a:tblGrid>
              <a:tr h="310896">
                <a:tc>
                  <a:txBody>
                    <a:bodyPr/>
                    <a:lstStyle/>
                    <a:p>
                      <a:pPr algn="ctr"/>
                      <a:r>
                        <a:rPr sz="1150" b="1">
                          <a:solidFill>
                            <a:srgbClr val="FFFFFF"/>
                          </a:solidFill>
                          <a:latin typeface="Calibri"/>
                        </a:rPr>
                        <a:t>Semanas</a:t>
                      </a:r>
                    </a:p>
                  </a:txBody>
                  <a:tcPr marL="54864" marR="54864" marT="18288" marB="18288" anchor="ctr">
                    <a:solidFill>
                      <a:srgbClr val="1F4E79"/>
                    </a:solidFill>
                  </a:tcPr>
                </a:tc>
                <a:tc>
                  <a:txBody>
                    <a:bodyPr/>
                    <a:lstStyle/>
                    <a:p>
                      <a:pPr algn="ctr"/>
                      <a:r>
                        <a:rPr sz="1150" b="1">
                          <a:solidFill>
                            <a:srgbClr val="FFFFFF"/>
                          </a:solidFill>
                          <a:latin typeface="Calibri"/>
                        </a:rPr>
                        <a:t>Siguiente entrega</a:t>
                      </a:r>
                    </a:p>
                  </a:txBody>
                  <a:tcPr marL="54864" marR="54864" marT="18288" marB="18288" anchor="ctr">
                    <a:solidFill>
                      <a:srgbClr val="1F4E79"/>
                    </a:solidFill>
                  </a:tcPr>
                </a:tc>
                <a:tc>
                  <a:txBody>
                    <a:bodyPr/>
                    <a:lstStyle/>
                    <a:p>
                      <a:pPr algn="ctr"/>
                      <a:r>
                        <a:rPr sz="1150" b="1">
                          <a:solidFill>
                            <a:srgbClr val="FFFFFF"/>
                          </a:solidFill>
                          <a:latin typeface="Calibri"/>
                        </a:rPr>
                        <a:t>Contenido</a:t>
                      </a:r>
                    </a:p>
                  </a:txBody>
                  <a:tcPr marL="54864" marR="54864" marT="18288" marB="18288" anchor="ctr">
                    <a:solidFill>
                      <a:srgbClr val="1F4E79"/>
                    </a:solidFill>
                  </a:tcPr>
                </a:tc>
              </a:tr>
              <a:tr h="310896">
                <a:tc>
                  <a:txBody>
                    <a:bodyPr/>
                    <a:lstStyle/>
                    <a:p>
                      <a:r>
                        <a:rPr sz="1150" b="1">
                          <a:solidFill>
                            <a:srgbClr val="262626"/>
                          </a:solidFill>
                          <a:latin typeface="Calibri"/>
                        </a:rPr>
                        <a:t>9–10</a:t>
                      </a:r>
                    </a:p>
                  </a:txBody>
                  <a:tcPr marL="54864" marR="54864" marT="18288" marB="18288" anchor="ctr">
                    <a:solidFill>
                      <a:srgbClr val="FFFFFF"/>
                    </a:solidFill>
                  </a:tcPr>
                </a:tc>
                <a:tc>
                  <a:txBody>
                    <a:bodyPr/>
                    <a:lstStyle/>
                    <a:p>
                      <a:pPr algn="ctr"/>
                      <a:r>
                        <a:rPr sz="1150" b="0">
                          <a:solidFill>
                            <a:srgbClr val="262626"/>
                          </a:solidFill>
                          <a:latin typeface="Calibri"/>
                        </a:rPr>
                        <a:t>Incremento 1</a:t>
                      </a:r>
                    </a:p>
                  </a:txBody>
                  <a:tcPr marL="54864" marR="54864" marT="18288" marB="18288" anchor="ctr">
                    <a:solidFill>
                      <a:srgbClr val="FFFFFF"/>
                    </a:solidFill>
                  </a:tcPr>
                </a:tc>
                <a:tc>
                  <a:txBody>
                    <a:bodyPr/>
                    <a:lstStyle/>
                    <a:p>
                      <a:pPr algn="ctr"/>
                      <a:r>
                        <a:rPr sz="1150" b="0">
                          <a:solidFill>
                            <a:srgbClr val="262626"/>
                          </a:solidFill>
                          <a:latin typeface="Calibri"/>
                        </a:rPr>
                        <a:t>Front-end navegable y motor NRUS probado</a:t>
                      </a:r>
                    </a:p>
                  </a:txBody>
                  <a:tcPr marL="54864" marR="54864" marT="18288" marB="18288" anchor="ctr">
                    <a:solidFill>
                      <a:srgbClr val="FFFFFF"/>
                    </a:solidFill>
                  </a:tcPr>
                </a:tc>
              </a:tr>
              <a:tr h="310896">
                <a:tc>
                  <a:txBody>
                    <a:bodyPr/>
                    <a:lstStyle/>
                    <a:p>
                      <a:r>
                        <a:rPr sz="1150" b="1">
                          <a:solidFill>
                            <a:srgbClr val="262626"/>
                          </a:solidFill>
                          <a:latin typeface="Calibri"/>
                        </a:rPr>
                        <a:t>11–12</a:t>
                      </a:r>
                    </a:p>
                  </a:txBody>
                  <a:tcPr marL="54864" marR="54864" marT="18288" marB="18288" anchor="ctr">
                    <a:solidFill>
                      <a:srgbClr val="F6F8FA"/>
                    </a:solidFill>
                  </a:tcPr>
                </a:tc>
                <a:tc>
                  <a:txBody>
                    <a:bodyPr/>
                    <a:lstStyle/>
                    <a:p>
                      <a:pPr algn="ctr"/>
                      <a:r>
                        <a:rPr sz="1150" b="0">
                          <a:solidFill>
                            <a:srgbClr val="262626"/>
                          </a:solidFill>
                          <a:latin typeface="Calibri"/>
                        </a:rPr>
                        <a:t>APF3</a:t>
                      </a:r>
                    </a:p>
                  </a:txBody>
                  <a:tcPr marL="54864" marR="54864" marT="18288" marB="18288" anchor="ctr">
                    <a:solidFill>
                      <a:srgbClr val="F6F8FA"/>
                    </a:solidFill>
                  </a:tcPr>
                </a:tc>
                <a:tc>
                  <a:txBody>
                    <a:bodyPr/>
                    <a:lstStyle/>
                    <a:p>
                      <a:pPr algn="ctr"/>
                      <a:r>
                        <a:rPr sz="1150" b="0">
                          <a:solidFill>
                            <a:srgbClr val="262626"/>
                          </a:solidFill>
                          <a:latin typeface="Calibri"/>
                        </a:rPr>
                        <a:t>Room cifrada, modelo convertido en el teléfono, prueba de usabilidad</a:t>
                      </a:r>
                    </a:p>
                  </a:txBody>
                  <a:tcPr marL="54864" marR="54864" marT="18288" marB="18288" anchor="ctr">
                    <a:solidFill>
                      <a:srgbClr val="F6F8FA"/>
                    </a:solidFill>
                  </a:tcPr>
                </a:tc>
              </a:tr>
              <a:tr h="310896">
                <a:tc>
                  <a:txBody>
                    <a:bodyPr/>
                    <a:lstStyle/>
                    <a:p>
                      <a:r>
                        <a:rPr sz="1150" b="1">
                          <a:solidFill>
                            <a:srgbClr val="262626"/>
                          </a:solidFill>
                          <a:latin typeface="Calibri"/>
                        </a:rPr>
                        <a:t>13–18</a:t>
                      </a:r>
                    </a:p>
                  </a:txBody>
                  <a:tcPr marL="54864" marR="54864" marT="18288" marB="18288" anchor="ctr">
                    <a:solidFill>
                      <a:srgbClr val="FFFFFF"/>
                    </a:solidFill>
                  </a:tcPr>
                </a:tc>
                <a:tc>
                  <a:txBody>
                    <a:bodyPr/>
                    <a:lstStyle/>
                    <a:p>
                      <a:pPr algn="ctr"/>
                      <a:r>
                        <a:rPr sz="1150" b="0">
                          <a:solidFill>
                            <a:srgbClr val="262626"/>
                          </a:solidFill>
                          <a:latin typeface="Calibri"/>
                        </a:rPr>
                        <a:t>Final</a:t>
                      </a:r>
                    </a:p>
                  </a:txBody>
                  <a:tcPr marL="54864" marR="54864" marT="18288" marB="18288" anchor="ctr">
                    <a:solidFill>
                      <a:srgbClr val="FFFFFF"/>
                    </a:solidFill>
                  </a:tcPr>
                </a:tc>
                <a:tc>
                  <a:txBody>
                    <a:bodyPr/>
                    <a:lstStyle/>
                    <a:p>
                      <a:pPr algn="ctr"/>
                      <a:r>
                        <a:rPr sz="1150" b="0">
                          <a:solidFill>
                            <a:srgbClr val="262626"/>
                          </a:solidFill>
                          <a:latin typeface="Calibri"/>
                        </a:rPr>
                        <a:t>Reportes, exportación de datos, validación en mes simulado</a:t>
                      </a:r>
                    </a:p>
                  </a:txBody>
                  <a:tcPr marL="54864" marR="54864" marT="18288" marB="18288"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RESULTADOS</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Entregables del APF2 completos y metas por medir</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Damián Valdivia, Diego Aarón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17</a:t>
            </a:r>
          </a:p>
        </p:txBody>
      </p:sp>
      <p:graphicFrame>
        <p:nvGraphicFramePr>
          <p:cNvPr id="9" name="Table 8"/>
          <p:cNvGraphicFramePr>
            <a:graphicFrameLocks noGrp="1"/>
          </p:cNvGraphicFramePr>
          <p:nvPr/>
        </p:nvGraphicFramePr>
        <p:xfrm>
          <a:off x="502920" y="1325880"/>
          <a:ext cx="6126480" cy="4572000"/>
        </p:xfrm>
        <a:graphic>
          <a:graphicData uri="http://schemas.openxmlformats.org/drawingml/2006/table">
            <a:tbl>
              <a:tblPr firstRow="1" bandRow="1">
                <a:tableStyleId>{5C22544A-7EE6-4342-B048-85BDC9FD1C3A}</a:tableStyleId>
              </a:tblPr>
              <a:tblGrid>
                <a:gridCol w="1828800"/>
                <a:gridCol w="2743200"/>
                <a:gridCol w="1554480"/>
              </a:tblGrid>
              <a:tr h="457200">
                <a:tc>
                  <a:txBody>
                    <a:bodyPr/>
                    <a:lstStyle/>
                    <a:p>
                      <a:pPr algn="ctr"/>
                      <a:r>
                        <a:rPr sz="1100" b="1">
                          <a:solidFill>
                            <a:srgbClr val="FFFFFF"/>
                          </a:solidFill>
                          <a:latin typeface="Calibri"/>
                        </a:rPr>
                        <a:t>Criterio de la consigna</a:t>
                      </a:r>
                    </a:p>
                  </a:txBody>
                  <a:tcPr marL="54864" marR="54864" marT="18288" marB="18288" anchor="ctr">
                    <a:solidFill>
                      <a:srgbClr val="1F4E79"/>
                    </a:solidFill>
                  </a:tcPr>
                </a:tc>
                <a:tc>
                  <a:txBody>
                    <a:bodyPr/>
                    <a:lstStyle/>
                    <a:p>
                      <a:pPr algn="ctr"/>
                      <a:r>
                        <a:rPr sz="1100" b="1">
                          <a:solidFill>
                            <a:srgbClr val="FFFFFF"/>
                          </a:solidFill>
                          <a:latin typeface="Calibri"/>
                        </a:rPr>
                        <a:t>Entregable</a:t>
                      </a:r>
                    </a:p>
                  </a:txBody>
                  <a:tcPr marL="54864" marR="54864" marT="18288" marB="18288" anchor="ctr">
                    <a:solidFill>
                      <a:srgbClr val="1F4E79"/>
                    </a:solidFill>
                  </a:tcPr>
                </a:tc>
                <a:tc>
                  <a:txBody>
                    <a:bodyPr/>
                    <a:lstStyle/>
                    <a:p>
                      <a:pPr algn="ctr"/>
                      <a:r>
                        <a:rPr sz="1100" b="1">
                          <a:solidFill>
                            <a:srgbClr val="FFFFFF"/>
                          </a:solidFill>
                          <a:latin typeface="Calibri"/>
                        </a:rPr>
                        <a:t>Ubicación</a:t>
                      </a:r>
                    </a:p>
                  </a:txBody>
                  <a:tcPr marL="54864" marR="54864" marT="18288" marB="18288" anchor="ctr">
                    <a:solidFill>
                      <a:srgbClr val="1F4E79"/>
                    </a:solidFill>
                  </a:tcPr>
                </a:tc>
              </a:tr>
              <a:tr h="457200">
                <a:tc>
                  <a:txBody>
                    <a:bodyPr/>
                    <a:lstStyle/>
                    <a:p>
                      <a:r>
                        <a:rPr sz="1100" b="1">
                          <a:solidFill>
                            <a:srgbClr val="262626"/>
                          </a:solidFill>
                          <a:latin typeface="Calibri"/>
                        </a:rPr>
                        <a:t>Análisis del contexto</a:t>
                      </a:r>
                    </a:p>
                  </a:txBody>
                  <a:tcPr marL="54864" marR="54864" marT="18288" marB="18288" anchor="ctr">
                    <a:solidFill>
                      <a:srgbClr val="FFFFFF"/>
                    </a:solidFill>
                  </a:tcPr>
                </a:tc>
                <a:tc>
                  <a:txBody>
                    <a:bodyPr/>
                    <a:lstStyle/>
                    <a:p>
                      <a:pPr algn="ctr"/>
                      <a:r>
                        <a:rPr sz="1100" b="0">
                          <a:solidFill>
                            <a:srgbClr val="262626"/>
                          </a:solidFill>
                          <a:latin typeface="Calibri"/>
                        </a:rPr>
                        <a:t>Contexto, canvas e impacto en procesos</a:t>
                      </a:r>
                    </a:p>
                  </a:txBody>
                  <a:tcPr marL="54864" marR="54864" marT="18288" marB="18288" anchor="ctr">
                    <a:solidFill>
                      <a:srgbClr val="FFFFFF"/>
                    </a:solidFill>
                  </a:tcPr>
                </a:tc>
                <a:tc>
                  <a:txBody>
                    <a:bodyPr/>
                    <a:lstStyle/>
                    <a:p>
                      <a:pPr algn="ctr"/>
                      <a:r>
                        <a:rPr sz="1100" b="0">
                          <a:solidFill>
                            <a:srgbClr val="262626"/>
                          </a:solidFill>
                          <a:latin typeface="Calibri"/>
                        </a:rPr>
                        <a:t>Cap. 1, An. A</a:t>
                      </a:r>
                    </a:p>
                  </a:txBody>
                  <a:tcPr marL="54864" marR="54864" marT="18288" marB="18288" anchor="ctr">
                    <a:solidFill>
                      <a:srgbClr val="FFFFFF"/>
                    </a:solidFill>
                  </a:tcPr>
                </a:tc>
              </a:tr>
              <a:tr h="457200">
                <a:tc>
                  <a:txBody>
                    <a:bodyPr/>
                    <a:lstStyle/>
                    <a:p>
                      <a:r>
                        <a:rPr sz="1100" b="1">
                          <a:solidFill>
                            <a:srgbClr val="262626"/>
                          </a:solidFill>
                          <a:latin typeface="Calibri"/>
                        </a:rPr>
                        <a:t>Alternativas</a:t>
                      </a:r>
                    </a:p>
                  </a:txBody>
                  <a:tcPr marL="54864" marR="54864" marT="18288" marB="18288" anchor="ctr">
                    <a:solidFill>
                      <a:srgbClr val="F6F8FA"/>
                    </a:solidFill>
                  </a:tcPr>
                </a:tc>
                <a:tc>
                  <a:txBody>
                    <a:bodyPr/>
                    <a:lstStyle/>
                    <a:p>
                      <a:pPr algn="ctr"/>
                      <a:r>
                        <a:rPr sz="1100" b="0">
                          <a:solidFill>
                            <a:srgbClr val="262626"/>
                          </a:solidFill>
                          <a:latin typeface="Calibri"/>
                        </a:rPr>
                        <a:t>3 alternativas profundizadas</a:t>
                      </a:r>
                    </a:p>
                  </a:txBody>
                  <a:tcPr marL="54864" marR="54864" marT="18288" marB="18288" anchor="ctr">
                    <a:solidFill>
                      <a:srgbClr val="F6F8FA"/>
                    </a:solidFill>
                  </a:tcPr>
                </a:tc>
                <a:tc>
                  <a:txBody>
                    <a:bodyPr/>
                    <a:lstStyle/>
                    <a:p>
                      <a:pPr algn="ctr"/>
                      <a:r>
                        <a:rPr sz="1100" b="0">
                          <a:solidFill>
                            <a:srgbClr val="262626"/>
                          </a:solidFill>
                          <a:latin typeface="Calibri"/>
                        </a:rPr>
                        <a:t>3.2, An. F</a:t>
                      </a:r>
                    </a:p>
                  </a:txBody>
                  <a:tcPr marL="54864" marR="54864" marT="18288" marB="18288" anchor="ctr">
                    <a:solidFill>
                      <a:srgbClr val="F6F8FA"/>
                    </a:solidFill>
                  </a:tcPr>
                </a:tc>
              </a:tr>
              <a:tr h="457200">
                <a:tc>
                  <a:txBody>
                    <a:bodyPr/>
                    <a:lstStyle/>
                    <a:p>
                      <a:r>
                        <a:rPr sz="1100" b="1">
                          <a:solidFill>
                            <a:srgbClr val="262626"/>
                          </a:solidFill>
                          <a:latin typeface="Calibri"/>
                        </a:rPr>
                        <a:t>Análisis</a:t>
                      </a:r>
                    </a:p>
                  </a:txBody>
                  <a:tcPr marL="54864" marR="54864" marT="18288" marB="18288" anchor="ctr">
                    <a:solidFill>
                      <a:srgbClr val="FFFFFF"/>
                    </a:solidFill>
                  </a:tcPr>
                </a:tc>
                <a:tc>
                  <a:txBody>
                    <a:bodyPr/>
                    <a:lstStyle/>
                    <a:p>
                      <a:pPr algn="ctr"/>
                      <a:r>
                        <a:rPr sz="1100" b="0">
                          <a:solidFill>
                            <a:srgbClr val="262626"/>
                          </a:solidFill>
                          <a:latin typeface="Calibri"/>
                        </a:rPr>
                        <a:t>Actores, 12 CU, 22 RF y 19 RNF</a:t>
                      </a:r>
                    </a:p>
                  </a:txBody>
                  <a:tcPr marL="54864" marR="54864" marT="18288" marB="18288" anchor="ctr">
                    <a:solidFill>
                      <a:srgbClr val="FFFFFF"/>
                    </a:solidFill>
                  </a:tcPr>
                </a:tc>
                <a:tc>
                  <a:txBody>
                    <a:bodyPr/>
                    <a:lstStyle/>
                    <a:p>
                      <a:pPr algn="ctr"/>
                      <a:r>
                        <a:rPr sz="1100" b="0">
                          <a:solidFill>
                            <a:srgbClr val="262626"/>
                          </a:solidFill>
                          <a:latin typeface="Calibri"/>
                        </a:rPr>
                        <a:t>3.4, An. H e I</a:t>
                      </a:r>
                    </a:p>
                  </a:txBody>
                  <a:tcPr marL="54864" marR="54864" marT="18288" marB="18288" anchor="ctr">
                    <a:solidFill>
                      <a:srgbClr val="FFFFFF"/>
                    </a:solidFill>
                  </a:tcPr>
                </a:tc>
              </a:tr>
              <a:tr h="457200">
                <a:tc>
                  <a:txBody>
                    <a:bodyPr/>
                    <a:lstStyle/>
                    <a:p>
                      <a:r>
                        <a:rPr sz="1100" b="1">
                          <a:solidFill>
                            <a:srgbClr val="262626"/>
                          </a:solidFill>
                          <a:latin typeface="Calibri"/>
                        </a:rPr>
                        <a:t>Diseño</a:t>
                      </a:r>
                    </a:p>
                  </a:txBody>
                  <a:tcPr marL="54864" marR="54864" marT="18288" marB="18288" anchor="ctr">
                    <a:solidFill>
                      <a:srgbClr val="F6F8FA"/>
                    </a:solidFill>
                  </a:tcPr>
                </a:tc>
                <a:tc>
                  <a:txBody>
                    <a:bodyPr/>
                    <a:lstStyle/>
                    <a:p>
                      <a:pPr algn="ctr"/>
                      <a:r>
                        <a:rPr sz="1100" b="0">
                          <a:solidFill>
                            <a:srgbClr val="262626"/>
                          </a:solidFill>
                          <a:latin typeface="Calibri"/>
                        </a:rPr>
                        <a:t>Charter, Gantt, 5 BPMN, 2 clases, DER</a:t>
                      </a:r>
                    </a:p>
                  </a:txBody>
                  <a:tcPr marL="54864" marR="54864" marT="18288" marB="18288" anchor="ctr">
                    <a:solidFill>
                      <a:srgbClr val="F6F8FA"/>
                    </a:solidFill>
                  </a:tcPr>
                </a:tc>
                <a:tc>
                  <a:txBody>
                    <a:bodyPr/>
                    <a:lstStyle/>
                    <a:p>
                      <a:pPr algn="ctr"/>
                      <a:r>
                        <a:rPr sz="1100" b="0">
                          <a:solidFill>
                            <a:srgbClr val="262626"/>
                          </a:solidFill>
                          <a:latin typeface="Calibri"/>
                        </a:rPr>
                        <a:t>3.5, An. B, D, K–N</a:t>
                      </a:r>
                    </a:p>
                  </a:txBody>
                  <a:tcPr marL="54864" marR="54864" marT="18288" marB="18288" anchor="ctr">
                    <a:solidFill>
                      <a:srgbClr val="F6F8FA"/>
                    </a:solidFill>
                  </a:tcPr>
                </a:tc>
              </a:tr>
              <a:tr h="457200">
                <a:tc>
                  <a:txBody>
                    <a:bodyPr/>
                    <a:lstStyle/>
                    <a:p>
                      <a:r>
                        <a:rPr sz="1100" b="1">
                          <a:solidFill>
                            <a:srgbClr val="262626"/>
                          </a:solidFill>
                          <a:latin typeface="Calibri"/>
                        </a:rPr>
                        <a:t>Base de datos</a:t>
                      </a:r>
                    </a:p>
                  </a:txBody>
                  <a:tcPr marL="54864" marR="54864" marT="18288" marB="18288" anchor="ctr">
                    <a:solidFill>
                      <a:srgbClr val="FFFFFF"/>
                    </a:solidFill>
                  </a:tcPr>
                </a:tc>
                <a:tc>
                  <a:txBody>
                    <a:bodyPr/>
                    <a:lstStyle/>
                    <a:p>
                      <a:pPr algn="ctr"/>
                      <a:r>
                        <a:rPr sz="1100" b="0">
                          <a:solidFill>
                            <a:srgbClr val="262626"/>
                          </a:solidFill>
                          <a:latin typeface="Calibri"/>
                        </a:rPr>
                        <a:t>SQLite lógico y físico con seguridad</a:t>
                      </a:r>
                    </a:p>
                  </a:txBody>
                  <a:tcPr marL="54864" marR="54864" marT="18288" marB="18288" anchor="ctr">
                    <a:solidFill>
                      <a:srgbClr val="FFFFFF"/>
                    </a:solidFill>
                  </a:tcPr>
                </a:tc>
                <a:tc>
                  <a:txBody>
                    <a:bodyPr/>
                    <a:lstStyle/>
                    <a:p>
                      <a:pPr algn="ctr"/>
                      <a:r>
                        <a:rPr sz="1100" b="0">
                          <a:solidFill>
                            <a:srgbClr val="262626"/>
                          </a:solidFill>
                          <a:latin typeface="Calibri"/>
                        </a:rPr>
                        <a:t>3.5.5–3.5.6, An. M</a:t>
                      </a:r>
                    </a:p>
                  </a:txBody>
                  <a:tcPr marL="54864" marR="54864" marT="18288" marB="18288" anchor="ctr">
                    <a:solidFill>
                      <a:srgbClr val="FFFFFF"/>
                    </a:solidFill>
                  </a:tcPr>
                </a:tc>
              </a:tr>
              <a:tr h="457200">
                <a:tc>
                  <a:txBody>
                    <a:bodyPr/>
                    <a:lstStyle/>
                    <a:p>
                      <a:r>
                        <a:rPr sz="1100" b="1">
                          <a:solidFill>
                            <a:srgbClr val="262626"/>
                          </a:solidFill>
                          <a:latin typeface="Calibri"/>
                        </a:rPr>
                        <a:t>Prototipo</a:t>
                      </a:r>
                    </a:p>
                  </a:txBody>
                  <a:tcPr marL="54864" marR="54864" marT="18288" marB="18288" anchor="ctr">
                    <a:solidFill>
                      <a:srgbClr val="F6F8FA"/>
                    </a:solidFill>
                  </a:tcPr>
                </a:tc>
                <a:tc>
                  <a:txBody>
                    <a:bodyPr/>
                    <a:lstStyle/>
                    <a:p>
                      <a:pPr algn="ctr"/>
                      <a:r>
                        <a:rPr sz="1100" b="0">
                          <a:solidFill>
                            <a:srgbClr val="262626"/>
                          </a:solidFill>
                          <a:latin typeface="Calibri"/>
                        </a:rPr>
                        <a:t>20 pantallas y reporte PDF</a:t>
                      </a:r>
                    </a:p>
                  </a:txBody>
                  <a:tcPr marL="54864" marR="54864" marT="18288" marB="18288" anchor="ctr">
                    <a:solidFill>
                      <a:srgbClr val="F6F8FA"/>
                    </a:solidFill>
                  </a:tcPr>
                </a:tc>
                <a:tc>
                  <a:txBody>
                    <a:bodyPr/>
                    <a:lstStyle/>
                    <a:p>
                      <a:pPr algn="ctr"/>
                      <a:r>
                        <a:rPr sz="1100" b="0">
                          <a:solidFill>
                            <a:srgbClr val="262626"/>
                          </a:solidFill>
                          <a:latin typeface="Calibri"/>
                        </a:rPr>
                        <a:t>3.6, An. O–Q</a:t>
                      </a:r>
                    </a:p>
                  </a:txBody>
                  <a:tcPr marL="54864" marR="54864" marT="18288" marB="18288" anchor="ctr">
                    <a:solidFill>
                      <a:srgbClr val="F6F8FA"/>
                    </a:solidFill>
                  </a:tcPr>
                </a:tc>
              </a:tr>
              <a:tr h="457200">
                <a:tc>
                  <a:txBody>
                    <a:bodyPr/>
                    <a:lstStyle/>
                    <a:p>
                      <a:r>
                        <a:rPr sz="1100" b="1">
                          <a:solidFill>
                            <a:srgbClr val="262626"/>
                          </a:solidFill>
                          <a:latin typeface="Calibri"/>
                        </a:rPr>
                        <a:t>Validación</a:t>
                      </a:r>
                    </a:p>
                  </a:txBody>
                  <a:tcPr marL="54864" marR="54864" marT="18288" marB="18288" anchor="ctr">
                    <a:solidFill>
                      <a:srgbClr val="FFFFFF"/>
                    </a:solidFill>
                  </a:tcPr>
                </a:tc>
                <a:tc>
                  <a:txBody>
                    <a:bodyPr/>
                    <a:lstStyle/>
                    <a:p>
                      <a:pPr algn="ctr"/>
                      <a:r>
                        <a:rPr sz="1100" b="0">
                          <a:solidFill>
                            <a:srgbClr val="262626"/>
                          </a:solidFill>
                          <a:latin typeface="Calibri"/>
                        </a:rPr>
                        <a:t>Matrices de cobertura y verificación</a:t>
                      </a:r>
                    </a:p>
                  </a:txBody>
                  <a:tcPr marL="54864" marR="54864" marT="18288" marB="18288" anchor="ctr">
                    <a:solidFill>
                      <a:srgbClr val="FFFFFF"/>
                    </a:solidFill>
                  </a:tcPr>
                </a:tc>
                <a:tc>
                  <a:txBody>
                    <a:bodyPr/>
                    <a:lstStyle/>
                    <a:p>
                      <a:pPr algn="ctr"/>
                      <a:r>
                        <a:rPr sz="1100" b="0">
                          <a:solidFill>
                            <a:srgbClr val="262626"/>
                          </a:solidFill>
                          <a:latin typeface="Calibri"/>
                        </a:rPr>
                        <a:t>3.7, An. R y S</a:t>
                      </a:r>
                    </a:p>
                  </a:txBody>
                  <a:tcPr marL="54864" marR="54864" marT="18288" marB="18288" anchor="ctr">
                    <a:solidFill>
                      <a:srgbClr val="FFFFFF"/>
                    </a:solidFill>
                  </a:tcPr>
                </a:tc>
              </a:tr>
              <a:tr h="457200">
                <a:tc>
                  <a:txBody>
                    <a:bodyPr/>
                    <a:lstStyle/>
                    <a:p>
                      <a:r>
                        <a:rPr sz="1100" b="1">
                          <a:solidFill>
                            <a:srgbClr val="262626"/>
                          </a:solidFill>
                          <a:latin typeface="Calibri"/>
                        </a:rPr>
                        <a:t>Cronograma y presupuesto</a:t>
                      </a:r>
                    </a:p>
                  </a:txBody>
                  <a:tcPr marL="54864" marR="54864" marT="18288" marB="18288" anchor="ctr">
                    <a:solidFill>
                      <a:srgbClr val="F6F8FA"/>
                    </a:solidFill>
                  </a:tcPr>
                </a:tc>
                <a:tc>
                  <a:txBody>
                    <a:bodyPr/>
                    <a:lstStyle/>
                    <a:p>
                      <a:pPr algn="ctr"/>
                      <a:r>
                        <a:rPr sz="1100" b="0">
                          <a:solidFill>
                            <a:srgbClr val="262626"/>
                          </a:solidFill>
                          <a:latin typeface="Calibri"/>
                        </a:rPr>
                        <a:t>Gantt, presupuesto, recursos, costos</a:t>
                      </a:r>
                    </a:p>
                  </a:txBody>
                  <a:tcPr marL="54864" marR="54864" marT="18288" marB="18288" anchor="ctr">
                    <a:solidFill>
                      <a:srgbClr val="F6F8FA"/>
                    </a:solidFill>
                  </a:tcPr>
                </a:tc>
                <a:tc>
                  <a:txBody>
                    <a:bodyPr/>
                    <a:lstStyle/>
                    <a:p>
                      <a:pPr algn="ctr"/>
                      <a:r>
                        <a:rPr sz="1100" b="0">
                          <a:solidFill>
                            <a:srgbClr val="262626"/>
                          </a:solidFill>
                          <a:latin typeface="Calibri"/>
                        </a:rPr>
                        <a:t>Cap. 4</a:t>
                      </a:r>
                    </a:p>
                  </a:txBody>
                  <a:tcPr marL="54864" marR="54864" marT="18288" marB="18288" anchor="ctr">
                    <a:solidFill>
                      <a:srgbClr val="F6F8FA"/>
                    </a:solidFill>
                  </a:tcPr>
                </a:tc>
              </a:tr>
              <a:tr h="457200">
                <a:tc>
                  <a:txBody>
                    <a:bodyPr/>
                    <a:lstStyle/>
                    <a:p>
                      <a:r>
                        <a:rPr sz="1100" b="1">
                          <a:solidFill>
                            <a:srgbClr val="262626"/>
                          </a:solidFill>
                          <a:latin typeface="Calibri"/>
                        </a:rPr>
                        <a:t>Documentación técnica</a:t>
                      </a:r>
                    </a:p>
                  </a:txBody>
                  <a:tcPr marL="54864" marR="54864" marT="18288" marB="18288" anchor="ctr">
                    <a:solidFill>
                      <a:srgbClr val="FFFFFF"/>
                    </a:solidFill>
                  </a:tcPr>
                </a:tc>
                <a:tc>
                  <a:txBody>
                    <a:bodyPr/>
                    <a:lstStyle/>
                    <a:p>
                      <a:pPr algn="ctr"/>
                      <a:r>
                        <a:rPr sz="1100" b="0">
                          <a:solidFill>
                            <a:srgbClr val="262626"/>
                          </a:solidFill>
                          <a:latin typeface="Calibri"/>
                        </a:rPr>
                        <a:t>Markdown para desarrolladores</a:t>
                      </a:r>
                    </a:p>
                  </a:txBody>
                  <a:tcPr marL="54864" marR="54864" marT="18288" marB="18288" anchor="ctr">
                    <a:solidFill>
                      <a:srgbClr val="FFFFFF"/>
                    </a:solidFill>
                  </a:tcPr>
                </a:tc>
                <a:tc>
                  <a:txBody>
                    <a:bodyPr/>
                    <a:lstStyle/>
                    <a:p>
                      <a:pPr algn="ctr"/>
                      <a:r>
                        <a:rPr sz="1100" b="0">
                          <a:solidFill>
                            <a:srgbClr val="262626"/>
                          </a:solidFill>
                          <a:latin typeface="Calibri"/>
                        </a:rPr>
                        <a:t>An. T</a:t>
                      </a:r>
                    </a:p>
                  </a:txBody>
                  <a:tcPr marL="54864" marR="54864" marT="18288" marB="18288" anchor="ctr">
                    <a:solidFill>
                      <a:srgbClr val="FFFFFF"/>
                    </a:solidFill>
                  </a:tcPr>
                </a:tc>
              </a:tr>
            </a:tbl>
          </a:graphicData>
        </a:graphic>
      </p:graphicFrame>
      <p:sp>
        <p:nvSpPr>
          <p:cNvPr id="10" name="TextBox 9"/>
          <p:cNvSpPr txBox="1"/>
          <p:nvPr/>
        </p:nvSpPr>
        <p:spPr>
          <a:xfrm>
            <a:off x="502920" y="5989320"/>
            <a:ext cx="6126480" cy="274320"/>
          </a:xfrm>
          <a:prstGeom prst="rect">
            <a:avLst/>
          </a:prstGeom>
          <a:noFill/>
        </p:spPr>
        <p:txBody>
          <a:bodyPr wrap="square" lIns="45720" rIns="45720" tIns="18288" bIns="18288" anchor="t">
            <a:spAutoFit/>
          </a:bodyPr>
          <a:lstStyle/>
          <a:p>
            <a:pPr algn="l"/>
            <a:r>
              <a:rPr sz="1200" b="1" i="0">
                <a:solidFill>
                  <a:srgbClr val="1E7B4F"/>
                </a:solidFill>
                <a:latin typeface="Calibri"/>
              </a:rPr>
              <a:t>Los nueve entregables están completos.</a:t>
            </a:r>
          </a:p>
        </p:txBody>
      </p:sp>
      <p:graphicFrame>
        <p:nvGraphicFramePr>
          <p:cNvPr id="11" name="Table 10"/>
          <p:cNvGraphicFramePr>
            <a:graphicFrameLocks noGrp="1"/>
          </p:cNvGraphicFramePr>
          <p:nvPr/>
        </p:nvGraphicFramePr>
        <p:xfrm>
          <a:off x="6858000" y="1325880"/>
          <a:ext cx="4846319" cy="3950208"/>
        </p:xfrm>
        <a:graphic>
          <a:graphicData uri="http://schemas.openxmlformats.org/drawingml/2006/table">
            <a:tbl>
              <a:tblPr firstRow="1" bandRow="1">
                <a:tableStyleId>{5C22544A-7EE6-4342-B048-85BDC9FD1C3A}</a:tableStyleId>
              </a:tblPr>
              <a:tblGrid>
                <a:gridCol w="1920240"/>
                <a:gridCol w="1097280"/>
                <a:gridCol w="1005840"/>
                <a:gridCol w="822959"/>
              </a:tblGrid>
              <a:tr h="493776">
                <a:tc>
                  <a:txBody>
                    <a:bodyPr/>
                    <a:lstStyle/>
                    <a:p>
                      <a:pPr algn="ctr"/>
                      <a:r>
                        <a:rPr sz="1100" b="1">
                          <a:solidFill>
                            <a:srgbClr val="FFFFFF"/>
                          </a:solidFill>
                          <a:latin typeface="Calibri"/>
                        </a:rPr>
                        <a:t>Indicador</a:t>
                      </a:r>
                    </a:p>
                  </a:txBody>
                  <a:tcPr marL="54864" marR="54864" marT="18288" marB="18288" anchor="ctr">
                    <a:solidFill>
                      <a:srgbClr val="1F4E79"/>
                    </a:solidFill>
                  </a:tcPr>
                </a:tc>
                <a:tc>
                  <a:txBody>
                    <a:bodyPr/>
                    <a:lstStyle/>
                    <a:p>
                      <a:pPr algn="ctr"/>
                      <a:r>
                        <a:rPr sz="1100" b="1">
                          <a:solidFill>
                            <a:srgbClr val="FFFFFF"/>
                          </a:solidFill>
                          <a:latin typeface="Calibri"/>
                        </a:rPr>
                        <a:t>Línea base</a:t>
                      </a:r>
                    </a:p>
                  </a:txBody>
                  <a:tcPr marL="54864" marR="54864" marT="18288" marB="18288" anchor="ctr">
                    <a:solidFill>
                      <a:srgbClr val="1F4E79"/>
                    </a:solidFill>
                  </a:tcPr>
                </a:tc>
                <a:tc>
                  <a:txBody>
                    <a:bodyPr/>
                    <a:lstStyle/>
                    <a:p>
                      <a:pPr algn="ctr"/>
                      <a:r>
                        <a:rPr sz="1100" b="1">
                          <a:solidFill>
                            <a:srgbClr val="FFFFFF"/>
                          </a:solidFill>
                          <a:latin typeface="Calibri"/>
                        </a:rPr>
                        <a:t>Meta</a:t>
                      </a:r>
                    </a:p>
                  </a:txBody>
                  <a:tcPr marL="54864" marR="54864" marT="18288" marB="18288" anchor="ctr">
                    <a:solidFill>
                      <a:srgbClr val="1F4E79"/>
                    </a:solidFill>
                  </a:tcPr>
                </a:tc>
                <a:tc>
                  <a:txBody>
                    <a:bodyPr/>
                    <a:lstStyle/>
                    <a:p>
                      <a:pPr algn="ctr"/>
                      <a:r>
                        <a:rPr sz="1100" b="1">
                          <a:solidFill>
                            <a:srgbClr val="FFFFFF"/>
                          </a:solidFill>
                          <a:latin typeface="Calibri"/>
                        </a:rPr>
                        <a:t>Cuándo</a:t>
                      </a:r>
                    </a:p>
                  </a:txBody>
                  <a:tcPr marL="54864" marR="54864" marT="18288" marB="18288" anchor="ctr">
                    <a:solidFill>
                      <a:srgbClr val="1F4E79"/>
                    </a:solidFill>
                  </a:tcPr>
                </a:tc>
              </a:tr>
              <a:tr h="493776">
                <a:tc>
                  <a:txBody>
                    <a:bodyPr/>
                    <a:lstStyle/>
                    <a:p>
                      <a:r>
                        <a:rPr sz="1100" b="1">
                          <a:solidFill>
                            <a:srgbClr val="262626"/>
                          </a:solidFill>
                          <a:latin typeface="Calibri"/>
                        </a:rPr>
                        <a:t>Registro por factura</a:t>
                      </a:r>
                    </a:p>
                  </a:txBody>
                  <a:tcPr marL="54864" marR="54864" marT="18288" marB="18288" anchor="ctr">
                    <a:solidFill>
                      <a:srgbClr val="FFFFFF"/>
                    </a:solidFill>
                  </a:tcPr>
                </a:tc>
                <a:tc>
                  <a:txBody>
                    <a:bodyPr/>
                    <a:lstStyle/>
                    <a:p>
                      <a:pPr algn="ctr"/>
                      <a:r>
                        <a:rPr sz="1100" b="0">
                          <a:solidFill>
                            <a:srgbClr val="262626"/>
                          </a:solidFill>
                          <a:latin typeface="Calibri"/>
                        </a:rPr>
                        <a:t>1–2 min</a:t>
                      </a:r>
                    </a:p>
                  </a:txBody>
                  <a:tcPr marL="54864" marR="54864" marT="18288" marB="18288" anchor="ctr">
                    <a:solidFill>
                      <a:srgbClr val="FFFFFF"/>
                    </a:solidFill>
                  </a:tcPr>
                </a:tc>
                <a:tc>
                  <a:txBody>
                    <a:bodyPr/>
                    <a:lstStyle/>
                    <a:p>
                      <a:pPr algn="ctr"/>
                      <a:r>
                        <a:rPr sz="1100" b="0">
                          <a:solidFill>
                            <a:srgbClr val="262626"/>
                          </a:solidFill>
                          <a:latin typeface="Calibri"/>
                        </a:rPr>
                        <a:t>≤ 20 s</a:t>
                      </a:r>
                    </a:p>
                  </a:txBody>
                  <a:tcPr marL="54864" marR="54864" marT="18288" marB="18288" anchor="ctr">
                    <a:solidFill>
                      <a:srgbClr val="FFFFFF"/>
                    </a:solidFill>
                  </a:tcPr>
                </a:tc>
                <a:tc>
                  <a:txBody>
                    <a:bodyPr/>
                    <a:lstStyle/>
                    <a:p>
                      <a:pPr algn="ctr"/>
                      <a:r>
                        <a:rPr sz="1100" b="0">
                          <a:solidFill>
                            <a:srgbClr val="262626"/>
                          </a:solidFill>
                          <a:latin typeface="Calibri"/>
                        </a:rPr>
                        <a:t>APF3</a:t>
                      </a:r>
                    </a:p>
                  </a:txBody>
                  <a:tcPr marL="54864" marR="54864" marT="18288" marB="18288" anchor="ctr">
                    <a:solidFill>
                      <a:srgbClr val="FFFFFF"/>
                    </a:solidFill>
                  </a:tcPr>
                </a:tc>
              </a:tr>
              <a:tr h="493776">
                <a:tc>
                  <a:txBody>
                    <a:bodyPr/>
                    <a:lstStyle/>
                    <a:p>
                      <a:r>
                        <a:rPr sz="1100" b="1">
                          <a:solidFill>
                            <a:srgbClr val="262626"/>
                          </a:solidFill>
                          <a:latin typeface="Calibri"/>
                        </a:rPr>
                        <a:t>Cálculo mensual</a:t>
                      </a:r>
                    </a:p>
                  </a:txBody>
                  <a:tcPr marL="54864" marR="54864" marT="18288" marB="18288" anchor="ctr">
                    <a:solidFill>
                      <a:srgbClr val="F6F8FA"/>
                    </a:solidFill>
                  </a:tcPr>
                </a:tc>
                <a:tc>
                  <a:txBody>
                    <a:bodyPr/>
                    <a:lstStyle/>
                    <a:p>
                      <a:pPr algn="ctr"/>
                      <a:r>
                        <a:rPr sz="1100" b="0">
                          <a:solidFill>
                            <a:srgbClr val="262626"/>
                          </a:solidFill>
                          <a:latin typeface="Calibri"/>
                        </a:rPr>
                        <a:t>3 h</a:t>
                      </a:r>
                    </a:p>
                  </a:txBody>
                  <a:tcPr marL="54864" marR="54864" marT="18288" marB="18288" anchor="ctr">
                    <a:solidFill>
                      <a:srgbClr val="F6F8FA"/>
                    </a:solidFill>
                  </a:tcPr>
                </a:tc>
                <a:tc>
                  <a:txBody>
                    <a:bodyPr/>
                    <a:lstStyle/>
                    <a:p>
                      <a:pPr algn="ctr"/>
                      <a:r>
                        <a:rPr sz="1100" b="0">
                          <a:solidFill>
                            <a:srgbClr val="262626"/>
                          </a:solidFill>
                          <a:latin typeface="Calibri"/>
                        </a:rPr>
                        <a:t>Inmediato</a:t>
                      </a:r>
                    </a:p>
                  </a:txBody>
                  <a:tcPr marL="54864" marR="54864" marT="18288" marB="18288" anchor="ctr">
                    <a:solidFill>
                      <a:srgbClr val="F6F8FA"/>
                    </a:solidFill>
                  </a:tcPr>
                </a:tc>
                <a:tc>
                  <a:txBody>
                    <a:bodyPr/>
                    <a:lstStyle/>
                    <a:p>
                      <a:pPr algn="ctr"/>
                      <a:r>
                        <a:rPr sz="1100" b="0">
                          <a:solidFill>
                            <a:srgbClr val="262626"/>
                          </a:solidFill>
                          <a:latin typeface="Calibri"/>
                        </a:rPr>
                        <a:t>Final</a:t>
                      </a:r>
                    </a:p>
                  </a:txBody>
                  <a:tcPr marL="54864" marR="54864" marT="18288" marB="18288" anchor="ctr">
                    <a:solidFill>
                      <a:srgbClr val="F6F8FA"/>
                    </a:solidFill>
                  </a:tcPr>
                </a:tc>
              </a:tr>
              <a:tr h="493776">
                <a:tc>
                  <a:txBody>
                    <a:bodyPr/>
                    <a:lstStyle/>
                    <a:p>
                      <a:r>
                        <a:rPr sz="1100" b="1">
                          <a:solidFill>
                            <a:srgbClr val="262626"/>
                          </a:solidFill>
                          <a:latin typeface="Calibri"/>
                        </a:rPr>
                        <a:t>Facturas conservadas</a:t>
                      </a:r>
                    </a:p>
                  </a:txBody>
                  <a:tcPr marL="54864" marR="54864" marT="18288" marB="18288" anchor="ctr">
                    <a:solidFill>
                      <a:srgbClr val="FFFFFF"/>
                    </a:solidFill>
                  </a:tcPr>
                </a:tc>
                <a:tc>
                  <a:txBody>
                    <a:bodyPr/>
                    <a:lstStyle/>
                    <a:p>
                      <a:pPr algn="ctr"/>
                      <a:r>
                        <a:rPr sz="1100" b="0">
                          <a:solidFill>
                            <a:srgbClr val="262626"/>
                          </a:solidFill>
                          <a:latin typeface="Calibri"/>
                        </a:rPr>
                        <a:t>64 %</a:t>
                      </a:r>
                    </a:p>
                  </a:txBody>
                  <a:tcPr marL="54864" marR="54864" marT="18288" marB="18288" anchor="ctr">
                    <a:solidFill>
                      <a:srgbClr val="FFFFFF"/>
                    </a:solidFill>
                  </a:tcPr>
                </a:tc>
                <a:tc>
                  <a:txBody>
                    <a:bodyPr/>
                    <a:lstStyle/>
                    <a:p>
                      <a:pPr algn="ctr"/>
                      <a:r>
                        <a:rPr sz="1100" b="0">
                          <a:solidFill>
                            <a:srgbClr val="262626"/>
                          </a:solidFill>
                          <a:latin typeface="Calibri"/>
                        </a:rPr>
                        <a:t>100 %</a:t>
                      </a:r>
                    </a:p>
                  </a:txBody>
                  <a:tcPr marL="54864" marR="54864" marT="18288" marB="18288" anchor="ctr">
                    <a:solidFill>
                      <a:srgbClr val="FFFFFF"/>
                    </a:solidFill>
                  </a:tcPr>
                </a:tc>
                <a:tc>
                  <a:txBody>
                    <a:bodyPr/>
                    <a:lstStyle/>
                    <a:p>
                      <a:pPr algn="ctr"/>
                      <a:r>
                        <a:rPr sz="1100" b="0">
                          <a:solidFill>
                            <a:srgbClr val="262626"/>
                          </a:solidFill>
                          <a:latin typeface="Calibri"/>
                        </a:rPr>
                        <a:t>Final</a:t>
                      </a:r>
                    </a:p>
                  </a:txBody>
                  <a:tcPr marL="54864" marR="54864" marT="18288" marB="18288" anchor="ctr">
                    <a:solidFill>
                      <a:srgbClr val="FFFFFF"/>
                    </a:solidFill>
                  </a:tcPr>
                </a:tc>
              </a:tr>
              <a:tr h="493776">
                <a:tc>
                  <a:txBody>
                    <a:bodyPr/>
                    <a:lstStyle/>
                    <a:p>
                      <a:r>
                        <a:rPr sz="1100" b="1">
                          <a:solidFill>
                            <a:srgbClr val="262626"/>
                          </a:solidFill>
                          <a:latin typeface="Calibri"/>
                        </a:rPr>
                        <a:t>Exactitud por campo</a:t>
                      </a:r>
                    </a:p>
                  </a:txBody>
                  <a:tcPr marL="54864" marR="54864" marT="18288" marB="18288" anchor="ctr">
                    <a:solidFill>
                      <a:srgbClr val="F6F8FA"/>
                    </a:solidFill>
                  </a:tcPr>
                </a:tc>
                <a:tc>
                  <a:txBody>
                    <a:bodyPr/>
                    <a:lstStyle/>
                    <a:p>
                      <a:pPr algn="ctr"/>
                      <a:r>
                        <a:rPr sz="1100" b="0">
                          <a:solidFill>
                            <a:srgbClr val="262626"/>
                          </a:solidFill>
                          <a:latin typeface="Calibri"/>
                        </a:rPr>
                        <a:t>No medida</a:t>
                      </a:r>
                    </a:p>
                  </a:txBody>
                  <a:tcPr marL="54864" marR="54864" marT="18288" marB="18288" anchor="ctr">
                    <a:solidFill>
                      <a:srgbClr val="F6F8FA"/>
                    </a:solidFill>
                  </a:tcPr>
                </a:tc>
                <a:tc>
                  <a:txBody>
                    <a:bodyPr/>
                    <a:lstStyle/>
                    <a:p>
                      <a:pPr algn="ctr"/>
                      <a:r>
                        <a:rPr sz="1100" b="0">
                          <a:solidFill>
                            <a:srgbClr val="262626"/>
                          </a:solidFill>
                          <a:latin typeface="Calibri"/>
                        </a:rPr>
                        <a:t>≥ 90 %</a:t>
                      </a:r>
                    </a:p>
                  </a:txBody>
                  <a:tcPr marL="54864" marR="54864" marT="18288" marB="18288" anchor="ctr">
                    <a:solidFill>
                      <a:srgbClr val="F6F8FA"/>
                    </a:solidFill>
                  </a:tcPr>
                </a:tc>
                <a:tc>
                  <a:txBody>
                    <a:bodyPr/>
                    <a:lstStyle/>
                    <a:p>
                      <a:pPr algn="ctr"/>
                      <a:r>
                        <a:rPr sz="1100" b="0">
                          <a:solidFill>
                            <a:srgbClr val="262626"/>
                          </a:solidFill>
                          <a:latin typeface="Calibri"/>
                        </a:rPr>
                        <a:t>APF3</a:t>
                      </a:r>
                    </a:p>
                  </a:txBody>
                  <a:tcPr marL="54864" marR="54864" marT="18288" marB="18288" anchor="ctr">
                    <a:solidFill>
                      <a:srgbClr val="F6F8FA"/>
                    </a:solidFill>
                  </a:tcPr>
                </a:tc>
              </a:tr>
              <a:tr h="493776">
                <a:tc>
                  <a:txBody>
                    <a:bodyPr/>
                    <a:lstStyle/>
                    <a:p>
                      <a:r>
                        <a:rPr sz="1100" b="1">
                          <a:solidFill>
                            <a:srgbClr val="262626"/>
                          </a:solidFill>
                          <a:latin typeface="Calibri"/>
                        </a:rPr>
                        <a:t>Exactitud tras convertir</a:t>
                      </a:r>
                    </a:p>
                  </a:txBody>
                  <a:tcPr marL="54864" marR="54864" marT="18288" marB="18288" anchor="ctr">
                    <a:solidFill>
                      <a:srgbClr val="FFFFFF"/>
                    </a:solidFill>
                  </a:tcPr>
                </a:tc>
                <a:tc>
                  <a:txBody>
                    <a:bodyPr/>
                    <a:lstStyle/>
                    <a:p>
                      <a:pPr algn="ctr"/>
                      <a:r>
                        <a:rPr sz="1100" b="0">
                          <a:solidFill>
                            <a:srgbClr val="262626"/>
                          </a:solidFill>
                          <a:latin typeface="Calibri"/>
                        </a:rPr>
                        <a:t>No medida</a:t>
                      </a:r>
                    </a:p>
                  </a:txBody>
                  <a:tcPr marL="54864" marR="54864" marT="18288" marB="18288" anchor="ctr">
                    <a:solidFill>
                      <a:srgbClr val="FFFFFF"/>
                    </a:solidFill>
                  </a:tcPr>
                </a:tc>
                <a:tc>
                  <a:txBody>
                    <a:bodyPr/>
                    <a:lstStyle/>
                    <a:p>
                      <a:pPr algn="ctr"/>
                      <a:r>
                        <a:rPr sz="1100" b="0">
                          <a:solidFill>
                            <a:srgbClr val="262626"/>
                          </a:solidFill>
                          <a:latin typeface="Calibri"/>
                        </a:rPr>
                        <a:t>Sin pérdida</a:t>
                      </a:r>
                    </a:p>
                  </a:txBody>
                  <a:tcPr marL="54864" marR="54864" marT="18288" marB="18288" anchor="ctr">
                    <a:solidFill>
                      <a:srgbClr val="FFFFFF"/>
                    </a:solidFill>
                  </a:tcPr>
                </a:tc>
                <a:tc>
                  <a:txBody>
                    <a:bodyPr/>
                    <a:lstStyle/>
                    <a:p>
                      <a:pPr algn="ctr"/>
                      <a:r>
                        <a:rPr sz="1100" b="0">
                          <a:solidFill>
                            <a:srgbClr val="262626"/>
                          </a:solidFill>
                          <a:latin typeface="Calibri"/>
                        </a:rPr>
                        <a:t>APF3</a:t>
                      </a:r>
                    </a:p>
                  </a:txBody>
                  <a:tcPr marL="54864" marR="54864" marT="18288" marB="18288" anchor="ctr">
                    <a:solidFill>
                      <a:srgbClr val="FFFFFF"/>
                    </a:solidFill>
                  </a:tcPr>
                </a:tc>
              </a:tr>
              <a:tr h="493776">
                <a:tc>
                  <a:txBody>
                    <a:bodyPr/>
                    <a:lstStyle/>
                    <a:p>
                      <a:r>
                        <a:rPr sz="1100" b="1">
                          <a:solidFill>
                            <a:srgbClr val="262626"/>
                          </a:solidFill>
                          <a:latin typeface="Calibri"/>
                        </a:rPr>
                        <a:t>Diferencia del total</a:t>
                      </a:r>
                    </a:p>
                  </a:txBody>
                  <a:tcPr marL="54864" marR="54864" marT="18288" marB="18288" anchor="ctr">
                    <a:solidFill>
                      <a:srgbClr val="F6F8FA"/>
                    </a:solidFill>
                  </a:tcPr>
                </a:tc>
                <a:tc>
                  <a:txBody>
                    <a:bodyPr/>
                    <a:lstStyle/>
                    <a:p>
                      <a:pPr algn="ctr"/>
                      <a:r>
                        <a:rPr sz="1100" b="0">
                          <a:solidFill>
                            <a:srgbClr val="262626"/>
                          </a:solidFill>
                          <a:latin typeface="Calibri"/>
                        </a:rPr>
                        <a:t>Desconocida</a:t>
                      </a:r>
                    </a:p>
                  </a:txBody>
                  <a:tcPr marL="54864" marR="54864" marT="18288" marB="18288" anchor="ctr">
                    <a:solidFill>
                      <a:srgbClr val="F6F8FA"/>
                    </a:solidFill>
                  </a:tcPr>
                </a:tc>
                <a:tc>
                  <a:txBody>
                    <a:bodyPr/>
                    <a:lstStyle/>
                    <a:p>
                      <a:pPr algn="ctr"/>
                      <a:r>
                        <a:rPr sz="1100" b="0">
                          <a:solidFill>
                            <a:srgbClr val="262626"/>
                          </a:solidFill>
                          <a:latin typeface="Calibri"/>
                        </a:rPr>
                        <a:t>&lt; 2 %</a:t>
                      </a:r>
                    </a:p>
                  </a:txBody>
                  <a:tcPr marL="54864" marR="54864" marT="18288" marB="18288" anchor="ctr">
                    <a:solidFill>
                      <a:srgbClr val="F6F8FA"/>
                    </a:solidFill>
                  </a:tcPr>
                </a:tc>
                <a:tc>
                  <a:txBody>
                    <a:bodyPr/>
                    <a:lstStyle/>
                    <a:p>
                      <a:pPr algn="ctr"/>
                      <a:r>
                        <a:rPr sz="1100" b="0">
                          <a:solidFill>
                            <a:srgbClr val="262626"/>
                          </a:solidFill>
                          <a:latin typeface="Calibri"/>
                        </a:rPr>
                        <a:t>Final</a:t>
                      </a:r>
                    </a:p>
                  </a:txBody>
                  <a:tcPr marL="54864" marR="54864" marT="18288" marB="18288" anchor="ctr">
                    <a:solidFill>
                      <a:srgbClr val="F6F8FA"/>
                    </a:solidFill>
                  </a:tcPr>
                </a:tc>
              </a:tr>
              <a:tr h="493776">
                <a:tc>
                  <a:txBody>
                    <a:bodyPr/>
                    <a:lstStyle/>
                    <a:p>
                      <a:r>
                        <a:rPr sz="1100" b="1">
                          <a:solidFill>
                            <a:srgbClr val="262626"/>
                          </a:solidFill>
                          <a:latin typeface="Calibri"/>
                        </a:rPr>
                        <a:t>Categoría correcta</a:t>
                      </a:r>
                    </a:p>
                  </a:txBody>
                  <a:tcPr marL="54864" marR="54864" marT="18288" marB="18288" anchor="ctr">
                    <a:solidFill>
                      <a:srgbClr val="FFFFFF"/>
                    </a:solidFill>
                  </a:tcPr>
                </a:tc>
                <a:tc>
                  <a:txBody>
                    <a:bodyPr/>
                    <a:lstStyle/>
                    <a:p>
                      <a:pPr algn="ctr"/>
                      <a:r>
                        <a:rPr sz="1100" b="0">
                          <a:solidFill>
                            <a:srgbClr val="262626"/>
                          </a:solidFill>
                          <a:latin typeface="Calibri"/>
                        </a:rPr>
                        <a:t>No (cat. 2)</a:t>
                      </a:r>
                    </a:p>
                  </a:txBody>
                  <a:tcPr marL="54864" marR="54864" marT="18288" marB="18288" anchor="ctr">
                    <a:solidFill>
                      <a:srgbClr val="FFFFFF"/>
                    </a:solidFill>
                  </a:tcPr>
                </a:tc>
                <a:tc>
                  <a:txBody>
                    <a:bodyPr/>
                    <a:lstStyle/>
                    <a:p>
                      <a:pPr algn="ctr"/>
                      <a:r>
                        <a:rPr sz="1100" b="0">
                          <a:solidFill>
                            <a:srgbClr val="262626"/>
                          </a:solidFill>
                          <a:latin typeface="Calibri"/>
                        </a:rPr>
                        <a:t>Sí</a:t>
                      </a:r>
                    </a:p>
                  </a:txBody>
                  <a:tcPr marL="54864" marR="54864" marT="18288" marB="18288" anchor="ctr">
                    <a:solidFill>
                      <a:srgbClr val="FFFFFF"/>
                    </a:solidFill>
                  </a:tcPr>
                </a:tc>
                <a:tc>
                  <a:txBody>
                    <a:bodyPr/>
                    <a:lstStyle/>
                    <a:p>
                      <a:pPr algn="ctr"/>
                      <a:r>
                        <a:rPr sz="1100" b="0">
                          <a:solidFill>
                            <a:srgbClr val="262626"/>
                          </a:solidFill>
                          <a:latin typeface="Calibri"/>
                        </a:rPr>
                        <a:t>Final</a:t>
                      </a:r>
                    </a:p>
                  </a:txBody>
                  <a:tcPr marL="54864" marR="54864" marT="18288" marB="18288" anchor="ctr">
                    <a:solidFill>
                      <a:srgbClr val="FFFFFF"/>
                    </a:solidFill>
                  </a:tcPr>
                </a:tc>
              </a:tr>
            </a:tbl>
          </a:graphicData>
        </a:graphic>
      </p:graphicFrame>
      <p:sp>
        <p:nvSpPr>
          <p:cNvPr id="12" name="Rectangle 11"/>
          <p:cNvSpPr/>
          <p:nvPr/>
        </p:nvSpPr>
        <p:spPr>
          <a:xfrm>
            <a:off x="6858000" y="5440680"/>
            <a:ext cx="4846320" cy="86868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440680"/>
            <a:ext cx="4572000" cy="868680"/>
          </a:xfrm>
          <a:prstGeom prst="rect">
            <a:avLst/>
          </a:prstGeom>
          <a:noFill/>
        </p:spPr>
        <p:txBody>
          <a:bodyPr wrap="square" lIns="45720" rIns="45720" tIns="18288" bIns="18288" anchor="ctr">
            <a:spAutoFit/>
          </a:bodyPr>
          <a:lstStyle/>
          <a:p>
            <a:pPr algn="l"/>
            <a:r>
              <a:rPr sz="1150" b="0" i="0">
                <a:solidFill>
                  <a:srgbClr val="404040"/>
                </a:solidFill>
                <a:latin typeface="Calibri"/>
              </a:rPr>
              <a:t>El prototipo de Build with Gemma confirmó que el modelo ajustado extrae los campos en JSON; falta medirlo cuantizado en el teléfono.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CONCLUSIONES</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Lo que demuestra el diseño</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Damián Valdivia, Diego Aarón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18</a:t>
            </a:r>
          </a:p>
        </p:txBody>
      </p:sp>
      <p:sp>
        <p:nvSpPr>
          <p:cNvPr id="9" name="Rectangle 8"/>
          <p:cNvSpPr/>
          <p:nvPr/>
        </p:nvSpPr>
        <p:spPr>
          <a:xfrm>
            <a:off x="502920" y="1463040"/>
            <a:ext cx="3611880" cy="214884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63040"/>
            <a:ext cx="3611880" cy="640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00200"/>
            <a:ext cx="3337560" cy="320040"/>
          </a:xfrm>
          <a:prstGeom prst="rect">
            <a:avLst/>
          </a:prstGeom>
          <a:noFill/>
        </p:spPr>
        <p:txBody>
          <a:bodyPr wrap="square" lIns="45720" rIns="45720" tIns="18288" bIns="18288" anchor="t">
            <a:spAutoFit/>
          </a:bodyPr>
          <a:lstStyle/>
          <a:p>
            <a:pPr algn="l"/>
            <a:r>
              <a:rPr sz="1300" b="1" i="0">
                <a:solidFill>
                  <a:srgbClr val="1F4E79"/>
                </a:solidFill>
                <a:latin typeface="Calibri"/>
              </a:rPr>
              <a:t>1 · Problema operativo</a:t>
            </a:r>
          </a:p>
        </p:txBody>
      </p:sp>
      <p:sp>
        <p:nvSpPr>
          <p:cNvPr id="12" name="TextBox 11"/>
          <p:cNvSpPr txBox="1"/>
          <p:nvPr/>
        </p:nvSpPr>
        <p:spPr>
          <a:xfrm>
            <a:off x="640080" y="1920240"/>
            <a:ext cx="3337560" cy="1600200"/>
          </a:xfrm>
          <a:prstGeom prst="rect">
            <a:avLst/>
          </a:prstGeom>
          <a:noFill/>
        </p:spPr>
        <p:txBody>
          <a:bodyPr wrap="square" lIns="45720" rIns="45720" tIns="18288" bIns="18288" anchor="t">
            <a:spAutoFit/>
          </a:bodyPr>
          <a:lstStyle/>
          <a:p>
            <a:pPr algn="l"/>
            <a:r>
              <a:rPr sz="1450" b="0" i="0">
                <a:solidFill>
                  <a:srgbClr val="262626"/>
                </a:solidFill>
                <a:latin typeface="Calibri"/>
              </a:rPr>
              <a:t>Los tres puntos de error del AS-IS —guardar sin registrar, sumar a mano y estimar ante la duda— se eliminan o automatizan en el TO-BE.</a:t>
            </a:r>
          </a:p>
        </p:txBody>
      </p:sp>
      <p:sp>
        <p:nvSpPr>
          <p:cNvPr id="13" name="Rectangle 12"/>
          <p:cNvSpPr/>
          <p:nvPr/>
        </p:nvSpPr>
        <p:spPr>
          <a:xfrm>
            <a:off x="4297680" y="1463040"/>
            <a:ext cx="3611880" cy="214884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63040"/>
            <a:ext cx="361188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600200"/>
            <a:ext cx="3337560" cy="320040"/>
          </a:xfrm>
          <a:prstGeom prst="rect">
            <a:avLst/>
          </a:prstGeom>
          <a:noFill/>
        </p:spPr>
        <p:txBody>
          <a:bodyPr wrap="square" lIns="45720" rIns="45720" tIns="18288" bIns="18288" anchor="t">
            <a:spAutoFit/>
          </a:bodyPr>
          <a:lstStyle/>
          <a:p>
            <a:pPr algn="l"/>
            <a:r>
              <a:rPr sz="1300" b="1" i="0">
                <a:solidFill>
                  <a:srgbClr val="1E7B4F"/>
                </a:solidFill>
                <a:latin typeface="Calibri"/>
              </a:rPr>
              <a:t>2 · Alcance cubierto</a:t>
            </a:r>
          </a:p>
        </p:txBody>
      </p:sp>
      <p:sp>
        <p:nvSpPr>
          <p:cNvPr id="16" name="TextBox 15"/>
          <p:cNvSpPr txBox="1"/>
          <p:nvPr/>
        </p:nvSpPr>
        <p:spPr>
          <a:xfrm>
            <a:off x="4434840" y="1920240"/>
            <a:ext cx="3337560" cy="1600200"/>
          </a:xfrm>
          <a:prstGeom prst="rect">
            <a:avLst/>
          </a:prstGeom>
          <a:noFill/>
        </p:spPr>
        <p:txBody>
          <a:bodyPr wrap="square" lIns="45720" rIns="45720" tIns="18288" bIns="18288" anchor="t">
            <a:spAutoFit/>
          </a:bodyPr>
          <a:lstStyle/>
          <a:p>
            <a:pPr algn="l"/>
            <a:r>
              <a:rPr sz="1450" b="0" i="0">
                <a:solidFill>
                  <a:srgbClr val="262626"/>
                </a:solidFill>
                <a:latin typeface="Calibri"/>
              </a:rPr>
              <a:t>Los 22 RF tienen pantalla, caso de uso, clase y tabla; los 19 RNF, una decisión verificable.</a:t>
            </a:r>
          </a:p>
        </p:txBody>
      </p:sp>
      <p:sp>
        <p:nvSpPr>
          <p:cNvPr id="17" name="Rectangle 16"/>
          <p:cNvSpPr/>
          <p:nvPr/>
        </p:nvSpPr>
        <p:spPr>
          <a:xfrm>
            <a:off x="8092440" y="1463040"/>
            <a:ext cx="3611880" cy="214884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463040"/>
            <a:ext cx="3611880" cy="640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600200"/>
            <a:ext cx="3337560" cy="320040"/>
          </a:xfrm>
          <a:prstGeom prst="rect">
            <a:avLst/>
          </a:prstGeom>
          <a:noFill/>
        </p:spPr>
        <p:txBody>
          <a:bodyPr wrap="square" lIns="45720" rIns="45720" tIns="18288" bIns="18288" anchor="t">
            <a:spAutoFit/>
          </a:bodyPr>
          <a:lstStyle/>
          <a:p>
            <a:pPr algn="l"/>
            <a:r>
              <a:rPr sz="1300" b="1" i="0">
                <a:solidFill>
                  <a:srgbClr val="1F4E79"/>
                </a:solidFill>
                <a:latin typeface="Calibri"/>
              </a:rPr>
              <a:t>3 · Datos en el teléfono</a:t>
            </a:r>
          </a:p>
        </p:txBody>
      </p:sp>
      <p:sp>
        <p:nvSpPr>
          <p:cNvPr id="20" name="TextBox 19"/>
          <p:cNvSpPr txBox="1"/>
          <p:nvPr/>
        </p:nvSpPr>
        <p:spPr>
          <a:xfrm>
            <a:off x="8229600" y="1920240"/>
            <a:ext cx="3337560" cy="1600200"/>
          </a:xfrm>
          <a:prstGeom prst="rect">
            <a:avLst/>
          </a:prstGeom>
          <a:noFill/>
        </p:spPr>
        <p:txBody>
          <a:bodyPr wrap="square" lIns="45720" rIns="45720" tIns="18288" bIns="18288" anchor="t">
            <a:spAutoFit/>
          </a:bodyPr>
          <a:lstStyle/>
          <a:p>
            <a:pPr algn="l"/>
            <a:r>
              <a:rPr sz="1450" b="0" i="0">
                <a:solidFill>
                  <a:srgbClr val="262626"/>
                </a:solidFill>
                <a:latin typeface="Calibri"/>
              </a:rPr>
              <a:t>Una sola base SQLite cifrada; sin servidor de respaldo. El titular exporta a CSV y PDF cuando quiere.</a:t>
            </a:r>
          </a:p>
        </p:txBody>
      </p:sp>
      <p:sp>
        <p:nvSpPr>
          <p:cNvPr id="21" name="Rectangle 20"/>
          <p:cNvSpPr/>
          <p:nvPr/>
        </p:nvSpPr>
        <p:spPr>
          <a:xfrm>
            <a:off x="502920" y="3886200"/>
            <a:ext cx="3611880" cy="214884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886200"/>
            <a:ext cx="361188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23360"/>
            <a:ext cx="3337560" cy="320040"/>
          </a:xfrm>
          <a:prstGeom prst="rect">
            <a:avLst/>
          </a:prstGeom>
          <a:noFill/>
        </p:spPr>
        <p:txBody>
          <a:bodyPr wrap="square" lIns="45720" rIns="45720" tIns="18288" bIns="18288" anchor="t">
            <a:spAutoFit/>
          </a:bodyPr>
          <a:lstStyle/>
          <a:p>
            <a:pPr algn="l"/>
            <a:r>
              <a:rPr sz="1300" b="1" i="0">
                <a:solidFill>
                  <a:srgbClr val="1E7B4F"/>
                </a:solidFill>
                <a:latin typeface="Calibri"/>
              </a:rPr>
              <a:t>4 · Tres toques</a:t>
            </a:r>
          </a:p>
        </p:txBody>
      </p:sp>
      <p:sp>
        <p:nvSpPr>
          <p:cNvPr id="24" name="TextBox 23"/>
          <p:cNvSpPr txBox="1"/>
          <p:nvPr/>
        </p:nvSpPr>
        <p:spPr>
          <a:xfrm>
            <a:off x="640080" y="4343400"/>
            <a:ext cx="3337560" cy="1600200"/>
          </a:xfrm>
          <a:prstGeom prst="rect">
            <a:avLst/>
          </a:prstGeom>
          <a:noFill/>
        </p:spPr>
        <p:txBody>
          <a:bodyPr wrap="square" lIns="45720" rIns="45720" tIns="18288" bIns="18288" anchor="t">
            <a:spAutoFit/>
          </a:bodyPr>
          <a:lstStyle/>
          <a:p>
            <a:pPr algn="l"/>
            <a:r>
              <a:rPr sz="1450" b="0" i="0">
                <a:solidFill>
                  <a:srgbClr val="262626"/>
                </a:solidFill>
                <a:latin typeface="Calibri"/>
              </a:rPr>
              <a:t>El registro de una factura toma tres toques desde el inicio; se validará con usuarios en las semanas 11–12 (I4).</a:t>
            </a:r>
          </a:p>
        </p:txBody>
      </p:sp>
      <p:sp>
        <p:nvSpPr>
          <p:cNvPr id="25" name="Rectangle 24"/>
          <p:cNvSpPr/>
          <p:nvPr/>
        </p:nvSpPr>
        <p:spPr>
          <a:xfrm>
            <a:off x="4297680" y="3886200"/>
            <a:ext cx="3611880" cy="214884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0" y="3886200"/>
            <a:ext cx="3611880" cy="640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4023360"/>
            <a:ext cx="3337560" cy="320040"/>
          </a:xfrm>
          <a:prstGeom prst="rect">
            <a:avLst/>
          </a:prstGeom>
          <a:noFill/>
        </p:spPr>
        <p:txBody>
          <a:bodyPr wrap="square" lIns="45720" rIns="45720" tIns="18288" bIns="18288" anchor="t">
            <a:spAutoFit/>
          </a:bodyPr>
          <a:lstStyle/>
          <a:p>
            <a:pPr algn="l"/>
            <a:r>
              <a:rPr sz="1300" b="1" i="0">
                <a:solidFill>
                  <a:srgbClr val="1F4E79"/>
                </a:solidFill>
                <a:latin typeface="Calibri"/>
              </a:rPr>
              <a:t>5 · Java y costo</a:t>
            </a:r>
          </a:p>
        </p:txBody>
      </p:sp>
      <p:sp>
        <p:nvSpPr>
          <p:cNvPr id="28" name="TextBox 27"/>
          <p:cNvSpPr txBox="1"/>
          <p:nvPr/>
        </p:nvSpPr>
        <p:spPr>
          <a:xfrm>
            <a:off x="4434840" y="4343400"/>
            <a:ext cx="3337560" cy="1600200"/>
          </a:xfrm>
          <a:prstGeom prst="rect">
            <a:avLst/>
          </a:prstGeom>
          <a:noFill/>
        </p:spPr>
        <p:txBody>
          <a:bodyPr wrap="square" lIns="45720" rIns="45720" tIns="18288" bIns="18288" anchor="t">
            <a:spAutoFit/>
          </a:bodyPr>
          <a:lstStyle/>
          <a:p>
            <a:pPr algn="l"/>
            <a:r>
              <a:rPr sz="1450" b="0" i="0">
                <a:solidFill>
                  <a:srgbClr val="262626"/>
                </a:solidFill>
                <a:latin typeface="Calibri"/>
              </a:rPr>
              <a:t>Alrededor de 85 % de código Java y sin costo de operación mensual: no hay servidor que mantener.</a:t>
            </a:r>
          </a:p>
        </p:txBody>
      </p:sp>
      <p:sp>
        <p:nvSpPr>
          <p:cNvPr id="29" name="Rectangle 28"/>
          <p:cNvSpPr/>
          <p:nvPr/>
        </p:nvSpPr>
        <p:spPr>
          <a:xfrm>
            <a:off x="8092440" y="3886200"/>
            <a:ext cx="3611880" cy="214884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92440" y="4069080"/>
            <a:ext cx="1801368" cy="640080"/>
          </a:xfrm>
          <a:prstGeom prst="rect">
            <a:avLst/>
          </a:prstGeom>
          <a:noFill/>
        </p:spPr>
        <p:txBody>
          <a:bodyPr wrap="square" lIns="45720" rIns="45720" tIns="18288" bIns="18288" anchor="t">
            <a:spAutoFit/>
          </a:bodyPr>
          <a:lstStyle/>
          <a:p>
            <a:pPr algn="ctr"/>
            <a:r>
              <a:rPr sz="2800" b="1" i="0">
                <a:solidFill>
                  <a:srgbClr val="1E7B4F"/>
                </a:solidFill>
                <a:latin typeface="Calibri"/>
              </a:rPr>
              <a:t>100 %</a:t>
            </a:r>
          </a:p>
        </p:txBody>
      </p:sp>
      <p:sp>
        <p:nvSpPr>
          <p:cNvPr id="31" name="TextBox 30"/>
          <p:cNvSpPr txBox="1"/>
          <p:nvPr/>
        </p:nvSpPr>
        <p:spPr>
          <a:xfrm>
            <a:off x="8092440" y="4690872"/>
            <a:ext cx="1801368" cy="457200"/>
          </a:xfrm>
          <a:prstGeom prst="rect">
            <a:avLst/>
          </a:prstGeom>
          <a:noFill/>
        </p:spPr>
        <p:txBody>
          <a:bodyPr wrap="square" lIns="45720" rIns="45720" tIns="18288" bIns="18288" anchor="t">
            <a:spAutoFit/>
          </a:bodyPr>
          <a:lstStyle/>
          <a:p>
            <a:pPr algn="ctr"/>
            <a:r>
              <a:rPr sz="1150" b="0" i="0">
                <a:solidFill>
                  <a:srgbClr val="404040"/>
                </a:solidFill>
                <a:latin typeface="Calibri"/>
              </a:rPr>
              <a:t>del alcance funcional</a:t>
            </a:r>
          </a:p>
        </p:txBody>
      </p:sp>
      <p:sp>
        <p:nvSpPr>
          <p:cNvPr id="32" name="TextBox 31"/>
          <p:cNvSpPr txBox="1"/>
          <p:nvPr/>
        </p:nvSpPr>
        <p:spPr>
          <a:xfrm>
            <a:off x="9902952" y="4069080"/>
            <a:ext cx="1801368" cy="640080"/>
          </a:xfrm>
          <a:prstGeom prst="rect">
            <a:avLst/>
          </a:prstGeom>
          <a:noFill/>
        </p:spPr>
        <p:txBody>
          <a:bodyPr wrap="square" lIns="45720" rIns="45720" tIns="18288" bIns="18288" anchor="t">
            <a:spAutoFit/>
          </a:bodyPr>
          <a:lstStyle/>
          <a:p>
            <a:pPr algn="ctr"/>
            <a:r>
              <a:rPr sz="2800" b="1" i="0">
                <a:solidFill>
                  <a:srgbClr val="1F4E79"/>
                </a:solidFill>
                <a:latin typeface="Calibri"/>
              </a:rPr>
              <a:t>S/ 0</a:t>
            </a:r>
          </a:p>
        </p:txBody>
      </p:sp>
      <p:sp>
        <p:nvSpPr>
          <p:cNvPr id="33" name="TextBox 32"/>
          <p:cNvSpPr txBox="1"/>
          <p:nvPr/>
        </p:nvSpPr>
        <p:spPr>
          <a:xfrm>
            <a:off x="9902952" y="4690872"/>
            <a:ext cx="1801368" cy="457200"/>
          </a:xfrm>
          <a:prstGeom prst="rect">
            <a:avLst/>
          </a:prstGeom>
          <a:noFill/>
        </p:spPr>
        <p:txBody>
          <a:bodyPr wrap="square" lIns="45720" rIns="45720" tIns="18288" bIns="18288" anchor="t">
            <a:spAutoFit/>
          </a:bodyPr>
          <a:lstStyle/>
          <a:p>
            <a:pPr algn="ctr"/>
            <a:r>
              <a:rPr sz="1150" b="0" i="0">
                <a:solidFill>
                  <a:srgbClr val="404040"/>
                </a:solidFill>
                <a:latin typeface="Calibri"/>
              </a:rPr>
              <a:t>de operación al mes</a:t>
            </a:r>
          </a:p>
        </p:txBody>
      </p:sp>
      <p:sp>
        <p:nvSpPr>
          <p:cNvPr id="34" name="TextBox 33"/>
          <p:cNvSpPr txBox="1"/>
          <p:nvPr/>
        </p:nvSpPr>
        <p:spPr>
          <a:xfrm>
            <a:off x="8229600" y="5212080"/>
            <a:ext cx="3337560" cy="731520"/>
          </a:xfrm>
          <a:prstGeom prst="rect">
            <a:avLst/>
          </a:prstGeom>
          <a:noFill/>
        </p:spPr>
        <p:txBody>
          <a:bodyPr wrap="square" lIns="45720" rIns="45720" tIns="18288" bIns="18288" anchor="ctr">
            <a:spAutoFit/>
          </a:bodyPr>
          <a:lstStyle/>
          <a:p>
            <a:pPr algn="ctr"/>
            <a:r>
              <a:rPr sz="1150" b="0" i="0">
                <a:solidFill>
                  <a:srgbClr val="404040"/>
                </a:solidFill>
                <a:latin typeface="Calibri"/>
              </a:rPr>
              <a:t>La prueba con tres titulares y la exactitud del modelo se miden en APF3.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7315200" cy="274320"/>
          </a:xfrm>
          <a:prstGeom prst="rect">
            <a:avLst/>
          </a:prstGeom>
          <a:noFill/>
        </p:spPr>
        <p:txBody>
          <a:bodyPr wrap="square" lIns="45720" rIns="45720" tIns="18288" bIns="18288" anchor="t">
            <a:spAutoFit/>
          </a:bodyPr>
          <a:lstStyle/>
          <a:p>
            <a:pPr algn="l"/>
            <a:r>
              <a:rPr sz="1100" b="1" i="0">
                <a:solidFill>
                  <a:srgbClr val="C00000"/>
                </a:solidFill>
                <a:latin typeface="Calibri"/>
              </a:rPr>
              <a:t>DOCUMENTACIÓN TÉCNICA · CIERRE</a:t>
            </a:r>
          </a:p>
        </p:txBody>
      </p:sp>
      <p:sp>
        <p:nvSpPr>
          <p:cNvPr id="3" name="TextBox 2"/>
          <p:cNvSpPr txBox="1"/>
          <p:nvPr/>
        </p:nvSpPr>
        <p:spPr>
          <a:xfrm>
            <a:off x="502920" y="457200"/>
            <a:ext cx="9692640" cy="594360"/>
          </a:xfrm>
          <a:prstGeom prst="rect">
            <a:avLst/>
          </a:prstGeom>
          <a:noFill/>
        </p:spPr>
        <p:txBody>
          <a:bodyPr wrap="square" lIns="45720" rIns="45720" tIns="18288" bIns="18288" anchor="t">
            <a:spAutoFit/>
          </a:bodyPr>
          <a:lstStyle/>
          <a:p>
            <a:pPr algn="l"/>
            <a:r>
              <a:rPr sz="2800" b="1" i="0">
                <a:solidFill>
                  <a:srgbClr val="1F4E79"/>
                </a:solidFill>
                <a:latin typeface="Calibri"/>
              </a:rPr>
              <a:t>Documentación para desarrolladores y próximos pasos</a:t>
            </a:r>
          </a:p>
        </p:txBody>
      </p:sp>
      <p:sp>
        <p:nvSpPr>
          <p:cNvPr id="4" name="Rectangle 3"/>
          <p:cNvSpPr/>
          <p:nvPr/>
        </p:nvSpPr>
        <p:spPr>
          <a:xfrm>
            <a:off x="502920" y="1097280"/>
            <a:ext cx="1371600"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tp.png"/>
          <p:cNvPicPr>
            <a:picLocks noChangeAspect="1"/>
          </p:cNvPicPr>
          <p:nvPr/>
        </p:nvPicPr>
        <p:blipFill>
          <a:blip r:embed="rId2"/>
          <a:stretch>
            <a:fillRect/>
          </a:stretch>
        </p:blipFill>
        <p:spPr>
          <a:xfrm>
            <a:off x="10607040" y="228600"/>
            <a:ext cx="1188720" cy="316382"/>
          </a:xfrm>
          <a:prstGeom prst="rect">
            <a:avLst/>
          </a:prstGeom>
        </p:spPr>
      </p:pic>
      <p:sp>
        <p:nvSpPr>
          <p:cNvPr id="6" name="Rectangle 5"/>
          <p:cNvSpPr/>
          <p:nvPr/>
        </p:nvSpPr>
        <p:spPr>
          <a:xfrm>
            <a:off x="0" y="6492240"/>
            <a:ext cx="12191695" cy="365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5486400" cy="365760"/>
          </a:xfrm>
          <a:prstGeom prst="rect">
            <a:avLst/>
          </a:prstGeom>
          <a:noFill/>
        </p:spPr>
        <p:txBody>
          <a:bodyPr wrap="square" lIns="45720" rIns="45720" tIns="18288" bIns="18288" anchor="ctr">
            <a:spAutoFit/>
          </a:bodyPr>
          <a:lstStyle/>
          <a:p>
            <a:pPr algn="l"/>
            <a:r>
              <a:rPr sz="1100" b="0" i="0">
                <a:solidFill>
                  <a:srgbClr val="FFFFFF"/>
                </a:solidFill>
                <a:latin typeface="Calibri"/>
              </a:rPr>
              <a:t>Damián Valdivia, Diego Aarón</a:t>
            </a:r>
          </a:p>
        </p:txBody>
      </p:sp>
      <p:sp>
        <p:nvSpPr>
          <p:cNvPr id="8" name="TextBox 7"/>
          <p:cNvSpPr txBox="1"/>
          <p:nvPr/>
        </p:nvSpPr>
        <p:spPr>
          <a:xfrm>
            <a:off x="11247120" y="6492240"/>
            <a:ext cx="548640" cy="365760"/>
          </a:xfrm>
          <a:prstGeom prst="rect">
            <a:avLst/>
          </a:prstGeom>
          <a:noFill/>
        </p:spPr>
        <p:txBody>
          <a:bodyPr wrap="square" lIns="45720" rIns="45720" tIns="18288" bIns="18288" anchor="ctr">
            <a:spAutoFit/>
          </a:bodyPr>
          <a:lstStyle/>
          <a:p>
            <a:pPr algn="r"/>
            <a:r>
              <a:rPr sz="1100" b="0" i="0">
                <a:solidFill>
                  <a:srgbClr val="FFFFFF"/>
                </a:solidFill>
                <a:latin typeface="Calibri"/>
              </a:rPr>
              <a:t>19</a:t>
            </a:r>
          </a:p>
        </p:txBody>
      </p:sp>
      <p:sp>
        <p:nvSpPr>
          <p:cNvPr id="9" name="Rectangle 8"/>
          <p:cNvSpPr/>
          <p:nvPr/>
        </p:nvSpPr>
        <p:spPr>
          <a:xfrm>
            <a:off x="502920" y="1325880"/>
            <a:ext cx="5486400" cy="402336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325880"/>
            <a:ext cx="5486400" cy="640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63039"/>
            <a:ext cx="5212080" cy="320040"/>
          </a:xfrm>
          <a:prstGeom prst="rect">
            <a:avLst/>
          </a:prstGeom>
          <a:noFill/>
        </p:spPr>
        <p:txBody>
          <a:bodyPr wrap="square" lIns="45720" rIns="45720" tIns="18288" bIns="18288" anchor="t">
            <a:spAutoFit/>
          </a:bodyPr>
          <a:lstStyle/>
          <a:p>
            <a:pPr algn="l"/>
            <a:r>
              <a:rPr sz="1300" b="1" i="0">
                <a:solidFill>
                  <a:srgbClr val="1F4E79"/>
                </a:solidFill>
                <a:latin typeface="Calibri"/>
              </a:rPr>
              <a:t>entregable2_documentacion_tecnica.md</a:t>
            </a:r>
          </a:p>
        </p:txBody>
      </p:sp>
      <p:sp>
        <p:nvSpPr>
          <p:cNvPr id="12" name="TextBox 11"/>
          <p:cNvSpPr txBox="1"/>
          <p:nvPr/>
        </p:nvSpPr>
        <p:spPr>
          <a:xfrm>
            <a:off x="640080" y="1783080"/>
            <a:ext cx="5212080" cy="3474720"/>
          </a:xfrm>
          <a:prstGeom prst="rect">
            <a:avLst/>
          </a:prstGeom>
          <a:noFill/>
        </p:spPr>
        <p:txBody>
          <a:bodyPr wrap="square" lIns="45720" rIns="45720">
            <a:spAutoFit/>
          </a:bodyPr>
          <a:lstStyle/>
          <a:p>
            <a:pPr marL="182880" indent="-182880">
              <a:spcAft>
                <a:spcPts val="400"/>
              </a:spcAft>
              <a:buChar char="•"/>
            </a:pPr>
            <a:r>
              <a:rPr sz="1300" b="0">
                <a:solidFill>
                  <a:srgbClr val="262626"/>
                </a:solidFill>
                <a:latin typeface="Calibri"/>
              </a:rPr>
              <a:t>Arquitectura por capas y regla de dependencias</a:t>
            </a:r>
          </a:p>
          <a:p>
            <a:pPr marL="182880" indent="-182880">
              <a:spcAft>
                <a:spcPts val="400"/>
              </a:spcAft>
              <a:buChar char="•"/>
            </a:pPr>
            <a:r>
              <a:rPr sz="1300" b="0">
                <a:solidFill>
                  <a:srgbClr val="262626"/>
                </a:solidFill>
                <a:latin typeface="Calibri"/>
              </a:rPr>
              <a:t>Reglas del NRUS con casos de prueba</a:t>
            </a:r>
          </a:p>
          <a:p>
            <a:pPr marL="182880" indent="-182880">
              <a:spcAft>
                <a:spcPts val="400"/>
              </a:spcAft>
              <a:buChar char="•"/>
            </a:pPr>
            <a:r>
              <a:rPr sz="1300" b="0">
                <a:solidFill>
                  <a:srgbClr val="262626"/>
                </a:solidFill>
                <a:latin typeface="Calibri"/>
              </a:rPr>
              <a:t>Contrato del modelo: instrucción y JSON de salida</a:t>
            </a:r>
          </a:p>
          <a:p>
            <a:pPr marL="182880" indent="-182880">
              <a:spcAft>
                <a:spcPts val="400"/>
              </a:spcAft>
              <a:buChar char="•"/>
            </a:pPr>
            <a:r>
              <a:rPr sz="1300" b="0">
                <a:solidFill>
                  <a:srgbClr val="262626"/>
                </a:solidFill>
                <a:latin typeface="Calibri"/>
              </a:rPr>
              <a:t>Esquema SQLite de 13 tablas y migraciones</a:t>
            </a:r>
          </a:p>
          <a:p>
            <a:pPr marL="182880" indent="-182880">
              <a:spcAft>
                <a:spcPts val="400"/>
              </a:spcAft>
              <a:buChar char="•"/>
            </a:pPr>
            <a:r>
              <a:rPr sz="1300" b="0">
                <a:solidFill>
                  <a:srgbClr val="262626"/>
                </a:solidFill>
                <a:latin typeface="Calibri"/>
              </a:rPr>
              <a:t>Pantallas P01–P20, tokens y textos</a:t>
            </a:r>
          </a:p>
          <a:p>
            <a:pPr marL="182880" indent="-182880">
              <a:spcAft>
                <a:spcPts val="400"/>
              </a:spcAft>
              <a:buChar char="•"/>
            </a:pPr>
            <a:r>
              <a:rPr sz="1300" b="0">
                <a:solidFill>
                  <a:srgbClr val="262626"/>
                </a:solidFill>
                <a:latin typeface="Calibri"/>
              </a:rPr>
              <a:t>Exportación de datos, seguridad y entornos</a:t>
            </a:r>
          </a:p>
          <a:p>
            <a:pPr marL="182880" indent="-182880">
              <a:spcAft>
                <a:spcPts val="400"/>
              </a:spcAft>
              <a:buChar char="•"/>
            </a:pPr>
            <a:r>
              <a:rPr sz="1300" b="0">
                <a:solidFill>
                  <a:srgbClr val="262626"/>
                </a:solidFill>
                <a:latin typeface="Calibri"/>
              </a:rPr>
              <a:t>Plan de construcción por iteraciones y pruebas</a:t>
            </a:r>
          </a:p>
        </p:txBody>
      </p:sp>
      <p:sp>
        <p:nvSpPr>
          <p:cNvPr id="13" name="Rectangle 12"/>
          <p:cNvSpPr/>
          <p:nvPr/>
        </p:nvSpPr>
        <p:spPr>
          <a:xfrm>
            <a:off x="6217920" y="1325880"/>
            <a:ext cx="5486400" cy="2377440"/>
          </a:xfrm>
          <a:prstGeom prst="rect">
            <a:avLst/>
          </a:prstGeom>
          <a:solidFill>
            <a:srgbClr val="FFFFFF"/>
          </a:solidFill>
          <a:ln w="12700">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25880"/>
            <a:ext cx="5486400" cy="64008"/>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463039"/>
            <a:ext cx="5212080" cy="320040"/>
          </a:xfrm>
          <a:prstGeom prst="rect">
            <a:avLst/>
          </a:prstGeom>
          <a:noFill/>
        </p:spPr>
        <p:txBody>
          <a:bodyPr wrap="square" lIns="45720" rIns="45720" tIns="18288" bIns="18288" anchor="t">
            <a:spAutoFit/>
          </a:bodyPr>
          <a:lstStyle/>
          <a:p>
            <a:pPr algn="l"/>
            <a:r>
              <a:rPr sz="1300" b="1" i="0">
                <a:solidFill>
                  <a:srgbClr val="1E7B4F"/>
                </a:solidFill>
                <a:latin typeface="Calibri"/>
              </a:rPr>
              <a:t>Próximos pasos hacia APF3</a:t>
            </a:r>
          </a:p>
        </p:txBody>
      </p:sp>
      <p:sp>
        <p:nvSpPr>
          <p:cNvPr id="16" name="TextBox 15"/>
          <p:cNvSpPr txBox="1"/>
          <p:nvPr/>
        </p:nvSpPr>
        <p:spPr>
          <a:xfrm>
            <a:off x="6355080" y="1783080"/>
            <a:ext cx="5212080" cy="1828800"/>
          </a:xfrm>
          <a:prstGeom prst="rect">
            <a:avLst/>
          </a:prstGeom>
          <a:noFill/>
        </p:spPr>
        <p:txBody>
          <a:bodyPr wrap="square" lIns="45720" rIns="45720">
            <a:spAutoFit/>
          </a:bodyPr>
          <a:lstStyle/>
          <a:p>
            <a:pPr marL="182880" indent="-182880">
              <a:spcAft>
                <a:spcPts val="400"/>
              </a:spcAft>
              <a:buChar char="•"/>
            </a:pPr>
            <a:r>
              <a:rPr sz="1300" b="0">
                <a:solidFill>
                  <a:srgbClr val="262626"/>
                </a:solidFill>
                <a:latin typeface="Calibri"/>
              </a:rPr>
              <a:t>Front-end y dominio desde la documentación técnica</a:t>
            </a:r>
          </a:p>
          <a:p>
            <a:pPr marL="182880" indent="-182880">
              <a:spcAft>
                <a:spcPts val="400"/>
              </a:spcAft>
              <a:buChar char="•"/>
            </a:pPr>
            <a:r>
              <a:rPr sz="1300" b="0">
                <a:solidFill>
                  <a:srgbClr val="262626"/>
                </a:solidFill>
                <a:latin typeface="Calibri"/>
              </a:rPr>
              <a:t>Ajuste fino y conversión a .litertlm</a:t>
            </a:r>
          </a:p>
          <a:p>
            <a:pPr marL="182880" indent="-182880">
              <a:spcAft>
                <a:spcPts val="400"/>
              </a:spcAft>
              <a:buChar char="•"/>
            </a:pPr>
            <a:r>
              <a:rPr sz="1300" b="0">
                <a:solidFill>
                  <a:srgbClr val="262626"/>
                </a:solidFill>
                <a:latin typeface="Calibri"/>
              </a:rPr>
              <a:t>Exactitud y tiempo en el teléfono de referencia</a:t>
            </a:r>
          </a:p>
          <a:p>
            <a:pPr marL="182880" indent="-182880">
              <a:spcAft>
                <a:spcPts val="400"/>
              </a:spcAft>
              <a:buChar char="•"/>
            </a:pPr>
            <a:r>
              <a:rPr sz="1300" b="0">
                <a:solidFill>
                  <a:srgbClr val="262626"/>
                </a:solidFill>
                <a:latin typeface="Calibri"/>
              </a:rPr>
              <a:t>Prueba de usabilidad con tres titulares</a:t>
            </a:r>
          </a:p>
        </p:txBody>
      </p:sp>
      <p:sp>
        <p:nvSpPr>
          <p:cNvPr id="17" name="Rectangle 16"/>
          <p:cNvSpPr/>
          <p:nvPr/>
        </p:nvSpPr>
        <p:spPr>
          <a:xfrm>
            <a:off x="6217920" y="3840480"/>
            <a:ext cx="5486400" cy="1508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886200"/>
            <a:ext cx="5120640" cy="1417320"/>
          </a:xfrm>
          <a:prstGeom prst="rect">
            <a:avLst/>
          </a:prstGeom>
          <a:noFill/>
        </p:spPr>
        <p:txBody>
          <a:bodyPr wrap="square" lIns="45720" rIns="45720" tIns="18288" bIns="18288" anchor="ctr">
            <a:spAutoFit/>
          </a:bodyPr>
          <a:lstStyle/>
          <a:p>
            <a:pPr algn="l"/>
            <a:r>
              <a:rPr sz="1700" b="1" i="0">
                <a:solidFill>
                  <a:srgbClr val="FFFFFF"/>
                </a:solidFill>
                <a:latin typeface="Calibri"/>
              </a:rPr>
              <a:t>Una foto al recibir la factura, la IA la lee en el teléfono y el bodeguero declara el NRUS con el monto exacto.</a:t>
            </a:r>
          </a:p>
        </p:txBody>
      </p:sp>
      <p:sp>
        <p:nvSpPr>
          <p:cNvPr id="19" name="Rectangle 18"/>
          <p:cNvSpPr/>
          <p:nvPr/>
        </p:nvSpPr>
        <p:spPr>
          <a:xfrm>
            <a:off x="502920" y="5532120"/>
            <a:ext cx="11201400" cy="77724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532120"/>
            <a:ext cx="10881360" cy="777240"/>
          </a:xfrm>
          <a:prstGeom prst="rect">
            <a:avLst/>
          </a:prstGeom>
          <a:noFill/>
        </p:spPr>
        <p:txBody>
          <a:bodyPr wrap="square" lIns="45720" rIns="45720" tIns="18288" bIns="18288" anchor="ctr">
            <a:spAutoFit/>
          </a:bodyPr>
          <a:lstStyle/>
          <a:p>
            <a:pPr algn="l"/>
            <a:r>
              <a:rPr sz="1250" b="0" i="0">
                <a:solidFill>
                  <a:srgbClr val="404040"/>
                </a:solidFill>
                <a:latin typeface="Calibri"/>
              </a:rPr>
              <a:t>Anexos del informe: A, B, D, F, H e I evidencias del primer avance · K–T evidencias del segundo avance (BPMN, clases, DER, arquitectura, interfaces, prototipo, cobertura, validación y documentación).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APF2 (solo) - Sustentación — Facturas S20</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