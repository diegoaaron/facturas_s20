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Buenos días. Somos el equipo de Facturas S20. En el primer avance analizamos el problema y elegimos la solución; hoy presentamos su diseño: contexto y objetivos, alternativas y análisis, procesos BPMN, arquitectura, clases, base de datos, prototipo, validación, cronograma, presupuesto y resultados. Cada integrante expone una parte.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Recordamos el problema con el enfoque de procesos que pide este avance. La bodega del NRUS recibe facturas que no registra; eso afecta cinco procesos, desde la recepción hasta el pago. En el caso de referencia se perdieron 5 de 14 facturas, el cálculo toma 3 horas y el titular pagó S/ 30 de más en el mes, S/ 360 al año. La solución se organiza en seis módulos que cubren esos procesos.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El objetivo general es desarrollar Facturas S20, una app Android en Java que registre las facturas por foto con Gemma 4 ajustado y ejecutado en el teléfono, y que calcule el total del mes y la categoría del NRUS. Lo desglosamos en siete objetivos específicos, cada uno con un resultado medible: del modelado de procesos a la validación en un mes simulado. A la derecha, lo que queda fuera: la app calcula y prepara, pero la declaración se presenta por los canales de la SUNAT.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Profundizamos las tres alternativas con los seis aspectos que pide la consigna. Las tres tienen al menos cinco pantallas y más de 50 % de Java. La diferencia es dónde se lee la factura. Solo la alternativa 1 cubre los 22 requerimientos funcionales y los 19 no funcionales, porque funciona sin conexión y la imagen no sale del teléfono; la 2 no instala el modelo y la 3 usa un modelo cerrado. Obtuvo 4,40 sobre 5 en la matriz ponderada.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El análisis del primer avance se afinó con los procesos BPMN: cada tarea que ejecuta la app corresponde a un caso de uso y a uno o más requerimientos. Hay dos actores persona, el bodeguero y el contador externo, que solo recibe el reporte, y dos actores sistema: el motor de extracción y el motor de reglas. Se retiró el Administrador porque ya no hay servidor. Son 12 casos de uso, 22 requerimientos funcionales y 19 no funcionales según ISO/IEC 25010. Paso la palabra a Paulo.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Modelamos los procesos con BPMN 2.0. Uso la notación estándar: pools por participante, eventos de inicio, de temporizador y de fin, tareas y compuertas exclusivas. En el proceso actual, al fin de mes el titular reúne, estima y suma a mano. La compuerta ¿Seguro de la categoría? es donde nace el pago en exceso. Las anotaciones rojas son los tres puntos de error.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En el proceso propuesto la bodega tiene dos carriles: el bodeguero y la app. La factura se fotografía al llegar, Gemma 4 la lee en el teléfono, el bodeguero solo verifica y el acumulado y la categoría se recalculan con cada factura. Si se pasa del 80 % del límite, la app avisa. El cierre ya no es manual: un temporizador recuerda el vencimiento y solo se pide el total de ventas.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Paulo: Detallamos el caso de uso principal en cuatro carriles. Tres compuertas cubren las excepciones: foto ilegible, equipo sin memoria o sin modelo, y factura duplicada. Solo después de la revisión del bodeguero se guarda todo en una transacción y se recalcula el mes. Los subprocesos de cierre mensual y de publicación del modelo están en el Anexo K. Paso la palabra a Morán.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La arquitectura tiene cuatro capas en el teléfono: presentación, dominio, inferencia local y datos. La regla es que el dominio no depende de nadie: la inferencia y los datos implementan sus interfaces. Por eso el motor del NRUS se prueba sin emulador y el modelo se cambia sin tocar el dominio. No hay servidor propio: fuera del teléfono solo están Google Play y el repositorio público del que se descarga una vez el modelo; el entrenamiento ocurre fuera del producto en Colab.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El diagrama de clases tiene dos vistas. El dominio, con 14 clases y enumeraciones para los estados; agregamos ParametrosNrus, para cambiar la norma sin tocar el código, y Aviso. La vista de diseño muestra cómo se implementa el registro por capas con buenas prácticas: inversión de dependencias, responsabilidad única y encapsulamiento, con BigDecimal para los montos.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Morán: La base de datos es una sola y vive en el teléfono: SQLite con Room, cifrada con SQLCipher. Son 13 tablas en tercera forma normal y es la única fuente de verdad. Respecto del primer avance retiramos el servidor de respaldo: no hay cuentas, respaldos remotos ni tablas de administración. Si el bodeguero quiere revisar sus datos en una PC, la app los exporta a archivos CSV. Aplicamos consultas parametrizadas, PIN con hash y verificación SHA-256 del modelo. Paso la palabra a Fabrizzio.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Las interfaces se diseñaron desde el proceso TO-BE: cada tarea del bodeguero tiene una pantalla. El sistema de diseño fija colores con significado, tipografía, componentes y reglas de UX: botones de 48 dp, texto de datos de 16 sp y lenguaje sin términos contables. La navegación usa una barra inferior con un botón central Escanear, así registrar una factura está siempre a un toque.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Este es el flujo principal del prototipo. Desde el inicio, que muestra compras, categoría, cuota y vencimiento, el bodeguero toca Escanear, encuadra la factura con indicador de nitidez, revisa los campos —el importe aparece en ámbar porque la confianza fue baja— y guarda. Son tres toques. El total del mes se actualiza y avisa que pasó el 80 % del límite.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El prototipo completo tiene 20 pantallas móviles en seis módulos y el reporte PDF. Aquí la determinación: la app explica que decide el mayor monto entre compras y ventas. El vencimiento se calcula con el último dígito del RUC. El reporte PDF es lo que el bodeguero comparte con su contador, y la pantalla Exportar datos genera un ZIP con los CSV, las imágenes y el reporte para revisarlos en una PC; la app no envía nada a ningún servidor.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Fabrizzio: Validamos el diseño con matrices de cobertura. Cada uno de los 22 requerimientos funcionales tiene pantalla, caso de uso, clase y tabla; los 19 no funcionales tienen una decisión de diseño verificable. Hicimos una evaluación heurística con las diez heurísticas de Nielsen y un recorrido de seis tareas, y definimos la prueba con tres titulares para la iteración 3. Devuelvo la palabra a Diego.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Al corte de la semana 8 el análisis y el diseño están completos y no hay desviaciones: adelantamos el front-end una semana. El ajuste fino con conversión inicia la semana 9. El proyecto necesita un desembolso de unos S/ 242; el resto son aportes del equipo. No hay costo de operación mensual: no existe servidor y la lectura se hace en el teléfono.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Los resultados de este avance son los entregables de diseño que pide la consigna, y los nueve están completos. No adelantamos cifras que aún no medimos: la exactitud del modelo convertido y el tiempo de lectura se medirán en APF3, y el total mensual y la categoría en el mes simulado del informe final. El prototipo de la competencia Build with Gemma ya confirmó que el modelo ajustado extrae los campos en 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Cinco conclusiones. El problema es operativo y el proceso propuesto elimina sus tres puntos de error. El diseño cubre el 100 % del alcance. Todo vive en una sola base cifrada en el teléfono y el titular exporta sus datos cuando quiere. El registro toma tres toques y se validará con usuarios en la iteración 3. Y la solución mantiene 85 % de Java sin costo mensual de operación.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Diego: Por último, entregamos la documentación técnica en Markdown, pensada para versionarse con el código: arquitectura, contratos, esquema de datos, reglas del NRUS, pantallas, exportación de datos y plan de pruebas. Con ella empieza la construcción hacia APF3: el front-end y el dominio, el ajuste fino con conversión a .litertlm y la medición en el teléfono de referencia. Gracias, quedamos atentos a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Relationship Id="rId4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Relationship Id="rId4" Type="http://schemas.openxmlformats.org/officeDocument/2006/relationships/image" Target="../media/image10.png"/><Relationship Id="rId5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image" Target="../media/image16.png"/><Relationship Id="rId5" Type="http://schemas.openxmlformats.org/officeDocument/2006/relationships/image" Target="../media/image17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2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9E1B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069080" y="502920"/>
            <a:ext cx="4050791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731520"/>
            <a:ext cx="3136392" cy="8348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1828800"/>
            <a:ext cx="10725912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Facturas S20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423160"/>
            <a:ext cx="9994392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000" b="0" i="0">
                <a:solidFill>
                  <a:srgbClr val="FFFFFF"/>
                </a:solidFill>
                <a:latin typeface="Calibri"/>
              </a:rPr>
              <a:t>Aplicación móvil con IA multimodal (Gemma 4) para mejorar la exactitud de la declaración mensual del NRUS en bodegas de S.J.L.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0408" y="3383280"/>
            <a:ext cx="1097280" cy="45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566160"/>
            <a:ext cx="10360152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FFFFFF"/>
                </a:solidFill>
                <a:latin typeface="Calibri"/>
              </a:rPr>
              <a:t>Avance de Proyecto Final 2  ·  Curso Integrador I: Sistemas Software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103601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Sección 48935  ·  Docente: Ing. Carlos Alberto Effio Gonzáles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0" y="4434840"/>
            <a:ext cx="5788152" cy="11887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6126480"/>
            <a:ext cx="10360152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Lima – Perú  ·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ANÁLISIS DEL CONTEXTO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El problema afecta a toda la cadena del proceso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Calibri"/>
              </a:rPr>
              <a:t>14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facturas de compra al mes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5 de 14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facturas perdidas al cierre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3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de cálculo manual al mes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143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3716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C00000"/>
                </a:solidFill>
                <a:latin typeface="Calibri"/>
              </a:rPr>
              <a:t>S/ 360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19933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pagados de más al año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743200"/>
          <a:ext cx="7589520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2651760"/>
                <a:gridCol w="2560320"/>
              </a:tblGrid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Proceso de la bodega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Cómo lo afecta el problema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Qué hace Facturas S20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Recepción de mercadería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La factura se guarda sin registrar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Foto en ≈ 10 s en el mostrador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Custodia de comprobantes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 pierden o deterioran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Imagen cifrada en el teléfono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Cálculo mensual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Suma a mano, 3 h y errores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Acumulado automático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Determinación de la categoría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Ante la duda, categoría superior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Motor de reglas y avisos al 80 %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Declaración y pago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Al último día y sin sustento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Recordatorio y reporte PDF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321040" y="2743200"/>
            <a:ext cx="3383280" cy="2852928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21040" y="274320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58200" y="288036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Alcance: 6 módulos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58200" y="3200400"/>
            <a:ext cx="3108960" cy="230428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Acceso y configuración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Registro de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Control de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Determinación del NRUS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Reportes e historial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Exportación y modelo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OBJETIVOS Y ALCANCE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Objetivo general, siete objetivos específicos y límites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7589520" cy="100584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371600"/>
            <a:ext cx="7223760" cy="9144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Objetivo general: </a:t>
            </a:r>
            <a:r>
              <a:rPr sz="1300" b="0" i="0">
                <a:solidFill>
                  <a:srgbClr val="FFFFFF"/>
                </a:solidFill>
                <a:latin typeface="Calibri"/>
              </a:rPr>
              <a:t>app Android nativa en Java que registra las facturas de compra por fotografía con Gemma 4 E2B ajustado y ejecutado en el teléfono, sin conexión, y calcula el total mensual y la categoría del NRUS.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502920" y="2514600"/>
          <a:ext cx="758952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0080"/>
                <a:gridCol w="3566160"/>
                <a:gridCol w="33832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Cód.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Objetivo específico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Modelar el proceso actual y el propuesto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AS-IS y TO-BE con puntos de error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Conjunto de facturas peruanas etiquetadas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Entrenamiento, validación y prueba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Ajuste fino de Gemma 4 E2B y conversión a .litertlm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Mejor que el modelo base tras convertir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OE4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Motor de reglas del NRUS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Verificado con casos de la norma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OE5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App Android en Java con LiteRT-LM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Sin conexión, ≥ 50 % de Java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OE6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Exportación a CSV, imágenes y PDF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Cero envíos automáticos de datos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OE7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Validar en un mes simulado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≥ 90 % por campo · ≤ 20 s · &lt; 2 % en el total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8321040" y="1325880"/>
            <a:ext cx="3383280" cy="2743200"/>
          </a:xfrm>
          <a:prstGeom prst="rect">
            <a:avLst/>
          </a:prstGeom>
          <a:solidFill>
            <a:srgbClr val="FBE9E9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321040" y="1325880"/>
            <a:ext cx="3383280" cy="640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463039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Fuera del alcance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1783080"/>
            <a:ext cx="3108960" cy="21945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Presentar y pagar ante la SUNAT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Registrar cada venta diaria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Emitir comprobantes electrónicos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Contabilidad, inventario o planillas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Otros regímenes e iOS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321040" y="4206240"/>
            <a:ext cx="33832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321040" y="420624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58200" y="434340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Delimitación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4663440"/>
            <a:ext cx="3108960" cy="141731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Bodegas del NRUS con un solo local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Validación en San Juan de Lurigancho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Teléfono con &lt; 6 GB: registro manual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Agosto a diciembre de 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ALTERNATIVAS DE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Tres alternativas profundizadas; se mantiene la 1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71600"/>
            <a:ext cx="3611880" cy="868680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1 · SELECCIONADA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 Android en Java con Gemma 4 embebido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20 pantallas móviles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85 %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Lee la factura sin internet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La imagen no sale del teléfono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22/22 · RNF 19/19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1E7B4F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1E7B4F"/>
                </a:solidFill>
                <a:latin typeface="Calibri"/>
              </a:rPr>
              <a:t>4,40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1371600"/>
            <a:ext cx="3611880" cy="86868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3484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3484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App Android en Java con inferencia en servidor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6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7 pantallas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85 %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Sin señal solo encola facturas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Costo mensual de GPU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parcial · RNF 16/19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8056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C55A11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C55A11"/>
                </a:solidFill>
                <a:latin typeface="Calibri"/>
              </a:rPr>
              <a:t>3,60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092440" y="1371600"/>
            <a:ext cx="3611880" cy="86868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1417320"/>
            <a:ext cx="33832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ALTERNATIVA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1691640"/>
            <a:ext cx="338328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Aplicación web en Java con servicio de terceros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2440" y="2240280"/>
            <a:ext cx="36118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75320" y="2377440"/>
            <a:ext cx="3291840" cy="20116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6 pantallas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Java ≈ 80 %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Modelo cerrado, sin ajuste fino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Cobra por documento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50" b="0">
                <a:solidFill>
                  <a:srgbClr val="262626"/>
                </a:solidFill>
                <a:latin typeface="Calibri"/>
              </a:rPr>
              <a:t>RF parcial · RNF 13/19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5320" y="4434840"/>
            <a:ext cx="32918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000" b="0" i="0">
                <a:solidFill>
                  <a:srgbClr val="404040"/>
                </a:solidFill>
                <a:latin typeface="Calibri"/>
              </a:rPr>
              <a:t>Puntaje ponderado  </a:t>
            </a:r>
            <a:r>
              <a:rPr sz="2000" b="1" i="0">
                <a:solidFill>
                  <a:srgbClr val="404040"/>
                </a:solidFill>
                <a:latin typeface="Calibri"/>
              </a:rPr>
              <a:t>2,15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0" i="0">
                <a:solidFill>
                  <a:srgbClr val="1E7B4F"/>
                </a:solidFill>
                <a:latin typeface="Calibri"/>
              </a:rPr>
              <a:t>Criterios de mayor peso: permitir el ajuste fino sobre facturas peruanas (25 %) y funcionar sin conexión (20 %). La única desventaja de la alternativa 1 —requiere un teléfono de gama media— se mitiga con el registro manual (P19).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ANÁLISIS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Actores, 12 casos de uso y requerimientos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pic>
        <p:nvPicPr>
          <p:cNvPr id="9" name="Picture 8" descr="casos_us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722574"/>
            <a:ext cx="5486400" cy="4190090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72200" y="1325880"/>
          <a:ext cx="553211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822960"/>
                <a:gridCol w="2971799"/>
              </a:tblGrid>
              <a:tr h="438912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Actor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Tipo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Rol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Bodeguero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Registra facturas y consulta el mes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Contador externo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Persona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Recibe el reporte o los datos exportados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Motor de extracción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Gemma 4 E2B con LiteRT-LM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Motor de reglas NRUS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Sistema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Categoría, cuota, topes y vencimiento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172200" y="3703320"/>
            <a:ext cx="1746504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172200" y="3794760"/>
            <a:ext cx="1746504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Calibri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72200" y="4416552"/>
            <a:ext cx="174650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casos de uso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8" y="3703320"/>
            <a:ext cx="1746504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5008" y="3794760"/>
            <a:ext cx="1746504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1F4E79"/>
                </a:solidFill>
                <a:latin typeface="Calibri"/>
              </a:rPr>
              <a:t>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5008" y="4416552"/>
            <a:ext cx="174650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RF: 13 alta, 8 media, 1 baja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957816" y="3703320"/>
            <a:ext cx="1746504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957816" y="3794760"/>
            <a:ext cx="1746504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000" b="1" i="0">
                <a:solidFill>
                  <a:srgbClr val="1E7B4F"/>
                </a:solidFill>
                <a:latin typeface="Calibri"/>
              </a:rPr>
              <a:t>19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57816" y="4416552"/>
            <a:ext cx="1746504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RNF con métrica ISO 25010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212080"/>
            <a:ext cx="5532120" cy="109728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55080" y="5257800"/>
            <a:ext cx="516636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0" i="0">
                <a:solidFill>
                  <a:srgbClr val="1E7B4F"/>
                </a:solidFill>
                <a:latin typeface="Calibri"/>
              </a:rPr>
              <a:t>Respecto del primer avance se retiró el actor Administrador: sin servidor ni consola no hay nada que administrar fuera del teléfono.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Proceso actual (AS-IS): tres puntos de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pic>
        <p:nvPicPr>
          <p:cNvPr id="9" name="Picture 8" descr="bpmn_01_a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229600" cy="327313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869680" y="1325880"/>
            <a:ext cx="2834640" cy="23317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869680" y="1325880"/>
            <a:ext cx="283464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06840" y="1463039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Notación usada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6840" y="1783080"/>
            <a:ext cx="2560320" cy="17830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Pools: distribuidor, bodega, SUNAT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Evento de temporizador: fin de mes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Compuertas exclusivas (XOR)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Flujo de mensaje entre pools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150" b="0">
                <a:solidFill>
                  <a:srgbClr val="262626"/>
                </a:solidFill>
                <a:latin typeface="Calibri"/>
              </a:rPr>
              <a:t>Almacén de datos: la caja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69680" y="3794760"/>
            <a:ext cx="2834640" cy="2514600"/>
          </a:xfrm>
          <a:prstGeom prst="rect">
            <a:avLst/>
          </a:prstGeom>
          <a:solidFill>
            <a:srgbClr val="FBE9E9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869680" y="3794760"/>
            <a:ext cx="2834640" cy="64008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06840" y="3931920"/>
            <a:ext cx="256032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C00000"/>
                </a:solidFill>
                <a:latin typeface="Calibri"/>
              </a:rPr>
              <a:t>Puntos de error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06840" y="4251960"/>
            <a:ext cx="2560320" cy="19659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Guardar sin registrar: se pierden 5 de 14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Sumar a mano: 3 h y errores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Estimar ante la duda: paga S/ 50 en vez de S/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Proceso propuesto (TO-BE): registrar al recibir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pic>
        <p:nvPicPr>
          <p:cNvPr id="9" name="Picture 8" descr="bpmn_02_tob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229600" cy="4021281"/>
          </a:xfrm>
          <a:prstGeom prst="rect">
            <a:avLst/>
          </a:prstGeom>
        </p:spPr>
      </p:pic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8823960" y="1371600"/>
          <a:ext cx="2926080" cy="3401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960120"/>
                <a:gridCol w="1051560"/>
              </a:tblGrid>
              <a:tr h="566928"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Aspecto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AS-IS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TO-BE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Registro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Fin de mes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Al recibir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Tiempo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≈ 3 h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≈ 10 s por factura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Categoría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Juicio ante la duda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Motor de reglas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Sustento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64 % conservadas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100 % con imagen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626"/>
                          </a:solidFill>
                          <a:latin typeface="Calibri"/>
                        </a:rPr>
                        <a:t>Avisos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Ninguno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62626"/>
                          </a:solidFill>
                          <a:latin typeface="Calibri"/>
                        </a:rPr>
                        <a:t>80 %, 100 % y vencimiento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PROCESOS · BPMN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Subproceso «Registrar factura con IA» y sus excepciones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Coronel Obregón, Paulo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pic>
        <p:nvPicPr>
          <p:cNvPr id="9" name="Picture 8" descr="bpmn_03_registr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8138160" cy="406908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778240" y="1325880"/>
            <a:ext cx="2926080" cy="2788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778240" y="1325880"/>
            <a:ext cx="29260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15400" y="1463039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Excepciones diseñadas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15400" y="1783080"/>
            <a:ext cx="2651760" cy="22402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¿Legible? </a:t>
            </a:r>
            <a:r>
              <a:rPr sz="1200" b="0">
                <a:solidFill>
                  <a:srgbClr val="262626"/>
                </a:solidFill>
                <a:latin typeface="Calibri"/>
              </a:rPr>
              <a:t>no → otra toma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¿Modelo y memoria? </a:t>
            </a:r>
            <a:r>
              <a:rPr sz="1200" b="0">
                <a:solidFill>
                  <a:srgbClr val="262626"/>
                </a:solidFill>
                <a:latin typeface="Calibri"/>
              </a:rPr>
              <a:t>no → registro manual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¿Duplicada? </a:t>
            </a:r>
            <a:r>
              <a:rPr sz="1200" b="0">
                <a:solidFill>
                  <a:srgbClr val="262626"/>
                </a:solidFill>
                <a:latin typeface="Calibri"/>
              </a:rPr>
              <a:t>sí → aviso, no se registra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1">
                <a:solidFill>
                  <a:srgbClr val="262626"/>
                </a:solidFill>
                <a:latin typeface="Calibri"/>
              </a:rPr>
              <a:t>¿Corrige? </a:t>
            </a:r>
            <a:r>
              <a:rPr sz="1200" b="0">
                <a:solidFill>
                  <a:srgbClr val="262626"/>
                </a:solidFill>
                <a:latin typeface="Calibri"/>
              </a:rPr>
              <a:t>sí → editar campo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778240" y="4251960"/>
            <a:ext cx="2926080" cy="2057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778240" y="4251960"/>
            <a:ext cx="29260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915400" y="4389120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Requerimientos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4709160"/>
            <a:ext cx="2651760" cy="1508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RF-01 a RF-08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RNF-04: lectura ≤ 20 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RNF-12: sin conexión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RNF-14: la foto no sale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Arquitectura: cuatro capas dentro del teléfono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pic>
        <p:nvPicPr>
          <p:cNvPr id="9" name="Picture 8" descr="arquitectura_cap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7680960" cy="4427847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321040" y="1325880"/>
            <a:ext cx="3383280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321040" y="1325880"/>
            <a:ext cx="33832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1463039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Decisiones clave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58200" y="1783080"/>
            <a:ext cx="3108960" cy="19202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Dominio en Java puro, sin Android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Kotlin solo en el puente con LiteRT-LM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Room + SQLCipher con clave en el Keystore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Modelo como descarga separada verificada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321040" y="3931920"/>
            <a:ext cx="33832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321040" y="3931920"/>
            <a:ext cx="33832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069080"/>
            <a:ext cx="31089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Tecnologías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4389120"/>
            <a:ext cx="310896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Java 17 · Android 8.0+ · CameraX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LiteRT-LM · Gemma 4 E2B (.litertlm)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Room + SQLCipher (SQLite)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Exportación CSV/ZIP · sin servidor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Diagrama de clases: dominio y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pic>
        <p:nvPicPr>
          <p:cNvPr id="9" name="Picture 8" descr="clases_domini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5669280" cy="3800994"/>
          </a:xfrm>
          <a:prstGeom prst="rect">
            <a:avLst/>
          </a:prstGeom>
        </p:spPr>
      </p:pic>
      <p:pic>
        <p:nvPicPr>
          <p:cNvPr id="10" name="Picture 9" descr="clases_disen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280160"/>
            <a:ext cx="5577840" cy="3169227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5440680"/>
            <a:ext cx="11201400" cy="868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548640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Buenas prácticas: </a:t>
            </a:r>
            <a:r>
              <a:rPr sz="1300" b="0" i="0">
                <a:solidFill>
                  <a:srgbClr val="1F4E79"/>
                </a:solidFill>
                <a:latin typeface="Calibri"/>
              </a:rPr>
              <a:t>inversión de dependencias (el caso de uso depende de interfaces), responsabilidad única (ViewModel solo estado), encapsulamiento (atributos privados, BigDecimal y enumeraciones).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DETALLADO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Base de datos: una sola base SQLite cifrada en el teléfono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Mateo Velásquez, Morán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pic>
        <p:nvPicPr>
          <p:cNvPr id="9" name="Picture 8" descr="der_loc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23404" y="1280160"/>
            <a:ext cx="5965671" cy="3931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1480" y="5230368"/>
            <a:ext cx="758952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SQLite · Room + SQLCipher · 13 tablas · 3FN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1325880"/>
            <a:ext cx="3474720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1325880"/>
            <a:ext cx="34747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463039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Exportación para PC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1783080"/>
            <a:ext cx="3200400" cy="3566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ZIP generado a pedido del titular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facturas.csv y periodos.csv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determinaciones.csv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Imágenes y reporte PDF (opcional)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Se abre en Excel o LibreOffice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00" b="0">
                <a:solidFill>
                  <a:srgbClr val="262626"/>
                </a:solidFill>
                <a:latin typeface="Calibri"/>
              </a:rPr>
              <a:t>La app no lo envía a ningún servidor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SQLCipher (AES-256)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86584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32304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Clave en el Keystore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70248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15968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PIN con hash y sal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53912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99631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Consultas parametrizadas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37576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83296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Sin servidor ni cuentas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21240" y="5623560"/>
            <a:ext cx="1783080" cy="6858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5623560"/>
            <a:ext cx="1691640" cy="6858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1" i="0">
                <a:solidFill>
                  <a:srgbClr val="1E7B4F"/>
                </a:solidFill>
                <a:latin typeface="Calibri"/>
              </a:rPr>
              <a:t>SHA-256 del modelo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 INTERFACES · UX/UI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Sistema de diseño y navegación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pic>
        <p:nvPicPr>
          <p:cNvPr id="9" name="Picture 8" descr="ui_sistema_disen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5760720" cy="3240405"/>
          </a:xfrm>
          <a:prstGeom prst="rect">
            <a:avLst/>
          </a:prstGeom>
        </p:spPr>
      </p:pic>
      <p:pic>
        <p:nvPicPr>
          <p:cNvPr id="10" name="Picture 9" descr="ui_mapa_navegac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280160"/>
            <a:ext cx="5486400" cy="2904564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0292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≥ 48 dp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objetivos táctiles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≥ 16 sp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texto de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17220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≤ 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toques para registrar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06840" y="4937760"/>
            <a:ext cx="2651760" cy="13716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06840" y="502920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4,5:1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06840" y="565099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contraste mínimo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DEL PROTOTIPO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Flujo principal: una factura en tres toques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pic>
        <p:nvPicPr>
          <p:cNvPr id="9" name="Picture 8" descr="pantalla_04_inicio_resumen_d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9126" y="1280160"/>
            <a:ext cx="2239346" cy="45720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008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P04 Inicio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309067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pantalla_06_camara_con_encuadr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43766" y="1280160"/>
            <a:ext cx="2239346" cy="45720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47472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P06 Cámara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592531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antalla_08_verificacion_de_datos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78406" y="1280160"/>
            <a:ext cx="2239346" cy="4572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30936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P08 Verificación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759952" y="3429000"/>
            <a:ext cx="320040" cy="320040"/>
          </a:xfrm>
          <a:prstGeom prst="rightArrow">
            <a:avLst/>
          </a:prstGeom>
          <a:solidFill>
            <a:srgbClr val="1E7B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pantalla_10_factura_guardad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13046" y="1280160"/>
            <a:ext cx="2239346" cy="45720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44000" y="5897880"/>
            <a:ext cx="237744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300" b="1" i="0">
                <a:solidFill>
                  <a:srgbClr val="1F4E79"/>
                </a:solidFill>
                <a:latin typeface="Calibri"/>
              </a:rPr>
              <a:t>P10 Guardada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DISEÑO DEL PROTOTIPO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Módulos del NRUS, reportes y exportación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pic>
        <p:nvPicPr>
          <p:cNvPr id="9" name="Picture 8" descr="pantalla_14_categoria_y_cuo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520" y="1280160"/>
            <a:ext cx="2060199" cy="4206240"/>
          </a:xfrm>
          <a:prstGeom prst="rect">
            <a:avLst/>
          </a:prstGeom>
        </p:spPr>
      </p:pic>
      <p:pic>
        <p:nvPicPr>
          <p:cNvPr id="10" name="Picture 9" descr="pantalla_15_vencimiento_y_recordatori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41800" y="1280160"/>
            <a:ext cx="2060199" cy="4206240"/>
          </a:xfrm>
          <a:prstGeom prst="rect">
            <a:avLst/>
          </a:prstGeom>
        </p:spPr>
      </p:pic>
      <p:pic>
        <p:nvPicPr>
          <p:cNvPr id="11" name="Picture 10" descr="reporte_mensual_pd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83480" y="1280160"/>
            <a:ext cx="2834640" cy="3779519"/>
          </a:xfrm>
          <a:prstGeom prst="rect">
            <a:avLst/>
          </a:prstGeom>
        </p:spPr>
      </p:pic>
      <p:pic>
        <p:nvPicPr>
          <p:cNvPr id="12" name="Picture 11" descr="pantalla_20_exportar_dato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8240" y="1280160"/>
            <a:ext cx="2060199" cy="42062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5720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P14 Categoría y cuota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P15 Vencimiento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83480" y="5532120"/>
            <a:ext cx="2834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Reporte mensual PDF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5532120"/>
            <a:ext cx="21488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200" b="1" i="0">
                <a:solidFill>
                  <a:srgbClr val="1F4E79"/>
                </a:solidFill>
                <a:latin typeface="Calibri"/>
              </a:rPr>
              <a:t>P20 Exportar datos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897880"/>
            <a:ext cx="11201400" cy="457200"/>
          </a:xfrm>
          <a:prstGeom prst="rect">
            <a:avLst/>
          </a:prstGeom>
          <a:solidFill>
            <a:srgbClr val="E3F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" y="5897880"/>
            <a:ext cx="10881360" cy="45720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1" i="0">
                <a:solidFill>
                  <a:srgbClr val="1E7B4F"/>
                </a:solidFill>
                <a:latin typeface="Calibri"/>
              </a:rPr>
              <a:t>Herramienta: mockups vectoriales SVG editables en Figma o Penpot · 20 pantallas móviles + reporte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VALIDACIÓN DE LA SOLUCIÓN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El diseño cubre el 100 % del alcance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Gonzales Maco, Fabrizzio Jhoel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E7B4F"/>
                </a:solidFill>
                <a:latin typeface="Calibri"/>
              </a:rPr>
              <a:t>22 / 22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requerimientos funcionales cubiertos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33756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E7B4F"/>
                </a:solidFill>
                <a:latin typeface="Calibri"/>
              </a:rPr>
              <a:t>19 / 19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3756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no funcionales con decisión de diseño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7220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F4E79"/>
                </a:solidFill>
                <a:latin typeface="Calibri"/>
              </a:rPr>
              <a:t>10 / 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heurísticas de Nielsen revisadas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6840" y="1325880"/>
            <a:ext cx="2651760" cy="13258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417320"/>
            <a:ext cx="265176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1F4E79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006840" y="2039112"/>
            <a:ext cx="265176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tareas en la prueba con 3 titulares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502920" y="2880360"/>
          <a:ext cx="7498079" cy="3008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79"/>
                <a:gridCol w="2999232"/>
                <a:gridCol w="1687068"/>
              </a:tblGrid>
              <a:tr h="429768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Escenario verificado en el prototipo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Resultado esperado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Pantallas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Factura legible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Campos leídos; total S/ 4 120,50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P06–P10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Importe con baja confianza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Campo en ámbar para revisar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P08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Factura duplicada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Aviso; no se registra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P09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Equipo de 4 GB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Registro manual validado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P03, P19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Más del 80 % del límite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Barra y aviso en ámbar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P04, P10, P14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262626"/>
                          </a:solidFill>
                          <a:latin typeface="Calibri"/>
                        </a:rPr>
                        <a:t>Anular por error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Se descuenta y recalcula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62626"/>
                          </a:solidFill>
                          <a:latin typeface="Calibri"/>
                        </a:rPr>
                        <a:t>P12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</a:tbl>
          </a:graphicData>
        </a:graphic>
      </p:graphicFrame>
      <p:sp>
        <p:nvSpPr>
          <p:cNvPr id="22" name="Rectangle 21"/>
          <p:cNvSpPr/>
          <p:nvPr/>
        </p:nvSpPr>
        <p:spPr>
          <a:xfrm>
            <a:off x="8229600" y="2880360"/>
            <a:ext cx="34747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0" y="2880360"/>
            <a:ext cx="347472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66760" y="3017520"/>
            <a:ext cx="320040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Metas de usabilidad (I3)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3337560"/>
            <a:ext cx="3200400" cy="2468879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≥ 5 de 6 tareas sin ayuda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≤ 3 toques para registrar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≤ 30 s por factura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SUS ≥ 70 puntos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250" b="0">
                <a:solidFill>
                  <a:srgbClr val="262626"/>
                </a:solidFill>
                <a:latin typeface="Calibri"/>
              </a:rPr>
              <a:t>0 errores al leer la categoría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CRONOGRAMA Y PRESUPUESTO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Cronograma al corte de la semana 8 y presupuesto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pic>
        <p:nvPicPr>
          <p:cNvPr id="9" name="Picture 8" descr="gantt_actualiz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280160"/>
            <a:ext cx="7589520" cy="3536026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8275320" y="1325880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1371600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C00000"/>
                </a:solidFill>
                <a:latin typeface="Calibri"/>
              </a:rPr>
              <a:t>S/ 242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371600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desembolso del proyecto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75320" y="2267712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66760" y="2313432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F4E79"/>
                </a:solidFill>
                <a:latin typeface="Calibri"/>
              </a:rPr>
              <a:t>S/ 19 342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0" y="2313432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incluyendo aportes del equipo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3209544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3255263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E7B4F"/>
                </a:solidFill>
                <a:latin typeface="Calibri"/>
              </a:rPr>
              <a:t>S/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3255263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operación al mes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75320" y="4151376"/>
            <a:ext cx="3429000" cy="850392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4197096"/>
            <a:ext cx="17373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200" b="1" i="0">
                <a:solidFill>
                  <a:srgbClr val="1E7B4F"/>
                </a:solidFill>
                <a:latin typeface="Calibri"/>
              </a:rPr>
              <a:t>S/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58400" y="4197096"/>
            <a:ext cx="160020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costo por factura leída</a:t>
            </a:r>
          </a:p>
        </p:txBody>
      </p:sp>
      <p:graphicFrame>
        <p:nvGraphicFramePr>
          <p:cNvPr id="22" name="Table 21"/>
          <p:cNvGraphicFramePr>
            <a:graphicFrameLocks noGrp="1"/>
          </p:cNvGraphicFramePr>
          <p:nvPr/>
        </p:nvGraphicFramePr>
        <p:xfrm>
          <a:off x="502920" y="5166360"/>
          <a:ext cx="7498080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463040"/>
                <a:gridCol w="5120640"/>
              </a:tblGrid>
              <a:tr h="310896"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Semanas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Siguiente entrega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1">
                          <a:solidFill>
                            <a:srgbClr val="FFFFFF"/>
                          </a:solidFill>
                          <a:latin typeface="Calibri"/>
                        </a:rPr>
                        <a:t>Contenido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9–10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Incremento 1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Front-end navegable y motor NRUS probado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11–12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APF3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Room cifrada, modelo convertido en el teléfono, prueba de usabilidad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1150" b="1">
                          <a:solidFill>
                            <a:srgbClr val="262626"/>
                          </a:solidFill>
                          <a:latin typeface="Calibri"/>
                        </a:rPr>
                        <a:t>13–18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>
                          <a:solidFill>
                            <a:srgbClr val="262626"/>
                          </a:solidFill>
                          <a:latin typeface="Calibri"/>
                        </a:rPr>
                        <a:t>Reportes, exportación de datos, validación en mes simulado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Entregables del APF2 completos y metas por medir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02920" y="1325880"/>
          <a:ext cx="612648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2743200"/>
                <a:gridCol w="155448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Criterio de la consigna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Ubicación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Análisis del contexto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Contexto, canvas e impacto en procesos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Cap. 1, An. 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Alternativas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 alternativas profundizadas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3.2, An. F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Análisis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Actores, 12 CU, 22 RF y 19 RNF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3.4, An. H e I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Diseño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Charter, Gantt, 5 BPMN, 2 clases, DER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3.5, An. B, D, K–N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Base de datos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SQLite lógico y físico con seguridad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3.5.5–3.5.6, An. M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Prototipo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20 pantallas y reporte PDF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3.6, An. O–Q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Validación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Matrices de cobertura y verificación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3.7, An. R y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Cronograma y presupuesto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Gantt, presupuesto, recursos, costos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Cap. 4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Documentación técnica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Markdown para desarrolladores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An. 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02920" y="5989320"/>
            <a:ext cx="61264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E7B4F"/>
                </a:solidFill>
                <a:latin typeface="Calibri"/>
              </a:rPr>
              <a:t>Los nueve entregables están completos.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6858000" y="1325880"/>
          <a:ext cx="4846319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097280"/>
                <a:gridCol w="1005840"/>
                <a:gridCol w="822959"/>
              </a:tblGrid>
              <a:tr h="493776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Línea base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Meta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Cuándo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Registro por factura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1–2 min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≤ 20 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APF3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Cálculo mensual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3 h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Inmediato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Facturas conservadas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64 %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100 %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Exactitud por campo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 medida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≥ 90 %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APF3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Exactitud tras convertir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 medida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Sin pérdida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APF3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Diferencia del total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Desconocida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&lt; 2 %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6F8FA"/>
                    </a:solidFill>
                  </a:tcPr>
                </a:tc>
              </a:tr>
              <a:tr h="493776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262626"/>
                          </a:solidFill>
                          <a:latin typeface="Calibri"/>
                        </a:rPr>
                        <a:t>Categoría correcta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No (cat. 2)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62626"/>
                          </a:solidFill>
                          <a:latin typeface="Calibri"/>
                        </a:rPr>
                        <a:t>Final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858000" y="5440680"/>
            <a:ext cx="4846320" cy="86868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5440680"/>
            <a:ext cx="4572000" cy="86868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50" b="0" i="0">
                <a:solidFill>
                  <a:srgbClr val="404040"/>
                </a:solidFill>
                <a:latin typeface="Calibri"/>
              </a:rPr>
              <a:t>El prototipo de Build with Gemma confirmó que el modelo ajustado extrae los campos en JSON; falta medirlo cuantizado en el teléfono.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CONCLUSIONES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Lo que demuestra el diseño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463040"/>
            <a:ext cx="36118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60020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1 · Problema operativo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337560" cy="1600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50" b="0" i="0">
                <a:solidFill>
                  <a:srgbClr val="262626"/>
                </a:solidFill>
                <a:latin typeface="Calibri"/>
              </a:rPr>
              <a:t>Los tres puntos de error del AS-IS —guardar sin registrar, sumar a mano y estimar ante la duda— se eliminan o automatizan en el TO-BE.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97680" y="1463040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97680" y="1463040"/>
            <a:ext cx="36118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34840" y="160020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2 · Alcance cubierto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40" y="1920240"/>
            <a:ext cx="3337560" cy="1600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50" b="0" i="0">
                <a:solidFill>
                  <a:srgbClr val="262626"/>
                </a:solidFill>
                <a:latin typeface="Calibri"/>
              </a:rPr>
              <a:t>Los 22 RF tienen pantalla, caso de uso, clase y tabla; los 19 RNF, una decisión verificable.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463040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92440" y="1463040"/>
            <a:ext cx="36118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0020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3 · Datos en el teléfono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920240"/>
            <a:ext cx="3337560" cy="1600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50" b="0" i="0">
                <a:solidFill>
                  <a:srgbClr val="262626"/>
                </a:solidFill>
                <a:latin typeface="Calibri"/>
              </a:rPr>
              <a:t>Una sola base SQLite cifrada; sin servidor de respaldo. El titular exporta a CSV y PDF cuando quiere.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886200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02920" y="3886200"/>
            <a:ext cx="361188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402336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4 · Tres toques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343400"/>
            <a:ext cx="3337560" cy="1600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50" b="0" i="0">
                <a:solidFill>
                  <a:srgbClr val="262626"/>
                </a:solidFill>
                <a:latin typeface="Calibri"/>
              </a:rPr>
              <a:t>El registro de una factura toma tres toques desde el inicio; se validará con usuarios en la iteración I3.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97680" y="3886200"/>
            <a:ext cx="3611880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97680" y="3886200"/>
            <a:ext cx="361188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4840" y="4023360"/>
            <a:ext cx="333756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5 · Java y costo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34840" y="4343400"/>
            <a:ext cx="3337560" cy="1600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50" b="0" i="0">
                <a:solidFill>
                  <a:srgbClr val="262626"/>
                </a:solidFill>
                <a:latin typeface="Calibri"/>
              </a:rPr>
              <a:t>Alrededor de 85 % de código Java y sin costo de operación mensual: no hay servidor que mantener.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92440" y="3886200"/>
            <a:ext cx="3611880" cy="21488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92440" y="4069080"/>
            <a:ext cx="18013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E7B4F"/>
                </a:solidFill>
                <a:latin typeface="Calibri"/>
              </a:rPr>
              <a:t>100 %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92440" y="4690872"/>
            <a:ext cx="1801368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del alcance funcional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902952" y="4069080"/>
            <a:ext cx="1801368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800" b="1" i="0">
                <a:solidFill>
                  <a:srgbClr val="1F4E79"/>
                </a:solidFill>
                <a:latin typeface="Calibri"/>
              </a:rPr>
              <a:t>S/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2952" y="4690872"/>
            <a:ext cx="1801368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de operación al mes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0" y="5212080"/>
            <a:ext cx="3337560" cy="7315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1150" b="0" i="0">
                <a:solidFill>
                  <a:srgbClr val="404040"/>
                </a:solidFill>
                <a:latin typeface="Calibri"/>
              </a:rPr>
              <a:t>La prueba con tres titulares y la exactitud del modelo se miden en APF3.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C00000"/>
                </a:solidFill>
                <a:latin typeface="Calibri"/>
              </a:rPr>
              <a:t>DOCUMENTACIÓN TÉCNICA · CIERRE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457200"/>
            <a:ext cx="9692640" cy="594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800" b="1" i="0">
                <a:solidFill>
                  <a:srgbClr val="1F4E79"/>
                </a:solidFill>
                <a:latin typeface="Calibri"/>
              </a:rPr>
              <a:t>Documentación para desarrolladores y próximos pasos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97280"/>
            <a:ext cx="1371600" cy="457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t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07040" y="228600"/>
            <a:ext cx="1188720" cy="316382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9224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  <a:latin typeface="Calibri"/>
              </a:rPr>
              <a:t>Damián Valdivia, Diego Aarón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0" y="6492240"/>
            <a:ext cx="548640" cy="36576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r"/>
            <a:r>
              <a:rPr sz="1100" b="0" i="0">
                <a:solidFill>
                  <a:srgbClr val="FFFFFF"/>
                </a:solidFill>
                <a:latin typeface="Calibr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325880"/>
            <a:ext cx="548640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325880"/>
            <a:ext cx="5486400" cy="6400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463039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F4E79"/>
                </a:solidFill>
                <a:latin typeface="Calibri"/>
              </a:rPr>
              <a:t>entregable2_documentacion_tecnica.md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5212080" cy="34747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Arquitectura por capas y regla de dependencias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Reglas del NRUS con casos de prueba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Contrato del modelo: instrucción y JSON de salida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Esquema SQLite de 13 tablas y migraciones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Pantallas P01–P20, tokens y textos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Exportación de datos, seguridad y entornos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Plan de construcción por iteraciones y pruebas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325880"/>
            <a:ext cx="54864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9D3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25880"/>
            <a:ext cx="5486400" cy="64008"/>
          </a:xfrm>
          <a:prstGeom prst="rect">
            <a:avLst/>
          </a:prstGeom>
          <a:solidFill>
            <a:srgbClr val="1E7B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1463039"/>
            <a:ext cx="52120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00" b="1" i="0">
                <a:solidFill>
                  <a:srgbClr val="1E7B4F"/>
                </a:solidFill>
                <a:latin typeface="Calibri"/>
              </a:rPr>
              <a:t>Próximos pasos hacia APF3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1783080"/>
            <a:ext cx="5212080" cy="18288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Front-end y dominio desde la documentación técnica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Ajuste fino y conversión a .litertlm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Exactitud y tiempo en el teléfono de referencia</a:t>
            </a:r>
          </a:p>
          <a:p>
            <a:pPr marL="182880" indent="-182880">
              <a:spcAft>
                <a:spcPts val="400"/>
              </a:spcAft>
              <a:buChar char="•"/>
            </a:pPr>
            <a:r>
              <a:rPr sz="1300" b="0">
                <a:solidFill>
                  <a:srgbClr val="262626"/>
                </a:solidFill>
                <a:latin typeface="Calibri"/>
              </a:rPr>
              <a:t>Prueba de usabilidad con tres titulares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0" y="3840480"/>
            <a:ext cx="5486400" cy="1508760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3886200"/>
            <a:ext cx="5120640" cy="14173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Una foto al recibir la factura, la IA la lee en el teléfono y el bodeguero declara el NRUS con el monto exacto.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532120"/>
            <a:ext cx="11201400" cy="77724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5532120"/>
            <a:ext cx="10881360" cy="7772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1250" b="0" i="0">
                <a:solidFill>
                  <a:srgbClr val="404040"/>
                </a:solidFill>
                <a:latin typeface="Calibri"/>
              </a:rPr>
              <a:t>Anexos del informe: A, B, D, F, H e I evidencias del primer avance · K–T evidencias del segundo avance (BPMN, clases, DER, arquitectura, interfaces, prototipo, cobertura, validación y documentación).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APF2 (solo) - Sustentación — Facturas S20</dc:title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