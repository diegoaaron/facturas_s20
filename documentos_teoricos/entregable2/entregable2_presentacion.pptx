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Buenos días. Somos el equipo de Facturas S20. En el primer avance analizamos el problema y elegimos la solución; hoy presentamos su diseño: procesos BPMN, arquitectura, clases, base de datos, prototipo, validación, cronograma y presupuesto. Cada integrante expone una 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Recordamos el problema con el enfoque de procesos que pide este avance. La bodega del NRUS recibe facturas que no registra; eso afecta cinco procesos, desde la recepción hasta el pago. En el caso de referencia se perdieron 5 de 14 facturas, el cálculo toma 3 horas y el titular pagó S/ 30 de más en el mes, S/ 360 al año. La solución se organiza en seis módulos que cubren esos procesos.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Profundizamos las tres alternativas con los seis aspectos que pide la consigna. Las tres tienen al menos cinco pantallas y más de 50 % de Java. La diferencia es dónde se lee la factura. Solo la alternativa 1 cubre los 22 requerimientos funcionales y los 19 no funcionales, porque funciona sin conexión y la imagen no sale del teléfono. Obtuvo 4,40 sobre 5 en la matriz ponderada. Paso la palabra a Paulo.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Modelamos los procesos con BPMN 2.0. Uso la notación estándar: pools por participante, eventos de inicio, de temporizador y de fin, tareas y compuertas exclusivas. En el proceso actual, al fin de mes el titular reúne, estima y suma a mano. La compuerta ¿Seguro de la categoría? es donde nace el pago en exceso. Las anotaciones rojas son los tres puntos de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En el proceso propuesto la bodega tiene dos carriles: el bodeguero y la app. La factura se fotografía al llegar, Gemma 4 la lee en el teléfono, el bodeguero solo verifica y el acumulado y la categoría se recalculan con cada factura. Si se pasa del 80 % del límite, la app avisa. El cierre ya no es manual: un temporizador recuerda el vencimiento y solo se pide el total de ventas.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Detallamos el caso de uso principal en cuatro carriles. Tres compuertas cubren las excepciones: foto ilegible, equipo sin memoria o sin modelo, y factura duplicada. Solo después de la revisión del bodeguero se guarda todo en una transacción y se recalcula el mes. Los subprocesos de cierre mensual y de publicación del modelo están en el Anexo K. Paso la palabra a Morán.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La arquitectura tiene cuatro capas en el teléfono: presentación, dominio, inferencia local y datos. La regla es que el dominio no depende de nadie: la inferencia y los datos implementan sus interfaces. Por eso el motor del NRUS se prueba sin emulador y el modelo se cambia sin tocar el dominio. No hay servidor propio: fuera del teléfono solo están Google Play y el repositorio público del que se descarga una vez el modelo; el entrenamiento ocurre fuera del producto en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El diagrama de clases tiene dos vistas. El dominio, con 14 clases y enumeraciones para los estados; agregamos ParametrosNrus, para cambiar la norma sin tocar el código, y Aviso. La vista de diseño muestra cómo se implementa el registro por capas con buenas prácticas: inversión de dependencias, responsabilidad única y encapsulamiento, con BigDecimal para los montos.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La base de datos es una sola y vive en el teléfono: SQLite con Room, cifrada con SQLCipher. Son 13 tablas en tercera forma normal y es la única fuente de verdad. Respecto del primer avance retiramos el servidor de respaldo: no hay cuentas, respaldos remotos ni tablas de administración. Si el bodeguero quiere revisar sus datos en una PC, la app los exporta a archivos CSV. Aplicamos consultas parametrizadas, PIN con hash y verificación SHA-256 del modelo. Paso la palabra a Fabrizzio.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Las interfaces se diseñaron desde el proceso TO-BE: cada tarea del bodeguero tiene una pantalla. El sistema de diseño fija colores con significado, tipografía, componentes y reglas de UX: botones de 48 dp, texto de datos de 16 sp y lenguaje sin términos contables. La navegación usa una barra inferior con un botón central Escanear, así registrar una factura está siempre a un toque.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Este es el flujo principal del prototipo. Desde el inicio, que muestra compras, categoría, cuota y vencimiento, el bodeguero toca Escanear, encuadra la factura con indicador de nitidez, revisa los campos —el importe aparece en ámbar porque la confianza fue baja— y guarda. Son tres toques. El total del mes se actualiza y avisa que pasó el 80 % del límite.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El prototipo completo tiene 20 pantallas móviles en seis módulos y el reporte PDF. Aquí la determinación: la app explica que decide el mayor monto entre compras y ventas. El vencimiento se calcula con el último dígito del RUC. El reporte PDF es lo que el bodeguero comparte con su contador, y la pantalla Exportar datos genera un ZIP con los CSV, las imágenes y el reporte para revisarlos en una PC; la app no envía nada a ningún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Validamos el diseño con matrices de cobertura. Cada uno de los 22 requerimientos funcionales tiene pantalla, caso de uso, clase y tabla; los 19 no funcionales tienen una decisión de diseño verificable. Hicimos una evaluación heurística con las diez heurísticas de Nielsen y un recorrido de seis tareas, y definimos la prueba con tres titulares para la iteración 3. Devuelvo la palabra a Diego.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Al corte de la semana 8 el análisis y el diseño están completos y no hay desviaciones: adelantamos el front-end una semana. El ajuste fino con conversión inicia la semana 9. El proyecto necesita un desembolso de unos S/ 242; el resto son aportes del equipo. No hay costo de operación mensual: no existe servidor y la lectura se hace en el teléfono.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Por último, entregamos la documentación técnica en Markdown, pensada para versionarse con el código: arquitectura, contratos, esquema de datos, reglas del NRUS, pantallas, exportación de datos y plan de pruebas. Con ella empieza la construcción. En conclusión: el diseño cubre todo el alcance, protege los datos del bodeguero y mantiene 85 % de Java. Gracias, quedamos atentos 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E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9080" y="502920"/>
            <a:ext cx="4050791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731520"/>
            <a:ext cx="3136392" cy="8348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1072591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Facturas S20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9994392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Aplicación móvil con IA multimodal (Gemma 4) para mejorar la exactitud de la declaración mensual del NRUS en bodegas de S.J.L.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0408" y="3383280"/>
            <a:ext cx="109728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Avance de Proyecto Final 2  ·  Curso Integrador I: Sistemas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03601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Sección 48935  ·  Docente: Ing. Carlos Alberto Effio Gonzáles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434840"/>
            <a:ext cx="5788152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Lima – Perú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ANÁLISIS DEL 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El problema afecta a toda la cadena del proceso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facturas de compra al 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5 de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facturas perdidas al cierre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de cálculo manual al 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S/ 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pagados de más al año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2743200"/>
          <a:ext cx="758952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25603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Proceso de la bodega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Cómo lo afecta el problema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Qué hace Facturas S20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Recepción de mercadería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La factura se guarda sin registrar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Foto en ≈ 10 s en el mostrador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Custodia de comprobantes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Se pierden o deterioran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Imagen cifrada en el teléfono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Cálculo mensual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Suma a mano, 3 h y errores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Acumulado automático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Determinación de la categoría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Ante la duda, categoría superior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Motor de reglas y avisos al 80 %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Declaración y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Al último día y sin sustento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Recordatorio y reporte PDF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8321040" y="2743200"/>
            <a:ext cx="338328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2743200"/>
            <a:ext cx="33832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2880360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Alcance: 6 módulos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200400"/>
            <a:ext cx="3108960" cy="23042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Acceso y configuración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Registro de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Control de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Determinación del NRUS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Reportes e historial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Exportación y modelo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ALTERNATIVAS DE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Tres alternativas profundizadas; se mantiene la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3611880" cy="86868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1 · SELECCIONADA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 Android en Java con Gemma 4 embebido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20 pantallas móviles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85 %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Lee la factura sin internet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La imagen no sale del teléfono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22/22 · RNF 19/19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1E7B4F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1E7B4F"/>
                </a:solidFill>
                <a:latin typeface="Calibri"/>
              </a:rPr>
              <a:t>4,40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3611880" cy="8686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 Android en Java con inferencia en servidor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7 pantallas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85 %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Sin señal solo encola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Costo mensual de GPU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22/22 · RNF 16/19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C55A11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C55A11"/>
                </a:solidFill>
                <a:latin typeface="Calibri"/>
              </a:rPr>
              <a:t>3,60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371600"/>
            <a:ext cx="3611880" cy="86868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Aplicación web en Java con servicio de terceros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6 pantallas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80 %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Modelo cerrado, sin ajuste fino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Cobra por documento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parcial · RNF 13/19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404040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404040"/>
                </a:solidFill>
                <a:latin typeface="Calibri"/>
              </a:rPr>
              <a:t>2,15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440680"/>
            <a:ext cx="11201400" cy="86868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48640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7B4F"/>
                </a:solidFill>
                <a:latin typeface="Calibri"/>
              </a:rPr>
              <a:t>Criterios de mayor peso: permitir el ajuste fino sobre facturas peruanas (25 %) y funcionar sin conexión (20 %). La única desventaja de la alternativa 1 —requiere un teléfono de gama media— se mitiga con el registro manual (P19).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Proceso actual (AS-IS): tres puntos de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9" name="Picture 8" descr="bpmn_01_a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229600" cy="327313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869680" y="1325880"/>
            <a:ext cx="28346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0" y="1325880"/>
            <a:ext cx="283464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463039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Notación usada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1783080"/>
            <a:ext cx="2560320" cy="17830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Pools: distribuidor, bodega, SUNAT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Evento de temporizador: fin de mes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Compuertas exclusivas (XOR)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Flujo de mensaje entre pools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Almacén de datos: la caja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3794760"/>
            <a:ext cx="2834640" cy="2514600"/>
          </a:xfrm>
          <a:prstGeom prst="rect">
            <a:avLst/>
          </a:prstGeom>
          <a:solidFill>
            <a:srgbClr val="FBE9E9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69680" y="3794760"/>
            <a:ext cx="2834640" cy="640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393192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Puntos de 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4251960"/>
            <a:ext cx="2560320" cy="1965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Guardar sin registrar: se pierden 5 de 14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Sumar a mano: 3 h y errores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Estimar ante la duda: paga S/ 50 en vez de S/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Proceso propuesto (TO-BE): registrar al recibir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pic>
        <p:nvPicPr>
          <p:cNvPr id="9" name="Picture 8" descr="bpmn_02_t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229600" cy="4021281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823960" y="1371600"/>
          <a:ext cx="29260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5156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AS-IS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TO-BE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Registro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Fin de mes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Al recibir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≈ 3 h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≈ 10 s por factura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Categoría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Juicio ante la duda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Sustento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64 % conservadas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100 % con imagen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Avisos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80 %, 100 % y vencimiento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Subproceso «Registrar factura con IA» y sus excepciones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bpmn_03_regis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138160" cy="4069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778240" y="1325880"/>
            <a:ext cx="292608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78240" y="1325880"/>
            <a:ext cx="29260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463039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Excepciones diseñadas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783080"/>
            <a:ext cx="2651760" cy="22402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¿Legible? </a:t>
            </a:r>
            <a:r>
              <a:rPr sz="1200" b="0">
                <a:solidFill>
                  <a:srgbClr val="262626"/>
                </a:solidFill>
                <a:latin typeface="Calibri"/>
              </a:rPr>
              <a:t>no → otra toma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¿Modelo y memoria? </a:t>
            </a:r>
            <a:r>
              <a:rPr sz="1200" b="0">
                <a:solidFill>
                  <a:srgbClr val="262626"/>
                </a:solidFill>
                <a:latin typeface="Calibri"/>
              </a:rPr>
              <a:t>no → registro manual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¿Duplicada? </a:t>
            </a:r>
            <a:r>
              <a:rPr sz="1200" b="0">
                <a:solidFill>
                  <a:srgbClr val="262626"/>
                </a:solidFill>
                <a:latin typeface="Calibri"/>
              </a:rPr>
              <a:t>sí → aviso, no se registra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¿Corrige? </a:t>
            </a:r>
            <a:r>
              <a:rPr sz="1200" b="0">
                <a:solidFill>
                  <a:srgbClr val="262626"/>
                </a:solidFill>
                <a:latin typeface="Calibri"/>
              </a:rPr>
              <a:t>sí → editar campo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4251960"/>
            <a:ext cx="29260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0" y="4251960"/>
            <a:ext cx="29260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4389120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Requerimientos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709160"/>
            <a:ext cx="265176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RF-01 a RF-08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RNF-04: lectura ≤ 20 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RNF-12: sin conexión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RNF-14: la foto no sale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Arquitectura: cuatro capas dentro del teléfono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arquitectura_cap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7680960" cy="44278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325880"/>
            <a:ext cx="3383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325880"/>
            <a:ext cx="33832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463039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Decisiones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783080"/>
            <a:ext cx="310896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Dominio en Java puro, sin Android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Kotlin solo en el puente con LiteRT-LM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Room + SQLCipher con clave en el Keystore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Modelo como descarga separada verificada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931920"/>
            <a:ext cx="33832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3931920"/>
            <a:ext cx="33832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Tecnologías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10896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Java 17 · Android 8.0+ · CameraX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LiteRT-LM · Gemma 4 E2B (.litertlm)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Room + SQLCipher (SQLite)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Exportación CSV/ZIP · sin servidor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Diagrama de clases: dominio y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pic>
        <p:nvPicPr>
          <p:cNvPr id="9" name="Picture 8" descr="clases_domin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5669280" cy="3800994"/>
          </a:xfrm>
          <a:prstGeom prst="rect">
            <a:avLst/>
          </a:prstGeom>
        </p:spPr>
      </p:pic>
      <p:pic>
        <p:nvPicPr>
          <p:cNvPr id="10" name="Picture 9" descr="clases_disen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280160"/>
            <a:ext cx="5577840" cy="316922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440680"/>
            <a:ext cx="11201400" cy="868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8640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Buenas prácticas: </a:t>
            </a:r>
            <a:r>
              <a:rPr sz="1300" b="0" i="0">
                <a:solidFill>
                  <a:srgbClr val="1F4E79"/>
                </a:solidFill>
                <a:latin typeface="Calibri"/>
              </a:rPr>
              <a:t>inversión de dependencias (el caso de uso depende de interfaces), responsabilidad única (ViewModel solo estado), encapsulamiento (atributos privados, BigDecimal y enumeraciones).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Base de datos: una sola base SQLite cifrada en el teléfono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der_lo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404" y="1280160"/>
            <a:ext cx="5965671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230368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SQLite · Room + SQLCipher · 13 tablas · 3FN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32588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1325880"/>
            <a:ext cx="347472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63039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Exportación para 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783080"/>
            <a:ext cx="3200400" cy="3566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ZIP generado a pedido del titular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facturas.csv y periodos.csv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determinaciones.csv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Imágenes y reporte PDF (opcional)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Se abre en Excel o LibreOffice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La app no lo envía a ningún servidor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SQLCipher (AES-256)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86584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32304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Clave en el Keystore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PIN con hash y sal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1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Consultas parametrizadas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7576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3296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Sin servidor ni cuentas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SHA-256 del modelo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INTERFACES · UX/UI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Sistema de diseño y navegación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ui_sistema_dise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5760720" cy="3240405"/>
          </a:xfrm>
          <a:prstGeom prst="rect">
            <a:avLst/>
          </a:prstGeom>
        </p:spPr>
      </p:pic>
      <p:pic>
        <p:nvPicPr>
          <p:cNvPr id="10" name="Picture 9" descr="ui_mapa_naveg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280160"/>
            <a:ext cx="5486400" cy="290456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≥ 48 dp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objetivos táctiles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≥ 16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texto de datos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≤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toques para registrar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4,5:1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contraste mínimo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DEL PROTOTIPO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Flujo principal: una factura en tres toques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pic>
        <p:nvPicPr>
          <p:cNvPr id="9" name="Picture 8" descr="pantalla_04_inicio_resumen_d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26" y="1280160"/>
            <a:ext cx="2239346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P04 Inicio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9067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talla_06_camara_con_encuad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766" y="1280160"/>
            <a:ext cx="2239346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472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P06 Cámara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531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ntalla_08_verificacion_de_dat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8406" y="1280160"/>
            <a:ext cx="2239346" cy="457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P08 Verificación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5995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talla_10_factura_guarda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046" y="1280160"/>
            <a:ext cx="2239346" cy="45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4400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P10 Guardada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DEL PROTOTIPO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Módulos del NRUS, reportes y exportación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pic>
        <p:nvPicPr>
          <p:cNvPr id="9" name="Picture 8" descr="pantalla_14_categoria_y_cuo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20" y="1280160"/>
            <a:ext cx="2060199" cy="4206240"/>
          </a:xfrm>
          <a:prstGeom prst="rect">
            <a:avLst/>
          </a:prstGeom>
        </p:spPr>
      </p:pic>
      <p:pic>
        <p:nvPicPr>
          <p:cNvPr id="10" name="Picture 9" descr="pantalla_15_vencimiento_y_recordator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1800" y="1280160"/>
            <a:ext cx="2060199" cy="4206240"/>
          </a:xfrm>
          <a:prstGeom prst="rect">
            <a:avLst/>
          </a:prstGeom>
        </p:spPr>
      </p:pic>
      <p:pic>
        <p:nvPicPr>
          <p:cNvPr id="11" name="Picture 10" descr="reporte_mensual_p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1280160"/>
            <a:ext cx="2834640" cy="3779519"/>
          </a:xfrm>
          <a:prstGeom prst="rect">
            <a:avLst/>
          </a:prstGeom>
        </p:spPr>
      </p:pic>
      <p:pic>
        <p:nvPicPr>
          <p:cNvPr id="12" name="Picture 11" descr="pantalla_20_exportar_dato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8240" y="1280160"/>
            <a:ext cx="2060199" cy="4206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P14 Categoría y cuota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P15 Vencimiento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553212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Reporte mensual 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P20 Exportar datos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9788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50" b="1" i="0">
                <a:solidFill>
                  <a:srgbClr val="1E7B4F"/>
                </a:solidFill>
                <a:latin typeface="Calibri"/>
              </a:rPr>
              <a:t>Herramienta: mockups vectoriales SVG editables en Figma o Penpot · 20 pantallas móviles + reporte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VALIDACIÓN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El diseño cubre el 100 % del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E7B4F"/>
                </a:solidFill>
                <a:latin typeface="Calibri"/>
              </a:rPr>
              <a:t>22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requerimientos funcionales cubiertos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E7B4F"/>
                </a:solidFill>
                <a:latin typeface="Calibri"/>
              </a:rPr>
              <a:t>19 /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no funcionales con decisión de diseño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F4E79"/>
                </a:solidFill>
                <a:latin typeface="Calibri"/>
              </a:rPr>
              <a:t>10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heurísticas de Nielsen revisadas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tareas en la prueba con 3 titulares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2880360"/>
          <a:ext cx="7498079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79"/>
                <a:gridCol w="2999232"/>
                <a:gridCol w="1687068"/>
              </a:tblGrid>
              <a:tr h="42976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Escenario verificado en el prototipo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Pantallas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Factura legible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Campos leídos; total S/ 4 120,50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P06–P10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Importe con baja confianza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Campo en ámbar para revisar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P08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Factura duplicada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Aviso; no se registra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Equipo de 4 GB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Registro manual validado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P03, P19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Más del 80 % del límite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Barra y aviso en ámbar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P04, P10, P14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Anular por error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Se descuenta y recalcula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P12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8229600" y="288036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880360"/>
            <a:ext cx="347472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01752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Metas de usabilidad (I3)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337560"/>
            <a:ext cx="3200400" cy="24688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≥ 5 de 6 tareas sin ayuda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≤ 3 toques para registrar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≤ 30 s por factura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SUS ≥ 70 puntos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0 errores al leer la categoría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CRONOGRAMA Y PRESUPUESTO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Cronograma al corte de la semana 8 y presupuesto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pic>
        <p:nvPicPr>
          <p:cNvPr id="9" name="Picture 8" descr="gantt_actualiz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7589520" cy="35360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75320" y="1325880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371600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C00000"/>
                </a:solidFill>
                <a:latin typeface="Calibri"/>
              </a:rPr>
              <a:t>S/ 242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371600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desembolso del proyecto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267712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313432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Calibri"/>
              </a:rPr>
              <a:t>S/ 19 342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313432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incluyendo aportes del equipo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3209544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255263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E7B4F"/>
                </a:solidFill>
                <a:latin typeface="Calibri"/>
              </a:rPr>
              <a:t>S/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255263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operación al 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151376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4197096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E7B4F"/>
                </a:solidFill>
                <a:latin typeface="Calibri"/>
              </a:rPr>
              <a:t>S/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197096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costo por factura leída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5166360"/>
          <a:ext cx="74980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463040"/>
                <a:gridCol w="512064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Semanas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Siguiente entrega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Incremento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Front-end navegable y motor NRUS probado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APF3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Room cifrada, modelo convertido en el teléfono, prueba de usabilidad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13–18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Reportes, exportación de datos, validación en mes simulado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DOCUMENTACIÓN TÉCNICA · 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Documentación para desarrolladores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548640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63039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entregable2_documentacion_tecnica.md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521208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Arquitectura por capas y regla de dependencias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Reglas del NRUS con casos de prueba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Contrato del modelo: instrucción y JSON de salida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Esquema SQLite de 13 tablas y migraciones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Pantallas P01–P20, tokens y textos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Exportación de datos, seguridad y entornos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Plan de construcción por iteraciones y pruebas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2588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25880"/>
            <a:ext cx="548640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463039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Próximos pasos hacia APF3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52120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Front-end y dominio desde la documentación técnica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Ajuste fino y conversión a .litertlm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Exactitud y tiempo en el teléfono de referencia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Prueba de usabilidad con tres titulares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840480"/>
            <a:ext cx="5486400" cy="1508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Una foto al recibir la factura, la IA la lee en el teléfono y el bodeguero declara el NRUS con el monto exacto.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532120"/>
            <a:ext cx="11201400" cy="77724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3212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50" b="0" i="0">
                <a:solidFill>
                  <a:srgbClr val="404040"/>
                </a:solidFill>
                <a:latin typeface="Calibri"/>
              </a:rPr>
              <a:t>Anexos del informe: A–J evidencias del primer avance · K–T evidencias del segundo avance (BPMN, clases, DER, arquitectura, interfaces, prototipo, cobertura, validación y documentación).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APF2 - Sustentación — Facturas S20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